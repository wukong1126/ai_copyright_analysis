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png" ContentType="image/png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Masters/slideMaster3.xml" ContentType="application/vnd.openxmlformats-officedocument.presentationml.slideMaster+xml"/>
  <Override PartName="/ppt/theme/theme3.xml" ContentType="application/vnd.openxmlformats-officedocument.theme+xml"/>
  <Override PartName="/ppt/slideMasters/slideMaster4.xml" ContentType="application/vnd.openxmlformats-officedocument.presentationml.slideMaster+xml"/>
  <Override PartName="/ppt/theme/theme4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sldMasterIdLst>
    <p:sldMasterId id="2147483811" r:id="rId5"/>
    <p:sldMasterId id="2147483812" r:id="rId7"/>
    <p:sldMasterId id="2147483813" r:id="rId9"/>
    <p:sldMasterId id="2147483814" r:id="rId11"/>
  </p:sldMasterIdLst>
  <p:sldIdLst>
    <p:sldId id="275" r:id="rId13"/>
    <p:sldId id="288" r:id="rId14"/>
    <p:sldId id="257" r:id="rId15"/>
    <p:sldId id="259" r:id="rId16"/>
    <p:sldId id="258" r:id="rId17"/>
    <p:sldId id="277" r:id="rId18"/>
    <p:sldId id="260" r:id="rId19"/>
    <p:sldId id="276" r:id="rId20"/>
    <p:sldId id="278" r:id="rId21"/>
    <p:sldId id="261" r:id="rId22"/>
    <p:sldId id="279" r:id="rId23"/>
    <p:sldId id="262" r:id="rId24"/>
    <p:sldId id="283" r:id="rId25"/>
    <p:sldId id="282" r:id="rId26"/>
    <p:sldId id="281" r:id="rId27"/>
    <p:sldId id="265" r:id="rId28"/>
    <p:sldId id="267" r:id="rId29"/>
    <p:sldId id="292" r:id="rId30"/>
    <p:sldId id="266" r:id="rId31"/>
    <p:sldId id="268" r:id="rId32"/>
    <p:sldId id="284" r:id="rId33"/>
    <p:sldId id="271" r:id="rId34"/>
    <p:sldId id="285" r:id="rId35"/>
    <p:sldId id="286" r:id="rId36"/>
    <p:sldId id="272" r:id="rId37"/>
    <p:sldId id="289" r:id="rId38"/>
    <p:sldId id="290" r:id="rId39"/>
    <p:sldId id="291" r:id="rId40"/>
    <p:sldId id="293" r:id="rId41"/>
    <p:sldId id="294" r:id="rId42"/>
    <p:sldId id="287" r:id="rId43"/>
  </p:sldIdLst>
  <p:sldSz cx="12192000" cy="6858000"/>
  <p:notesSz cx="6858000" cy="9144000"/>
  <p:defaultTextStyle/>
</p:presentation>
</file>

<file path=ppt/_rels/presentation.xml.rels><?xml version="1.0" encoding="UTF-8"?>
<Relationships xmlns="http://schemas.openxmlformats.org/package/2006/relationships"><Relationship Id="rId5" Type="http://schemas.openxmlformats.org/officeDocument/2006/relationships/slideMaster" Target="slideMasters/slideMaster1.xml"></Relationship><Relationship Id="rId6" Type="http://schemas.openxmlformats.org/officeDocument/2006/relationships/theme" Target="theme/theme1.xml"></Relationship><Relationship Id="rId7" Type="http://schemas.openxmlformats.org/officeDocument/2006/relationships/slideMaster" Target="slideMasters/slideMaster2.xml"></Relationship><Relationship Id="rId9" Type="http://schemas.openxmlformats.org/officeDocument/2006/relationships/slideMaster" Target="slideMasters/slideMaster3.xml"></Relationship><Relationship Id="rId11" Type="http://schemas.openxmlformats.org/officeDocument/2006/relationships/slideMaster" Target="slideMasters/slideMaster4.xml"></Relationship><Relationship Id="rId13" Type="http://schemas.openxmlformats.org/officeDocument/2006/relationships/slide" Target="slides/slide1.xml"></Relationship><Relationship Id="rId14" Type="http://schemas.openxmlformats.org/officeDocument/2006/relationships/slide" Target="slides/slide2.xml"></Relationship><Relationship Id="rId15" Type="http://schemas.openxmlformats.org/officeDocument/2006/relationships/slide" Target="slides/slide3.xml"></Relationship><Relationship Id="rId16" Type="http://schemas.openxmlformats.org/officeDocument/2006/relationships/slide" Target="slides/slide4.xml"></Relationship><Relationship Id="rId17" Type="http://schemas.openxmlformats.org/officeDocument/2006/relationships/slide" Target="slides/slide5.xml"></Relationship><Relationship Id="rId18" Type="http://schemas.openxmlformats.org/officeDocument/2006/relationships/slide" Target="slides/slide6.xml"></Relationship><Relationship Id="rId19" Type="http://schemas.openxmlformats.org/officeDocument/2006/relationships/slide" Target="slides/slide7.xml"></Relationship><Relationship Id="rId20" Type="http://schemas.openxmlformats.org/officeDocument/2006/relationships/slide" Target="slides/slide8.xml"></Relationship><Relationship Id="rId21" Type="http://schemas.openxmlformats.org/officeDocument/2006/relationships/slide" Target="slides/slide9.xml"></Relationship><Relationship Id="rId22" Type="http://schemas.openxmlformats.org/officeDocument/2006/relationships/slide" Target="slides/slide10.xml"></Relationship><Relationship Id="rId23" Type="http://schemas.openxmlformats.org/officeDocument/2006/relationships/slide" Target="slides/slide11.xml"></Relationship><Relationship Id="rId24" Type="http://schemas.openxmlformats.org/officeDocument/2006/relationships/slide" Target="slides/slide12.xml"></Relationship><Relationship Id="rId25" Type="http://schemas.openxmlformats.org/officeDocument/2006/relationships/slide" Target="slides/slide13.xml"></Relationship><Relationship Id="rId26" Type="http://schemas.openxmlformats.org/officeDocument/2006/relationships/slide" Target="slides/slide14.xml"></Relationship><Relationship Id="rId27" Type="http://schemas.openxmlformats.org/officeDocument/2006/relationships/slide" Target="slides/slide15.xml"></Relationship><Relationship Id="rId28" Type="http://schemas.openxmlformats.org/officeDocument/2006/relationships/slide" Target="slides/slide16.xml"></Relationship><Relationship Id="rId29" Type="http://schemas.openxmlformats.org/officeDocument/2006/relationships/slide" Target="slides/slide17.xml"></Relationship><Relationship Id="rId30" Type="http://schemas.openxmlformats.org/officeDocument/2006/relationships/slide" Target="slides/slide18.xml"></Relationship><Relationship Id="rId31" Type="http://schemas.openxmlformats.org/officeDocument/2006/relationships/slide" Target="slides/slide19.xml"></Relationship><Relationship Id="rId32" Type="http://schemas.openxmlformats.org/officeDocument/2006/relationships/slide" Target="slides/slide20.xml"></Relationship><Relationship Id="rId33" Type="http://schemas.openxmlformats.org/officeDocument/2006/relationships/slide" Target="slides/slide21.xml"></Relationship><Relationship Id="rId34" Type="http://schemas.openxmlformats.org/officeDocument/2006/relationships/slide" Target="slides/slide22.xml"></Relationship><Relationship Id="rId35" Type="http://schemas.openxmlformats.org/officeDocument/2006/relationships/slide" Target="slides/slide23.xml"></Relationship><Relationship Id="rId36" Type="http://schemas.openxmlformats.org/officeDocument/2006/relationships/slide" Target="slides/slide24.xml"></Relationship><Relationship Id="rId37" Type="http://schemas.openxmlformats.org/officeDocument/2006/relationships/slide" Target="slides/slide25.xml"></Relationship><Relationship Id="rId38" Type="http://schemas.openxmlformats.org/officeDocument/2006/relationships/slide" Target="slides/slide26.xml"></Relationship><Relationship Id="rId39" Type="http://schemas.openxmlformats.org/officeDocument/2006/relationships/slide" Target="slides/slide27.xml"></Relationship><Relationship Id="rId40" Type="http://schemas.openxmlformats.org/officeDocument/2006/relationships/slide" Target="slides/slide28.xml"></Relationship><Relationship Id="rId41" Type="http://schemas.openxmlformats.org/officeDocument/2006/relationships/slide" Target="slides/slide29.xml"></Relationship><Relationship Id="rId42" Type="http://schemas.openxmlformats.org/officeDocument/2006/relationships/slide" Target="slides/slide30.xml"></Relationship><Relationship Id="rId43" Type="http://schemas.openxmlformats.org/officeDocument/2006/relationships/slide" Target="slides/slide31.xml"></Relationship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3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/Relationships>
</file>

<file path=ppt/slideLayouts/_rels/slideLayout4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4.xml"></Relationship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_rels/slideMaster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theme" Target="../theme/theme2.xml"></Relationship></Relationships>
</file>

<file path=ppt/slideMasters/_rels/slideMaster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theme" Target="../theme/theme3.xml"></Relationship></Relationships>
</file>

<file path=ppt/slideMasters/_rels/slideMaster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4.xml"></Relationship><Relationship Id="rId2" Type="http://schemas.openxmlformats.org/officeDocument/2006/relationships/theme" Target="../theme/theme4.xml"></Relationship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s/_rels/slide1.xml.rels><?xml version="1.0" encoding="UTF-8"?>
<Relationships xmlns="http://schemas.openxmlformats.org/package/2006/relationships"><Relationship Id="rId2" Type="http://schemas.openxmlformats.org/officeDocument/2006/relationships/image" Target="../media/fImage7538961241.png"></Relationship><Relationship Id="rId3" Type="http://schemas.openxmlformats.org/officeDocument/2006/relationships/image" Target="../media/fImage533586138467.png"></Relationship><Relationship Id="rId4" Type="http://schemas.openxmlformats.org/officeDocument/2006/relationships/image" Target="../media/fImage775586146334.png"></Relationship><Relationship Id="rId5" Type="http://schemas.openxmlformats.org/officeDocument/2006/relationships/slideLayout" Target="../slideLayouts/slideLayout1.xml"></Relationship></Relationships>
</file>

<file path=ppt/slides/_rels/slide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/Relationships>
</file>

<file path=ppt/slides/_rels/slide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/Relationships>
</file>

<file path=ppt/slides/_rels/slide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/Relationships>
</file>

<file path=ppt/slides/_rels/slide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/Relationships>
</file>

<file path=ppt/slides/_rels/slide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/Relationships>
</file>

<file path=ppt/slides/_rels/slide7.xml.rels><?xml version="1.0" encoding="UTF-8"?>
<Relationships xmlns="http://schemas.openxmlformats.org/package/2006/relationships"><Relationship Id="rId2" Type="http://schemas.openxmlformats.org/officeDocument/2006/relationships/image" Target="../media/fImage8980851241.png"></Relationship><Relationship Id="rId3" Type="http://schemas.openxmlformats.org/officeDocument/2006/relationships/slideLayout" Target="../slideLayouts/slideLayout1.xml"></Relationship></Relationships>
</file>

<file path=ppt/slides/_rels/slide8.xml.rels><?xml version="1.0" encoding="UTF-8"?>
<Relationships xmlns="http://schemas.openxmlformats.org/package/2006/relationships"><Relationship Id="rId3" Type="http://schemas.openxmlformats.org/officeDocument/2006/relationships/image" Target="../media/fImage1044965138467.png"></Relationship><Relationship Id="rId4" Type="http://schemas.openxmlformats.org/officeDocument/2006/relationships/slideLayout" Target="../slideLayouts/slideLayout1.xml"></Relationship></Relationships>
</file>

<file path=ppt/slides/_rels/slide9.xml.rels><?xml version="1.0" encoding="UTF-8"?>
<Relationships xmlns="http://schemas.openxmlformats.org/package/2006/relationships"><Relationship Id="rId3" Type="http://schemas.openxmlformats.org/officeDocument/2006/relationships/image" Target="../media/fImage885675146334.png"></Relationship><Relationship Id="rId4" Type="http://schemas.openxmlformats.org/officeDocument/2006/relationships/image" Target="../media/fImage251365166500.png"></Relationship><Relationship Id="rId5" Type="http://schemas.openxmlformats.org/officeDocument/2006/relationships/slideLayout" Target="../slideLayouts/slideLayout1.xml"></Relationship></Relationships>
</file>

<file path=ppt/slides/_rels/slide10.xml.rels><?xml version="1.0" encoding="UTF-8"?>
<Relationships xmlns="http://schemas.openxmlformats.org/package/2006/relationships"><Relationship Id="rId1" Type="http://schemas.openxmlformats.org/officeDocument/2006/relationships/image" Target="../media/fImage4601147191478.png"></Relationship><Relationship Id="rId2" Type="http://schemas.openxmlformats.org/officeDocument/2006/relationships/slideLayout" Target="../slideLayouts/slideLayout1.xml"></Relationship></Relationships>
</file>

<file path=ppt/slides/_rels/slide11.xml.rels><?xml version="1.0" encoding="UTF-8"?>
<Relationships xmlns="http://schemas.openxmlformats.org/package/2006/relationships"><Relationship Id="rId2" Type="http://schemas.openxmlformats.org/officeDocument/2006/relationships/image" Target="../media/fImage2434907399358.png"></Relationship><Relationship Id="rId3" Type="http://schemas.openxmlformats.org/officeDocument/2006/relationships/slideLayout" Target="../slideLayouts/slideLayout1.xml"></Relationship></Relationships>
</file>

<file path=ppt/slides/_rels/slide12.xml.rels><?xml version="1.0" encoding="UTF-8"?>
<Relationships xmlns="http://schemas.openxmlformats.org/package/2006/relationships"><Relationship Id="rId2" Type="http://schemas.openxmlformats.org/officeDocument/2006/relationships/image" Target="../media/fImage85386450741.png"></Relationship><Relationship Id="rId3" Type="http://schemas.openxmlformats.org/officeDocument/2006/relationships/slideLayout" Target="../slideLayouts/slideLayout1.xml"></Relationship></Relationships>
</file>

<file path=ppt/slides/_rels/slide13.xml.rels><?xml version="1.0" encoding="UTF-8"?>
<Relationships xmlns="http://schemas.openxmlformats.org/package/2006/relationships"><Relationship Id="rId3" Type="http://schemas.openxmlformats.org/officeDocument/2006/relationships/image" Target="../media/fImage587375058467.png"></Relationship><Relationship Id="rId4" Type="http://schemas.openxmlformats.org/officeDocument/2006/relationships/slideLayout" Target="../slideLayouts/slideLayout1.xml"></Relationship></Relationships>
</file>

<file path=ppt/slides/_rels/slide14.xml.rels><?xml version="1.0" encoding="UTF-8"?>
<Relationships xmlns="http://schemas.openxmlformats.org/package/2006/relationships"><Relationship Id="rId3" Type="http://schemas.openxmlformats.org/officeDocument/2006/relationships/image" Target="../media/fImage587695066334.png"></Relationship><Relationship Id="rId4" Type="http://schemas.openxmlformats.org/officeDocument/2006/relationships/slideLayout" Target="../slideLayouts/slideLayout1.xml"></Relationship></Relationships>
</file>

<file path=ppt/slides/_rels/slide15.xml.rels><?xml version="1.0" encoding="UTF-8"?>
<Relationships xmlns="http://schemas.openxmlformats.org/package/2006/relationships"><Relationship Id="rId3" Type="http://schemas.openxmlformats.org/officeDocument/2006/relationships/image" Target="../media/fImage626175036500.png"></Relationship><Relationship Id="rId4" Type="http://schemas.openxmlformats.org/officeDocument/2006/relationships/slideLayout" Target="../slideLayouts/slideLayout1.xml"></Relationship></Relationships>
</file>

<file path=ppt/slides/_rels/slide1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/Relationships>
</file>

<file path=ppt/slides/_rels/slide17.xml.rels><?xml version="1.0" encoding="UTF-8"?>
<Relationships xmlns="http://schemas.openxmlformats.org/package/2006/relationships"><Relationship Id="rId2" Type="http://schemas.openxmlformats.org/officeDocument/2006/relationships/image" Target="../media/fImage1223535179169.png"></Relationship><Relationship Id="rId3" Type="http://schemas.openxmlformats.org/officeDocument/2006/relationships/slideLayout" Target="../slideLayouts/slideLayout1.xml"></Relationship></Relationships>
</file>

<file path=ppt/slides/_rels/slide18.xml.rels><?xml version="1.0" encoding="UTF-8"?>
<Relationships xmlns="http://schemas.openxmlformats.org/package/2006/relationships"><Relationship Id="rId2" Type="http://schemas.openxmlformats.org/officeDocument/2006/relationships/image" Target="../media/fImage5368747541.png"></Relationship><Relationship Id="rId3" Type="http://schemas.openxmlformats.org/officeDocument/2006/relationships/slideLayout" Target="../slideLayouts/slideLayout1.xml"></Relationship></Relationships>
</file>

<file path=ppt/slides/_rels/slide1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/Relationships>
</file>

<file path=ppt/slides/_rels/slide20.xml.rels><?xml version="1.0" encoding="UTF-8"?>
<Relationships xmlns="http://schemas.openxmlformats.org/package/2006/relationships"><Relationship Id="rId1" Type="http://schemas.openxmlformats.org/officeDocument/2006/relationships/image" Target="../media/fImage926875185724.png"></Relationship><Relationship Id="rId2" Type="http://schemas.openxmlformats.org/officeDocument/2006/relationships/image" Target="../media/fImage60285331478.png"></Relationship><Relationship Id="rId3" Type="http://schemas.openxmlformats.org/officeDocument/2006/relationships/image" Target="../media/fImage1575369358.png"></Relationship><Relationship Id="rId4" Type="http://schemas.openxmlformats.org/officeDocument/2006/relationships/slideLayout" Target="../slideLayouts/slideLayout1.xml"></Relationship></Relationships>
</file>

<file path=ppt/slides/_rels/slide21.xml.rels><?xml version="1.0" encoding="UTF-8"?>
<Relationships xmlns="http://schemas.openxmlformats.org/package/2006/relationships"><Relationship Id="rId2" Type="http://schemas.openxmlformats.org/officeDocument/2006/relationships/image" Target="../media/fImage1372935316962.png"></Relationship><Relationship Id="rId3" Type="http://schemas.openxmlformats.org/officeDocument/2006/relationships/slideLayout" Target="../slideLayouts/slideLayout1.xml"></Relationship></Relationships>
</file>

<file path=ppt/slides/_rels/slide22.xml.rels><?xml version="1.0" encoding="UTF-8"?>
<Relationships xmlns="http://schemas.openxmlformats.org/package/2006/relationships"><Relationship Id="rId1" Type="http://schemas.openxmlformats.org/officeDocument/2006/relationships/image" Target="../media/fImage283275344464.png"></Relationship><Relationship Id="rId2" Type="http://schemas.openxmlformats.org/officeDocument/2006/relationships/image" Target="../media/fImage4230575435705.png"></Relationship><Relationship Id="rId3" Type="http://schemas.openxmlformats.org/officeDocument/2006/relationships/image" Target="../media/fImage1575458145.png"></Relationship><Relationship Id="rId4" Type="http://schemas.openxmlformats.org/officeDocument/2006/relationships/slideLayout" Target="../slideLayouts/slideLayout1.xml"></Relationship></Relationships>
</file>

<file path=ppt/slides/_rels/slide23.xml.rels><?xml version="1.0" encoding="UTF-8"?>
<Relationships xmlns="http://schemas.openxmlformats.org/package/2006/relationships"><Relationship Id="rId2" Type="http://schemas.openxmlformats.org/officeDocument/2006/relationships/image" Target="../media/fImage235705593281.png"></Relationship><Relationship Id="rId3" Type="http://schemas.openxmlformats.org/officeDocument/2006/relationships/image" Target="../media/fImage701915606827.png"></Relationship><Relationship Id="rId4" Type="http://schemas.openxmlformats.org/officeDocument/2006/relationships/image" Target="../media/fImage267315619961.png"></Relationship><Relationship Id="rId5" Type="http://schemas.openxmlformats.org/officeDocument/2006/relationships/slideLayout" Target="../slideLayouts/slideLayout1.xml"></Relationship></Relationships>
</file>

<file path=ppt/slides/_rels/slide24.xml.rels><?xml version="1.0" encoding="UTF-8"?>
<Relationships xmlns="http://schemas.openxmlformats.org/package/2006/relationships"><Relationship Id="rId4" Type="http://schemas.openxmlformats.org/officeDocument/2006/relationships/image" Target="../media/fImage299145791942.png"></Relationship><Relationship Id="rId5" Type="http://schemas.openxmlformats.org/officeDocument/2006/relationships/image" Target="../media/fImage8114848341.png"></Relationship><Relationship Id="rId6" Type="http://schemas.openxmlformats.org/officeDocument/2006/relationships/image" Target="../media/fImage774054848467.png"></Relationship><Relationship Id="rId7" Type="http://schemas.openxmlformats.org/officeDocument/2006/relationships/slideLayout" Target="../slideLayouts/slideLayout1.xml"></Relationship></Relationships>
</file>

<file path=ppt/slides/_rels/slide2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/Relationships>
</file>

<file path=ppt/slides/_rels/slide2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2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/Relationships>
</file>

<file path=ppt/slides/_rels/slide2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4.xml"></Relationship></Relationships>
</file>

<file path=ppt/slides/_rels/slide2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4.xml"></Relationship></Relationships>
</file>

<file path=ppt/slides/_rels/slide3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4.xml"></Relationship></Relationships>
</file>

<file path=ppt/slides/_rels/slide3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/>
          </p:cNvSpPr>
          <p:nvPr/>
        </p:nvSpPr>
        <p:spPr>
          <a:xfrm rot="0">
            <a:off x="0" y="0"/>
            <a:ext cx="12192635" cy="6858635"/>
          </a:xfrm>
          <a:prstGeom prst="rect"/>
          <a:solidFill>
            <a:srgbClr val="FFFAF0"/>
          </a:solidFill>
          <a:ln w="8890" cap="flat" cmpd="sng">
            <a:solidFill>
              <a:srgbClr val="FFFAF0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25" name="Rect 0"/>
          <p:cNvSpPr txBox="1">
            <a:spLocks/>
          </p:cNvSpPr>
          <p:nvPr/>
        </p:nvSpPr>
        <p:spPr>
          <a:xfrm rot="0">
            <a:off x="11247120" y="6610985"/>
            <a:ext cx="503555" cy="12890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r">
              <a:buFontTx/>
              <a:buNone/>
            </a:pPr>
            <a:r>
              <a:rPr lang="ko-KR" sz="7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0</a:t>
            </a:r>
            <a:r>
              <a:rPr lang="ko-KR" sz="7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1</a:t>
            </a:r>
            <a:endParaRPr lang="ko-KR" altLang="en-US" sz="700" b="1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6" name="텍스트 상자 1"/>
          <p:cNvSpPr txBox="1">
            <a:spLocks/>
          </p:cNvSpPr>
          <p:nvPr/>
        </p:nvSpPr>
        <p:spPr>
          <a:xfrm>
            <a:off x="411480" y="182880"/>
            <a:ext cx="3658870" cy="16573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000" b="1">
                <a:solidFill>
                  <a:srgbClr val="A4D4C5"/>
                </a:solidFill>
                <a:latin typeface="Pretendard" charset="0"/>
                <a:ea typeface="Pretendard" charset="0"/>
                <a:cs typeface="Pretendard" charset="0"/>
              </a:rPr>
              <a:t>AI COPYRIGHT OPINION</a:t>
            </a:r>
            <a:endParaRPr lang="ko-KR" altLang="en-US" sz="1000" b="1">
              <a:solidFill>
                <a:srgbClr val="A4D4C5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cxnSp>
        <p:nvCxnSpPr>
          <p:cNvPr id="27" name="도형 2"/>
          <p:cNvCxnSpPr/>
          <p:nvPr/>
        </p:nvCxnSpPr>
        <p:spPr>
          <a:xfrm rot="0">
            <a:off x="411480" y="6510655"/>
            <a:ext cx="11384915" cy="635"/>
          </a:xfrm>
          <a:prstGeom prst="line"/>
          <a:ln w="10160" cap="flat" cmpd="sng">
            <a:solidFill>
              <a:srgbClr val="496363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텍스트 상자 3"/>
          <p:cNvSpPr txBox="1">
            <a:spLocks/>
          </p:cNvSpPr>
          <p:nvPr/>
        </p:nvSpPr>
        <p:spPr>
          <a:xfrm rot="0">
            <a:off x="658495" y="786130"/>
            <a:ext cx="6035675" cy="59499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3200" b="1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AI</a:t>
            </a:r>
            <a:r>
              <a:rPr lang="ko-KR" sz="3200" b="1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3200" b="1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저작권</a:t>
            </a:r>
            <a:r>
              <a:rPr lang="ko-KR" sz="3200" b="1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3200" b="1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여론</a:t>
            </a:r>
            <a:r>
              <a:rPr lang="ko-KR" sz="3200" b="1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3200" b="1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분석</a:t>
            </a:r>
            <a:endParaRPr lang="ko-KR" altLang="en-US" sz="3200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9" name="텍스트 상자 4"/>
          <p:cNvSpPr txBox="1">
            <a:spLocks/>
          </p:cNvSpPr>
          <p:nvPr/>
        </p:nvSpPr>
        <p:spPr>
          <a:xfrm>
            <a:off x="685800" y="1481455"/>
            <a:ext cx="5670550" cy="29400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소셜 데이터 기반 토픽 모델링과 감성 분석을 통한 정책 제언</a:t>
            </a:r>
            <a:endParaRPr lang="ko-KR" altLang="en-US" sz="1100">
              <a:solidFill>
                <a:schemeClr val="tx1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0" name="도형 5"/>
          <p:cNvSpPr>
            <a:spLocks/>
          </p:cNvSpPr>
          <p:nvPr/>
        </p:nvSpPr>
        <p:spPr>
          <a:xfrm rot="0">
            <a:off x="573405" y="2073275"/>
            <a:ext cx="1143635" cy="311785"/>
          </a:xfrm>
          <a:prstGeom prst="roundRect"/>
          <a:solidFill>
            <a:srgbClr val="A4D4C5"/>
          </a:solidFill>
          <a:ln w="8890" cap="flat" cmpd="sng">
            <a:solidFill>
              <a:srgbClr val="A4D4C5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31" name="텍스트 상자 6"/>
          <p:cNvSpPr txBox="1">
            <a:spLocks/>
          </p:cNvSpPr>
          <p:nvPr/>
        </p:nvSpPr>
        <p:spPr>
          <a:xfrm rot="0">
            <a:off x="646430" y="2164715"/>
            <a:ext cx="997585" cy="8318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ctr">
              <a:buFontTx/>
              <a:buNone/>
            </a:pPr>
            <a:r>
              <a:rPr lang="ko-KR" sz="62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WORD</a:t>
            </a:r>
            <a:r>
              <a:rPr lang="ko-KR" sz="62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62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CLOUD</a:t>
            </a:r>
            <a:endParaRPr lang="ko-KR" altLang="en-US" sz="62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2" name="도형 7"/>
          <p:cNvSpPr>
            <a:spLocks/>
          </p:cNvSpPr>
          <p:nvPr/>
        </p:nvSpPr>
        <p:spPr>
          <a:xfrm rot="0">
            <a:off x="1798955" y="2073275"/>
            <a:ext cx="960755" cy="311785"/>
          </a:xfrm>
          <a:prstGeom prst="roundRect"/>
          <a:solidFill>
            <a:srgbClr val="E8B94A"/>
          </a:solidFill>
          <a:ln w="8890" cap="flat" cmpd="sng">
            <a:solidFill>
              <a:srgbClr val="E8B94A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33" name="텍스트 상자 8"/>
          <p:cNvSpPr txBox="1">
            <a:spLocks/>
          </p:cNvSpPr>
          <p:nvPr/>
        </p:nvSpPr>
        <p:spPr>
          <a:xfrm rot="0">
            <a:off x="1871980" y="2164715"/>
            <a:ext cx="814705" cy="8318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ctr">
              <a:buFontTx/>
              <a:buNone/>
            </a:pPr>
            <a:r>
              <a:rPr lang="ko-KR" sz="62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K-MEANS</a:t>
            </a:r>
            <a:endParaRPr lang="ko-KR" altLang="en-US" sz="62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4" name="도형 9"/>
          <p:cNvSpPr>
            <a:spLocks/>
          </p:cNvSpPr>
          <p:nvPr/>
        </p:nvSpPr>
        <p:spPr>
          <a:xfrm rot="0">
            <a:off x="2859405" y="2073275"/>
            <a:ext cx="530860" cy="311785"/>
          </a:xfrm>
          <a:prstGeom prst="roundRect"/>
          <a:solidFill>
            <a:srgbClr val="B8A4ED"/>
          </a:solidFill>
          <a:ln w="8890" cap="flat" cmpd="sng">
            <a:solidFill>
              <a:srgbClr val="B8A4ED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35" name="텍스트 상자 10"/>
          <p:cNvSpPr txBox="1">
            <a:spLocks/>
          </p:cNvSpPr>
          <p:nvPr/>
        </p:nvSpPr>
        <p:spPr>
          <a:xfrm rot="0">
            <a:off x="2932430" y="2164715"/>
            <a:ext cx="384810" cy="8318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ctr">
              <a:buFontTx/>
              <a:buNone/>
            </a:pPr>
            <a:r>
              <a:rPr lang="ko-KR" sz="62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LDA</a:t>
            </a:r>
            <a:endParaRPr lang="ko-KR" altLang="en-US" sz="62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6" name="도형 11"/>
          <p:cNvSpPr>
            <a:spLocks/>
          </p:cNvSpPr>
          <p:nvPr/>
        </p:nvSpPr>
        <p:spPr>
          <a:xfrm rot="0">
            <a:off x="3517900" y="2073275"/>
            <a:ext cx="915035" cy="311785"/>
          </a:xfrm>
          <a:prstGeom prst="roundRect"/>
          <a:solidFill>
            <a:srgbClr val="FFB084"/>
          </a:solidFill>
          <a:ln w="8890" cap="flat" cmpd="sng">
            <a:solidFill>
              <a:srgbClr val="FFB084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37" name="텍스트 상자 12"/>
          <p:cNvSpPr txBox="1">
            <a:spLocks/>
          </p:cNvSpPr>
          <p:nvPr/>
        </p:nvSpPr>
        <p:spPr>
          <a:xfrm rot="0">
            <a:off x="3590925" y="2164715"/>
            <a:ext cx="768985" cy="8318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ctr">
              <a:buFontTx/>
              <a:buNone/>
            </a:pPr>
            <a:r>
              <a:rPr lang="ko-KR" sz="62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BERTopic</a:t>
            </a:r>
            <a:endParaRPr lang="ko-KR" altLang="en-US" sz="62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8" name="도형 13"/>
          <p:cNvSpPr>
            <a:spLocks/>
          </p:cNvSpPr>
          <p:nvPr/>
        </p:nvSpPr>
        <p:spPr>
          <a:xfrm rot="0">
            <a:off x="4560570" y="2073275"/>
            <a:ext cx="960755" cy="311785"/>
          </a:xfrm>
          <a:prstGeom prst="roundRect"/>
          <a:solidFill>
            <a:srgbClr val="FF6B5A"/>
          </a:solidFill>
          <a:ln w="8890" cap="flat" cmpd="sng">
            <a:solidFill>
              <a:srgbClr val="FF6B5A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39" name="텍스트 상자 14"/>
          <p:cNvSpPr txBox="1">
            <a:spLocks/>
          </p:cNvSpPr>
          <p:nvPr/>
        </p:nvSpPr>
        <p:spPr>
          <a:xfrm rot="0">
            <a:off x="4633595" y="2164715"/>
            <a:ext cx="814705" cy="8318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ctr">
              <a:buFontTx/>
              <a:buNone/>
            </a:pPr>
            <a:r>
              <a:rPr lang="ko-KR" sz="62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Sentiment</a:t>
            </a:r>
            <a:endParaRPr lang="ko-KR" altLang="en-US" sz="62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77" name="텍스트 상자 52"/>
          <p:cNvSpPr txBox="1">
            <a:spLocks/>
          </p:cNvSpPr>
          <p:nvPr/>
        </p:nvSpPr>
        <p:spPr>
          <a:xfrm>
            <a:off x="572770" y="5198110"/>
            <a:ext cx="996315" cy="11366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900" b="1">
                <a:solidFill>
                  <a:srgbClr val="A4D4C5"/>
                </a:solidFill>
                <a:latin typeface="Pretendard" charset="0"/>
                <a:ea typeface="Pretendard" charset="0"/>
                <a:cs typeface="Pretendard" charset="0"/>
              </a:rPr>
              <a:t>발표의 초점</a:t>
            </a:r>
            <a:endParaRPr lang="ko-KR" altLang="en-US" sz="900" b="1">
              <a:solidFill>
                <a:srgbClr val="A4D4C5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78" name="텍스트 상자 53"/>
          <p:cNvSpPr txBox="1">
            <a:spLocks/>
          </p:cNvSpPr>
          <p:nvPr/>
        </p:nvSpPr>
        <p:spPr>
          <a:xfrm rot="0">
            <a:off x="572770" y="5485765"/>
            <a:ext cx="4312285" cy="27368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450" b="1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A</a:t>
            </a:r>
            <a:r>
              <a:rPr lang="ko-KR" sz="1450" b="1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I</a:t>
            </a:r>
            <a:r>
              <a:rPr lang="ko-KR" sz="1450" b="1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1450" b="1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저작권</a:t>
            </a:r>
            <a:r>
              <a:rPr lang="ko-KR" sz="1450" b="1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1450" b="1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여론은</a:t>
            </a:r>
            <a:r>
              <a:rPr lang="ko-KR" sz="1450" b="1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1450" b="1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‘찬반’보다</a:t>
            </a:r>
            <a:r>
              <a:rPr lang="ko-KR" sz="1450" b="1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1450" b="1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‘어떤</a:t>
            </a:r>
            <a:r>
              <a:rPr lang="ko-KR" sz="1450" b="1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1450" b="1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사용</a:t>
            </a:r>
            <a:r>
              <a:rPr lang="ko-KR" sz="1450" b="1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1450" b="1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맥락에서</a:t>
            </a:r>
            <a:r>
              <a:rPr lang="ko-KR" sz="1450" b="1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1450" b="1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갈등이</a:t>
            </a:r>
            <a:r>
              <a:rPr lang="ko-KR" sz="1450" b="1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1450" b="1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발생하는가’가</a:t>
            </a:r>
            <a:r>
              <a:rPr lang="ko-KR" sz="1450" b="1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1450" b="1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핵심이다.</a:t>
            </a:r>
            <a:endParaRPr lang="ko-KR" altLang="en-US" sz="1450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ko-KR" sz="1450" b="1">
                <a:solidFill>
                  <a:srgbClr val="FFFFFF"/>
                </a:solidFill>
                <a:latin typeface="Pretendard" charset="0"/>
                <a:ea typeface="Pretendard" charset="0"/>
                <a:cs typeface="Pretendard" charset="0"/>
              </a:rPr>
              <a:t>A</a:t>
            </a:r>
            <a:endParaRPr lang="ko-KR" altLang="en-US" sz="1450" b="1">
              <a:solidFill>
                <a:srgbClr val="FFFFFF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79" name="텍스트 상자 54"/>
          <p:cNvSpPr txBox="1">
            <a:spLocks/>
          </p:cNvSpPr>
          <p:nvPr/>
        </p:nvSpPr>
        <p:spPr>
          <a:xfrm rot="0">
            <a:off x="11318875" y="6682740"/>
            <a:ext cx="503555" cy="12890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r">
              <a:buFontTx/>
              <a:buNone/>
            </a:pPr>
            <a:r>
              <a:rPr lang="ko-KR" sz="7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01</a:t>
            </a:r>
            <a:endParaRPr lang="ko-KR" altLang="en-US" sz="700" b="1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pic>
        <p:nvPicPr>
          <p:cNvPr id="80" name="그림 5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807075" y="2630170"/>
            <a:ext cx="5943600" cy="1343660"/>
          </a:xfrm>
          <a:prstGeom prst="rect"/>
          <a:noFill/>
        </p:spPr>
      </p:pic>
      <p:pic>
        <p:nvPicPr>
          <p:cNvPr id="81" name="그림 5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811520" y="829945"/>
            <a:ext cx="5939155" cy="1398270"/>
          </a:xfrm>
          <a:prstGeom prst="rect"/>
          <a:noFill/>
        </p:spPr>
      </p:pic>
      <p:pic>
        <p:nvPicPr>
          <p:cNvPr id="82" name="그림 57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790565" y="4389755"/>
            <a:ext cx="5960110" cy="1355725"/>
          </a:xfrm>
          <a:prstGeom prst="rect"/>
          <a:noFill/>
        </p:spPr>
      </p:pic>
      <p:sp>
        <p:nvSpPr>
          <p:cNvPr id="83" name="텍스트 상자 1"/>
          <p:cNvSpPr txBox="1">
            <a:spLocks/>
          </p:cNvSpPr>
          <p:nvPr/>
        </p:nvSpPr>
        <p:spPr>
          <a:xfrm rot="0">
            <a:off x="9010015" y="219710"/>
            <a:ext cx="2460625" cy="26225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AI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빅데이터 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전공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20221389 장우혁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/>
          </p:cNvSpPr>
          <p:nvPr/>
        </p:nvSpPr>
        <p:spPr>
          <a:xfrm rot="0">
            <a:off x="0" y="0"/>
            <a:ext cx="12192635" cy="6858635"/>
          </a:xfrm>
          <a:prstGeom prst="rect"/>
          <a:solidFill>
            <a:srgbClr val="FFFAF0"/>
          </a:solidFill>
          <a:ln w="8890" cap="flat" cmpd="sng">
            <a:solidFill>
              <a:srgbClr val="FFFAF0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6" name="Rect 0"/>
          <p:cNvSpPr txBox="1">
            <a:spLocks/>
          </p:cNvSpPr>
          <p:nvPr/>
        </p:nvSpPr>
        <p:spPr>
          <a:xfrm rot="0">
            <a:off x="580390" y="190500"/>
            <a:ext cx="11031855" cy="71501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ctr">
              <a:buFontTx/>
              <a:buNone/>
            </a:pP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목차</a:t>
            </a:r>
            <a:endParaRPr lang="ko-KR" altLang="en-US" sz="265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7" name="텍스트 상자 1"/>
          <p:cNvSpPr txBox="1">
            <a:spLocks/>
          </p:cNvSpPr>
          <p:nvPr/>
        </p:nvSpPr>
        <p:spPr>
          <a:xfrm>
            <a:off x="280670" y="740410"/>
            <a:ext cx="9190990" cy="618426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numCol="1" vert="horz" anchor="t">
            <a:spAutoFit/>
          </a:bodyPr>
          <a:lstStyle/>
          <a:p>
            <a:pPr marL="0" indent="0" algn="l" hangingPunct="1">
              <a:buFontTx/>
              <a:buNone/>
            </a:pPr>
            <a:r>
              <a:rPr lang="ko-KR" sz="1800" b="1">
                <a:latin typeface="맑은 고딕" charset="0"/>
                <a:ea typeface="맑은 고딕" charset="0"/>
              </a:rPr>
              <a:t>1.</a:t>
            </a:r>
            <a:r>
              <a:rPr lang="ko-KR" sz="1800" b="1">
                <a:latin typeface="맑은 고딕" charset="0"/>
                <a:ea typeface="맑은 고딕" charset="0"/>
              </a:rPr>
              <a:t> </a:t>
            </a:r>
            <a:r>
              <a:rPr lang="ko-KR" sz="1800" b="1">
                <a:latin typeface="맑은 고딕" charset="0"/>
                <a:ea typeface="맑은 고딕" charset="0"/>
              </a:rPr>
              <a:t>연구 가설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800" b="1">
                <a:latin typeface="맑은 고딕" charset="0"/>
                <a:ea typeface="맑은 고딕" charset="0"/>
              </a:rPr>
              <a:t>2. 분석 설계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800" b="1">
                <a:latin typeface="맑은 고딕" charset="0"/>
                <a:ea typeface="맑은 고딕" charset="0"/>
              </a:rPr>
              <a:t>3. 데이터 수집 및 전처리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800" b="1">
                <a:latin typeface="맑은 고딕" charset="0"/>
                <a:ea typeface="맑은 고딕" charset="0"/>
              </a:rPr>
              <a:t>	</a:t>
            </a:r>
            <a:r>
              <a:rPr lang="ko-KR" sz="1200" b="1">
                <a:latin typeface="맑은 고딕" charset="0"/>
                <a:ea typeface="맑은 고딕" charset="0"/>
              </a:rPr>
              <a:t>-</a:t>
            </a:r>
            <a:r>
              <a:rPr lang="ko-KR" sz="1200" b="1">
                <a:latin typeface="맑은 고딕" charset="0"/>
                <a:ea typeface="맑은 고딕" charset="0"/>
              </a:rPr>
              <a:t> </a:t>
            </a:r>
            <a:r>
              <a:rPr lang="ko-KR" sz="1200" b="1">
                <a:latin typeface="맑은 고딕" charset="0"/>
                <a:ea typeface="맑은 고딕" charset="0"/>
              </a:rPr>
              <a:t>웹 크롤링, 데이터 축소, 형태소 분석, 불용어 제거</a:t>
            </a:r>
            <a:endParaRPr lang="ko-KR" altLang="en-US" sz="12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800" b="1">
                <a:latin typeface="맑은 고딕" charset="0"/>
                <a:ea typeface="맑은 고딕" charset="0"/>
              </a:rPr>
              <a:t>4. 데이터 시각화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800" b="1">
                <a:latin typeface="맑은 고딕" charset="0"/>
                <a:ea typeface="맑은 고딕" charset="0"/>
              </a:rPr>
              <a:t>	</a:t>
            </a:r>
            <a:r>
              <a:rPr lang="ko-KR" sz="1200" b="1">
                <a:latin typeface="맑은 고딕" charset="0"/>
                <a:ea typeface="맑은 고딕" charset="0"/>
              </a:rPr>
              <a:t>- WordCloud</a:t>
            </a:r>
            <a:endParaRPr lang="ko-KR" altLang="en-US" sz="12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800" b="1">
                <a:latin typeface="맑은 고딕" charset="0"/>
                <a:ea typeface="맑은 고딕" charset="0"/>
              </a:rPr>
              <a:t>5. 군집 분류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800" b="1">
                <a:latin typeface="맑은 고딕" charset="0"/>
                <a:ea typeface="맑은 고딕" charset="0"/>
              </a:rPr>
              <a:t>	</a:t>
            </a:r>
            <a:r>
              <a:rPr lang="ko-KR" sz="1200" b="1">
                <a:latin typeface="맑은 고딕" charset="0"/>
                <a:ea typeface="맑은 고딕" charset="0"/>
              </a:rPr>
              <a:t>- K-MEANS</a:t>
            </a:r>
            <a:r>
              <a:rPr lang="ko-KR" sz="1800" b="1">
                <a:latin typeface="맑은 고딕" charset="0"/>
                <a:ea typeface="맑은 고딕" charset="0"/>
              </a:rPr>
              <a:t> 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800" b="1">
                <a:latin typeface="맑은 고딕" charset="0"/>
                <a:ea typeface="맑은 고딕" charset="0"/>
              </a:rPr>
              <a:t>6. 토픽 모델링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800" b="1">
                <a:latin typeface="맑은 고딕" charset="0"/>
                <a:ea typeface="맑은 고딕" charset="0"/>
              </a:rPr>
              <a:t>	</a:t>
            </a:r>
            <a:r>
              <a:rPr lang="ko-KR" sz="1200" b="1">
                <a:latin typeface="맑은 고딕" charset="0"/>
                <a:ea typeface="맑은 고딕" charset="0"/>
              </a:rPr>
              <a:t>- LDA, BERTopic</a:t>
            </a:r>
            <a:endParaRPr lang="ko-KR" altLang="en-US" sz="12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800" b="1">
                <a:latin typeface="맑은 고딕" charset="0"/>
                <a:ea typeface="맑은 고딕" charset="0"/>
              </a:rPr>
              <a:t>7. 감성분석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800" b="1">
                <a:latin typeface="맑은 고딕" charset="0"/>
                <a:ea typeface="맑은 고딕" charset="0"/>
              </a:rPr>
              <a:t>8. 시계열 분석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800" b="1">
                <a:latin typeface="맑은 고딕" charset="0"/>
                <a:ea typeface="맑은 고딕" charset="0"/>
              </a:rPr>
              <a:t>9. 결론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800" b="1">
                <a:latin typeface="맑은 고딕" charset="0"/>
                <a:ea typeface="맑은 고딕" charset="0"/>
              </a:rPr>
              <a:t>     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/>
          </p:cNvSpPr>
          <p:nvPr/>
        </p:nvSpPr>
        <p:spPr>
          <a:xfrm rot="0">
            <a:off x="0" y="0"/>
            <a:ext cx="12192635" cy="6858635"/>
          </a:xfrm>
          <a:prstGeom prst="rect"/>
          <a:solidFill>
            <a:srgbClr val="FFFAF0"/>
          </a:solidFill>
          <a:ln w="8890" cap="flat" cmpd="sng">
            <a:solidFill>
              <a:srgbClr val="FFFAF0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TextBox 3"/>
          <p:cNvSpPr txBox="1"/>
          <p:nvPr/>
        </p:nvSpPr>
        <p:spPr>
          <a:xfrm>
            <a:off x="411480" y="182880"/>
            <a:ext cx="3659505" cy="1663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01.</a:t>
            </a:r>
            <a:r>
              <a:rPr lang="ko-KR" sz="8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8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연구 가설</a:t>
            </a:r>
            <a:endParaRPr lang="ko-KR" altLang="en-US" sz="1000" b="1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4" name="Line 4"/>
          <p:cNvSpPr/>
          <p:nvPr/>
        </p:nvSpPr>
        <p:spPr>
          <a:xfrm>
            <a:off x="411480" y="6510655"/>
            <a:ext cx="11384280" cy="0"/>
          </a:xfrm>
          <a:prstGeom prst="line">
            <a:avLst/>
          </a:prstGeom>
          <a:ln w="10160">
            <a:solidFill>
              <a:srgbClr val="E5DED3"/>
            </a:solidFill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548640" y="612775"/>
            <a:ext cx="2469515" cy="1466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KEY</a:t>
            </a: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MESSAGE</a:t>
            </a:r>
            <a:endParaRPr lang="ko-KR" altLang="en-US" sz="800" b="1">
              <a:solidFill>
                <a:srgbClr val="FF6B5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6" name="TextBox 6"/>
          <p:cNvSpPr txBox="1">
            <a:spLocks/>
          </p:cNvSpPr>
          <p:nvPr/>
        </p:nvSpPr>
        <p:spPr>
          <a:xfrm>
            <a:off x="530225" y="850265"/>
            <a:ext cx="11031220" cy="71437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연구</a:t>
            </a: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가설 : AI 저작권에 관한 여론은 </a:t>
            </a:r>
            <a:r>
              <a:rPr lang="ko-KR" sz="2650" b="1">
                <a:solidFill>
                  <a:srgbClr val="FF0000"/>
                </a:solidFill>
                <a:latin typeface="Pretendard" charset="0"/>
                <a:ea typeface="Pretendard" charset="0"/>
                <a:cs typeface="Pretendard" charset="0"/>
              </a:rPr>
              <a:t>부정</a:t>
            </a:r>
            <a:r>
              <a:rPr lang="ko-KR" sz="2650" b="1">
                <a:solidFill>
                  <a:srgbClr val="FF0000"/>
                </a:solidFill>
                <a:latin typeface="Pretendard" charset="0"/>
                <a:ea typeface="Pretendard" charset="0"/>
                <a:cs typeface="Pretendard" charset="0"/>
              </a:rPr>
              <a:t>적</a:t>
            </a:r>
            <a:r>
              <a:rPr lang="ko-KR" sz="2650" b="1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일 </a:t>
            </a:r>
            <a:r>
              <a:rPr lang="ko-KR" sz="2650" b="1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것</a:t>
            </a: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이다. </a:t>
            </a:r>
            <a:endParaRPr lang="ko-KR" altLang="en-US" sz="265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7" name="TextBox 7"/>
          <p:cNvSpPr txBox="1">
            <a:spLocks/>
          </p:cNvSpPr>
          <p:nvPr/>
        </p:nvSpPr>
        <p:spPr>
          <a:xfrm rot="0">
            <a:off x="548640" y="1480185"/>
            <a:ext cx="7301865" cy="50355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지브리 감성 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이미지 변환의 시대부터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현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재 I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nsta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g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ram 양산형 A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I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 릴스와 Youtube 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양산형 A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I Sho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r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ts 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까지.</a:t>
            </a:r>
            <a:endParaRPr lang="ko-KR" altLang="en-US" sz="1100">
              <a:solidFill>
                <a:schemeClr val="tx1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무분별한 AI의 사용으로 인해 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여론은 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부정적 흐름을 보일 것이라고 예상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함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.</a:t>
            </a:r>
            <a:endParaRPr lang="ko-KR" altLang="en-US" sz="1100">
              <a:solidFill>
                <a:schemeClr val="tx1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grpSp>
        <p:nvGrpSpPr>
          <p:cNvPr id="26" name="그룹 61"/>
          <p:cNvGrpSpPr>
            <a:grpSpLocks/>
          </p:cNvGrpSpPr>
          <p:nvPr/>
        </p:nvGrpSpPr>
        <p:grpSpPr>
          <a:xfrm rot="0">
            <a:off x="614680" y="2267585"/>
            <a:ext cx="9412605" cy="833120"/>
            <a:chOff x="614680" y="2267585"/>
            <a:chExt cx="9412605" cy="833120"/>
          </a:xfrm>
        </p:grpSpPr>
        <p:sp>
          <p:nvSpPr>
            <p:cNvPr id="8" name="Shape 8"/>
            <p:cNvSpPr>
              <a:spLocks/>
            </p:cNvSpPr>
            <p:nvPr/>
          </p:nvSpPr>
          <p:spPr>
            <a:xfrm rot="0">
              <a:off x="614680" y="2267585"/>
              <a:ext cx="9412605" cy="751205"/>
            </a:xfrm>
            <a:prstGeom prst="roundRect"/>
            <a:solidFill>
              <a:srgbClr val="A4D4C5"/>
            </a:solidFill>
            <a:ln w="8890" cap="flat" cmpd="sng">
              <a:solidFill>
                <a:srgbClr val="000000">
                  <a:alpha val="100000"/>
                </a:srgbClr>
              </a:solidFill>
              <a:prstDash val="solid"/>
            </a:ln>
          </p:spPr>
          <p:txBody>
            <a:bodyPr wrap="none" lIns="89535" tIns="46355" rIns="89535" bIns="46355" numCol="1" vert="horz" anchor="ctr">
              <a:noAutofit/>
            </a:bodyPr>
            <a:lstStyle/>
            <a:p>
              <a:pPr marL="0" indent="0">
                <a:buFontTx/>
                <a:buNone/>
                <a:defRPr/>
              </a:pPr>
              <a:endParaRPr lang="ko-KR" altLang="en-US"/>
            </a:p>
          </p:txBody>
        </p:sp>
        <p:sp>
          <p:nvSpPr>
            <p:cNvPr id="9" name="TextBox 9"/>
            <p:cNvSpPr txBox="1">
              <a:spLocks/>
            </p:cNvSpPr>
            <p:nvPr/>
          </p:nvSpPr>
          <p:spPr>
            <a:xfrm rot="0">
              <a:off x="1199515" y="2350135"/>
              <a:ext cx="8242300" cy="87630"/>
            </a:xfrm>
            <a:prstGeom prst="rect"/>
            <a:noFill/>
            <a:ln>
              <a:noFill/>
              <a:prstDash/>
            </a:ln>
          </p:spPr>
          <p:txBody>
            <a:bodyPr wrap="square" lIns="0" tIns="0" rIns="0" bIns="0" numCol="1" vert="horz" anchor="t">
              <a:noAutofit/>
            </a:bodyPr>
            <a:lstStyle/>
            <a:p>
              <a:pPr marL="0" indent="0" algn="l">
                <a:buFontTx/>
                <a:buNone/>
              </a:pPr>
              <a:r>
                <a:rPr lang="ko-KR" sz="1150" b="1">
                  <a:solidFill>
                    <a:srgbClr val="0A0A0A"/>
                  </a:solidFill>
                  <a:latin typeface="Pretendard" charset="0"/>
                  <a:ea typeface="Pretendard" charset="0"/>
                  <a:cs typeface="Pretendard" charset="0"/>
                </a:rPr>
                <a:t>1.</a:t>
              </a:r>
              <a:r>
                <a:rPr lang="ko-KR" sz="1150" b="1">
                  <a:solidFill>
                    <a:srgbClr val="0A0A0A"/>
                  </a:solidFill>
                  <a:latin typeface="Pretendard" charset="0"/>
                  <a:ea typeface="Pretendard" charset="0"/>
                  <a:cs typeface="Pretendard" charset="0"/>
                </a:rPr>
                <a:t> </a:t>
              </a:r>
              <a:r>
                <a:rPr lang="ko-KR" sz="1150" b="1">
                  <a:solidFill>
                    <a:srgbClr val="0A0A0A"/>
                  </a:solidFill>
                  <a:latin typeface="Pretendard" charset="0"/>
                  <a:ea typeface="Pretendard" charset="0"/>
                  <a:cs typeface="Pretendard" charset="0"/>
                </a:rPr>
                <a:t>전체</a:t>
              </a:r>
              <a:r>
                <a:rPr lang="ko-KR" sz="1150" b="1">
                  <a:solidFill>
                    <a:srgbClr val="0A0A0A"/>
                  </a:solidFill>
                  <a:latin typeface="Pretendard" charset="0"/>
                  <a:ea typeface="Pretendard" charset="0"/>
                  <a:cs typeface="Pretendard" charset="0"/>
                </a:rPr>
                <a:t> </a:t>
              </a:r>
              <a:r>
                <a:rPr lang="ko-KR" sz="1150" b="1">
                  <a:solidFill>
                    <a:srgbClr val="0A0A0A"/>
                  </a:solidFill>
                  <a:latin typeface="Pretendard" charset="0"/>
                  <a:ea typeface="Pretendard" charset="0"/>
                  <a:cs typeface="Pretendard" charset="0"/>
                </a:rPr>
                <a:t>흐름</a:t>
              </a:r>
              <a:endParaRPr lang="ko-KR" altLang="en-US" sz="11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endParaRPr>
            </a:p>
          </p:txBody>
        </p:sp>
        <p:sp>
          <p:nvSpPr>
            <p:cNvPr id="10" name="TextBox 10"/>
            <p:cNvSpPr txBox="1">
              <a:spLocks/>
            </p:cNvSpPr>
            <p:nvPr/>
          </p:nvSpPr>
          <p:spPr>
            <a:xfrm rot="0">
              <a:off x="1199515" y="2644140"/>
              <a:ext cx="8242935" cy="456565"/>
            </a:xfrm>
            <a:prstGeom prst="rect"/>
            <a:noFill/>
            <a:ln>
              <a:noFill/>
              <a:prstDash/>
            </a:ln>
          </p:spPr>
          <p:txBody>
            <a:bodyPr wrap="square" lIns="0" tIns="0" rIns="0" bIns="0" numCol="1" vert="horz" anchor="t">
              <a:noAutofit/>
            </a:bodyPr>
            <a:lstStyle/>
            <a:p>
              <a:pPr marL="0" indent="0" algn="l">
                <a:buFontTx/>
                <a:buNone/>
              </a:pPr>
              <a:r>
                <a:rPr lang="ko-KR" sz="1200">
                  <a:solidFill>
                    <a:srgbClr val="0A0A0A"/>
                  </a:solidFill>
                  <a:latin typeface="Pretendard" charset="0"/>
                  <a:ea typeface="Pretendard" charset="0"/>
                  <a:cs typeface="Pretendard" charset="0"/>
                </a:rPr>
                <a:t>시간이 지날수록</a:t>
              </a:r>
              <a:r>
                <a:rPr lang="ko-KR" sz="1200" b="1">
                  <a:solidFill>
                    <a:srgbClr val="0A0A0A"/>
                  </a:solidFill>
                  <a:latin typeface="Pretendard" charset="0"/>
                  <a:ea typeface="Pretendard" charset="0"/>
                  <a:cs typeface="Pretendard" charset="0"/>
                </a:rPr>
                <a:t> </a:t>
              </a:r>
              <a:r>
                <a:rPr lang="ko-KR" sz="1200" b="1">
                  <a:solidFill>
                    <a:srgbClr val="FF0000"/>
                  </a:solidFill>
                  <a:latin typeface="Pretendard" charset="0"/>
                  <a:ea typeface="Pretendard" charset="0"/>
                  <a:cs typeface="Pretendard" charset="0"/>
                </a:rPr>
                <a:t>약한 부정 방향</a:t>
              </a:r>
              <a:r>
                <a:rPr lang="ko-KR" sz="1200">
                  <a:solidFill>
                    <a:srgbClr val="0A0A0A"/>
                  </a:solidFill>
                  <a:latin typeface="Pretendard" charset="0"/>
                  <a:ea typeface="Pretendard" charset="0"/>
                  <a:cs typeface="Pretendard" charset="0"/>
                </a:rPr>
                <a:t>은 관찰되지만, 모든 여론이 일괄적으로 악화됐다고 보기는 어려울 것이다.</a:t>
              </a:r>
              <a:endParaRPr lang="ko-KR" altLang="en-US" sz="12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endParaRPr>
            </a:p>
          </p:txBody>
        </p:sp>
      </p:grpSp>
      <p:grpSp>
        <p:nvGrpSpPr>
          <p:cNvPr id="28" name="그룹 63"/>
          <p:cNvGrpSpPr>
            <a:grpSpLocks/>
          </p:cNvGrpSpPr>
          <p:nvPr/>
        </p:nvGrpSpPr>
        <p:grpSpPr>
          <a:xfrm rot="0">
            <a:off x="614045" y="3368040"/>
            <a:ext cx="9415145" cy="852805"/>
            <a:chOff x="614045" y="3368040"/>
            <a:chExt cx="9415145" cy="852805"/>
          </a:xfrm>
        </p:grpSpPr>
        <p:sp>
          <p:nvSpPr>
            <p:cNvPr id="11" name="Shape 11"/>
            <p:cNvSpPr>
              <a:spLocks/>
            </p:cNvSpPr>
            <p:nvPr/>
          </p:nvSpPr>
          <p:spPr>
            <a:xfrm rot="0">
              <a:off x="614045" y="3368040"/>
              <a:ext cx="9415145" cy="742315"/>
            </a:xfrm>
            <a:prstGeom prst="roundRect"/>
            <a:solidFill>
              <a:srgbClr val="FFB084"/>
            </a:solidFill>
            <a:ln w="8890" cap="flat" cmpd="sng">
              <a:solidFill>
                <a:srgbClr val="000000">
                  <a:alpha val="100000"/>
                </a:srgbClr>
              </a:solidFill>
              <a:prstDash val="solid"/>
            </a:ln>
          </p:spPr>
          <p:txBody>
            <a:bodyPr wrap="none" lIns="89535" tIns="46355" rIns="89535" bIns="46355" numCol="1" vert="horz" anchor="ctr">
              <a:noAutofit/>
            </a:bodyPr>
            <a:lstStyle/>
            <a:p>
              <a:pPr marL="0" indent="0">
                <a:buFontTx/>
                <a:buNone/>
                <a:defRPr/>
              </a:pPr>
              <a:endParaRPr lang="ko-KR" altLang="en-US"/>
            </a:p>
          </p:txBody>
        </p:sp>
        <p:sp>
          <p:nvSpPr>
            <p:cNvPr id="12" name="TextBox 12"/>
            <p:cNvSpPr txBox="1">
              <a:spLocks/>
            </p:cNvSpPr>
            <p:nvPr/>
          </p:nvSpPr>
          <p:spPr>
            <a:xfrm rot="0">
              <a:off x="1198880" y="3451225"/>
              <a:ext cx="8244840" cy="85725"/>
            </a:xfrm>
            <a:prstGeom prst="rect"/>
            <a:noFill/>
            <a:ln>
              <a:noFill/>
              <a:prstDash/>
            </a:ln>
          </p:spPr>
          <p:txBody>
            <a:bodyPr wrap="square" lIns="0" tIns="0" rIns="0" bIns="0" numCol="1" vert="horz" anchor="t">
              <a:noAutofit/>
            </a:bodyPr>
            <a:lstStyle/>
            <a:p>
              <a:pPr marL="0" indent="0" algn="l">
                <a:buFontTx/>
                <a:buNone/>
              </a:pPr>
              <a:r>
                <a:rPr lang="ko-KR" sz="1150" b="1">
                  <a:solidFill>
                    <a:srgbClr val="0A0A0A"/>
                  </a:solidFill>
                  <a:latin typeface="Pretendard" charset="0"/>
                  <a:ea typeface="Pretendard" charset="0"/>
                  <a:cs typeface="Pretendard" charset="0"/>
                </a:rPr>
                <a:t>2. 갈등의 위치</a:t>
              </a:r>
              <a:endParaRPr lang="ko-KR" altLang="en-US" sz="11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endParaRPr>
            </a:p>
          </p:txBody>
        </p:sp>
        <p:sp>
          <p:nvSpPr>
            <p:cNvPr id="13" name="TextBox 13"/>
            <p:cNvSpPr txBox="1">
              <a:spLocks/>
            </p:cNvSpPr>
            <p:nvPr/>
          </p:nvSpPr>
          <p:spPr>
            <a:xfrm rot="0">
              <a:off x="1198880" y="3770630"/>
              <a:ext cx="8245475" cy="450215"/>
            </a:xfrm>
            <a:prstGeom prst="rect"/>
            <a:noFill/>
            <a:ln>
              <a:noFill/>
              <a:prstDash/>
            </a:ln>
          </p:spPr>
          <p:txBody>
            <a:bodyPr wrap="square" lIns="0" tIns="0" rIns="0" bIns="0" numCol="1" vert="horz" anchor="t">
              <a:noAutofit/>
            </a:bodyPr>
            <a:lstStyle/>
            <a:p>
              <a:pPr marL="0" indent="0" algn="l">
                <a:buFontTx/>
                <a:buNone/>
              </a:pPr>
              <a:r>
                <a:rPr lang="ko-KR" sz="1200" b="1">
                  <a:solidFill>
                    <a:srgbClr val="FF0000"/>
                  </a:solidFill>
                  <a:latin typeface="Pretendard" charset="0"/>
                  <a:ea typeface="Pretendard" charset="0"/>
                  <a:cs typeface="Pretendard" charset="0"/>
                </a:rPr>
                <a:t>부정 여론</a:t>
              </a:r>
              <a:r>
                <a:rPr lang="ko-KR" sz="1200">
                  <a:solidFill>
                    <a:srgbClr val="0A0A0A"/>
                  </a:solidFill>
                  <a:latin typeface="Pretendard" charset="0"/>
                  <a:ea typeface="Pretendard" charset="0"/>
                  <a:cs typeface="Pretendard" charset="0"/>
                </a:rPr>
                <a:t>은 AI 일반론보다 소송, 학습 데이터, 디즈니·영상 저작, 트레이싱 토픽에서 강하다.</a:t>
              </a:r>
              <a:endParaRPr lang="ko-KR" altLang="en-US" sz="12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endParaRPr>
            </a:p>
          </p:txBody>
        </p:sp>
      </p:grpSp>
      <p:grpSp>
        <p:nvGrpSpPr>
          <p:cNvPr id="27" name="그룹 62"/>
          <p:cNvGrpSpPr>
            <a:grpSpLocks/>
          </p:cNvGrpSpPr>
          <p:nvPr/>
        </p:nvGrpSpPr>
        <p:grpSpPr>
          <a:xfrm rot="0">
            <a:off x="643890" y="4497070"/>
            <a:ext cx="9383395" cy="873125"/>
            <a:chOff x="643890" y="4497070"/>
            <a:chExt cx="9383395" cy="873125"/>
          </a:xfrm>
        </p:grpSpPr>
        <p:sp>
          <p:nvSpPr>
            <p:cNvPr id="14" name="Shape 14"/>
            <p:cNvSpPr>
              <a:spLocks/>
            </p:cNvSpPr>
            <p:nvPr/>
          </p:nvSpPr>
          <p:spPr>
            <a:xfrm rot="0">
              <a:off x="643890" y="4497070"/>
              <a:ext cx="9383395" cy="813435"/>
            </a:xfrm>
            <a:prstGeom prst="roundRect"/>
            <a:solidFill>
              <a:srgbClr val="B8A4ED"/>
            </a:solidFill>
            <a:ln w="8890" cap="flat" cmpd="sng">
              <a:solidFill>
                <a:srgbClr val="000000">
                  <a:alpha val="100000"/>
                </a:srgbClr>
              </a:solidFill>
              <a:prstDash val="solid"/>
            </a:ln>
          </p:spPr>
          <p:txBody>
            <a:bodyPr wrap="none" lIns="89535" tIns="46355" rIns="89535" bIns="46355" numCol="1" vert="horz" anchor="ctr">
              <a:noAutofit/>
            </a:bodyPr>
            <a:lstStyle/>
            <a:p>
              <a:pPr marL="0" indent="0">
                <a:buFontTx/>
                <a:buNone/>
                <a:defRPr/>
              </a:pPr>
              <a:endParaRPr lang="ko-KR" altLang="en-US"/>
            </a:p>
          </p:txBody>
        </p:sp>
        <p:sp>
          <p:nvSpPr>
            <p:cNvPr id="15" name="TextBox 15"/>
            <p:cNvSpPr txBox="1">
              <a:spLocks/>
            </p:cNvSpPr>
            <p:nvPr/>
          </p:nvSpPr>
          <p:spPr>
            <a:xfrm rot="0">
              <a:off x="1226185" y="4587240"/>
              <a:ext cx="8217535" cy="94615"/>
            </a:xfrm>
            <a:prstGeom prst="rect"/>
            <a:noFill/>
            <a:ln>
              <a:noFill/>
              <a:prstDash/>
            </a:ln>
          </p:spPr>
          <p:txBody>
            <a:bodyPr wrap="square" lIns="0" tIns="0" rIns="0" bIns="0" numCol="1" vert="horz" anchor="t">
              <a:noAutofit/>
            </a:bodyPr>
            <a:lstStyle/>
            <a:p>
              <a:pPr marL="0" indent="0" algn="l">
                <a:buFontTx/>
                <a:buNone/>
              </a:pPr>
              <a:r>
                <a:rPr lang="ko-KR" sz="1150" b="1">
                  <a:solidFill>
                    <a:srgbClr val="0A0A0A"/>
                  </a:solidFill>
                  <a:latin typeface="Pretendard" charset="0"/>
                  <a:ea typeface="Pretendard" charset="0"/>
                  <a:cs typeface="Pretendard" charset="0"/>
                </a:rPr>
                <a:t>3. 정책 함의</a:t>
              </a:r>
              <a:endParaRPr lang="ko-KR" altLang="en-US" sz="11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endParaRPr>
            </a:p>
          </p:txBody>
        </p:sp>
        <p:sp>
          <p:nvSpPr>
            <p:cNvPr id="16" name="TextBox 16"/>
            <p:cNvSpPr txBox="1">
              <a:spLocks/>
            </p:cNvSpPr>
            <p:nvPr/>
          </p:nvSpPr>
          <p:spPr>
            <a:xfrm rot="0">
              <a:off x="1210945" y="4876800"/>
              <a:ext cx="8217535" cy="493395"/>
            </a:xfrm>
            <a:prstGeom prst="rect"/>
            <a:noFill/>
            <a:ln>
              <a:noFill/>
              <a:prstDash/>
            </a:ln>
          </p:spPr>
          <p:txBody>
            <a:bodyPr wrap="square" lIns="0" tIns="0" rIns="0" bIns="0" numCol="1" vert="horz" anchor="t">
              <a:noAutofit/>
            </a:bodyPr>
            <a:lstStyle/>
            <a:p>
              <a:pPr marL="0" indent="0" algn="l">
                <a:buFontTx/>
                <a:buNone/>
              </a:pPr>
              <a:r>
                <a:rPr lang="ko-KR" sz="1200">
                  <a:solidFill>
                    <a:srgbClr val="0A0A0A"/>
                  </a:solidFill>
                  <a:latin typeface="Pretendard" charset="0"/>
                  <a:ea typeface="Pretendard" charset="0"/>
                  <a:cs typeface="Pretendard" charset="0"/>
                </a:rPr>
                <a:t>금지보다 출처표시, 학습데이터 투명성, 플랫폼 책임, 보상형 라이선스 설계가</a:t>
              </a:r>
              <a:r>
                <a:rPr lang="ko-KR" sz="1200" b="1">
                  <a:solidFill>
                    <a:srgbClr val="0A0A0A"/>
                  </a:solidFill>
                  <a:latin typeface="Pretendard" charset="0"/>
                  <a:ea typeface="Pretendard" charset="0"/>
                  <a:cs typeface="Pretendard" charset="0"/>
                </a:rPr>
                <a:t> </a:t>
              </a:r>
              <a:r>
                <a:rPr lang="ko-KR" sz="1200" b="1">
                  <a:solidFill>
                    <a:srgbClr val="FF0000"/>
                  </a:solidFill>
                  <a:latin typeface="Pretendard" charset="0"/>
                  <a:ea typeface="Pretendard" charset="0"/>
                  <a:cs typeface="Pretendard" charset="0"/>
                </a:rPr>
                <a:t>핵심</a:t>
              </a:r>
              <a:r>
                <a:rPr lang="ko-KR" sz="1200">
                  <a:solidFill>
                    <a:srgbClr val="0A0A0A"/>
                  </a:solidFill>
                  <a:latin typeface="Pretendard" charset="0"/>
                  <a:ea typeface="Pretendard" charset="0"/>
                  <a:cs typeface="Pretendard" charset="0"/>
                </a:rPr>
                <a:t>이다.</a:t>
              </a:r>
              <a:endParaRPr lang="ko-KR" altLang="en-US" sz="12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endParaRPr>
            </a:p>
          </p:txBody>
        </p:sp>
      </p:grpSp>
      <p:sp>
        <p:nvSpPr>
          <p:cNvPr id="25" name="TextBox 25"/>
          <p:cNvSpPr txBox="1">
            <a:spLocks/>
          </p:cNvSpPr>
          <p:nvPr/>
        </p:nvSpPr>
        <p:spPr>
          <a:xfrm rot="0">
            <a:off x="11247120" y="6610985"/>
            <a:ext cx="503555" cy="12890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r">
              <a:buFontTx/>
              <a:buNone/>
            </a:pPr>
            <a:r>
              <a:rPr lang="ko-KR" sz="7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02</a:t>
            </a:r>
            <a:endParaRPr lang="ko-KR" altLang="en-US" sz="700" b="1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AF0"/>
          </a:solidFill>
          <a:ln w="8890">
            <a:solidFill>
              <a:srgbClr val="FFFAF0"/>
            </a:solidFill>
          </a:ln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411480" y="182880"/>
            <a:ext cx="3658870" cy="1657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02. 분석 설계</a:t>
            </a:r>
            <a:endParaRPr lang="ko-KR" altLang="en-US" sz="800" b="1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4" name="Line 4"/>
          <p:cNvSpPr/>
          <p:nvPr/>
        </p:nvSpPr>
        <p:spPr>
          <a:xfrm>
            <a:off x="411480" y="6510655"/>
            <a:ext cx="11384280" cy="0"/>
          </a:xfrm>
          <a:prstGeom prst="line">
            <a:avLst/>
          </a:prstGeom>
          <a:ln w="10160">
            <a:solidFill>
              <a:srgbClr val="E5DED3"/>
            </a:solidFill>
          </a:ln>
        </p:spPr>
        <p:txBody>
          <a:bodyPr/>
          <a:lstStyle/>
          <a:p/>
        </p:txBody>
      </p:sp>
      <p:sp>
        <p:nvSpPr>
          <p:cNvPr id="5" name="TextBox 5"/>
          <p:cNvSpPr txBox="1">
            <a:spLocks/>
          </p:cNvSpPr>
          <p:nvPr/>
        </p:nvSpPr>
        <p:spPr>
          <a:xfrm rot="0">
            <a:off x="548640" y="612775"/>
            <a:ext cx="2469515" cy="14668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METHOD ROADMAP</a:t>
            </a:r>
            <a:endParaRPr lang="ko-KR" altLang="en-US" sz="800" b="1">
              <a:solidFill>
                <a:srgbClr val="FF6B5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6" name="TextBox 6"/>
          <p:cNvSpPr txBox="1">
            <a:spLocks/>
          </p:cNvSpPr>
          <p:nvPr/>
        </p:nvSpPr>
        <p:spPr>
          <a:xfrm rot="0">
            <a:off x="530225" y="850265"/>
            <a:ext cx="10380345" cy="71374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분석은 ‘수집-전처리-</a:t>
            </a: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시각화-군집분석</a:t>
            </a: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-감성</a:t>
            </a: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분석</a:t>
            </a: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-제언’으로 연결</a:t>
            </a: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됨</a:t>
            </a:r>
            <a:endParaRPr lang="ko-KR" altLang="en-US" sz="265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48640" y="1581785"/>
            <a:ext cx="7178675" cy="3117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각 산출물은 다음 단계의 입력이 되며, 최종적으로 갈등 원인과 정책 대안을 도출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함.</a:t>
            </a:r>
            <a:endParaRPr lang="ko-KR" altLang="en-US" sz="1100">
              <a:solidFill>
                <a:schemeClr val="tx1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8" name="Shape 8"/>
          <p:cNvSpPr>
            <a:spLocks/>
          </p:cNvSpPr>
          <p:nvPr/>
        </p:nvSpPr>
        <p:spPr>
          <a:xfrm rot="0">
            <a:off x="621665" y="2148840"/>
            <a:ext cx="1353820" cy="1143635"/>
          </a:xfrm>
          <a:prstGeom prst="roundRect"/>
          <a:solidFill>
            <a:srgbClr val="A4D4C5"/>
          </a:solidFill>
          <a:ln w="889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9" name="TextBox 9"/>
          <p:cNvSpPr txBox="1"/>
          <p:nvPr/>
        </p:nvSpPr>
        <p:spPr>
          <a:xfrm>
            <a:off x="749935" y="2423160"/>
            <a:ext cx="1098550" cy="1657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ctr">
              <a:buFontTx/>
              <a:buNone/>
            </a:pPr>
            <a:r>
              <a:rPr lang="ko-KR" sz="14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Crawling</a:t>
            </a:r>
            <a:endParaRPr lang="ko-KR" altLang="en-US" sz="14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0" name="TextBox 10"/>
          <p:cNvSpPr txBox="1">
            <a:spLocks/>
          </p:cNvSpPr>
          <p:nvPr/>
        </p:nvSpPr>
        <p:spPr>
          <a:xfrm rot="0">
            <a:off x="749935" y="2743200"/>
            <a:ext cx="1120775" cy="22923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ctr">
              <a:buFontTx/>
              <a:buNone/>
            </a:pP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네이버 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블로그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-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카페 크롤링</a:t>
            </a:r>
            <a:endParaRPr lang="ko-KR" altLang="en-US" sz="1000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1" name="Line 11"/>
          <p:cNvSpPr/>
          <p:nvPr/>
        </p:nvSpPr>
        <p:spPr>
          <a:xfrm>
            <a:off x="2103120" y="2724785"/>
            <a:ext cx="229235" cy="635"/>
          </a:xfrm>
          <a:prstGeom prst="line">
            <a:avLst/>
          </a:prstGeom>
          <a:ln w="19050">
            <a:solidFill>
              <a:srgbClr val="0A0A0A"/>
            </a:solidFill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12" name="Shape 12"/>
          <p:cNvSpPr>
            <a:spLocks/>
          </p:cNvSpPr>
          <p:nvPr/>
        </p:nvSpPr>
        <p:spPr>
          <a:xfrm rot="0">
            <a:off x="2496185" y="2148840"/>
            <a:ext cx="1353820" cy="1143635"/>
          </a:xfrm>
          <a:prstGeom prst="roundRect"/>
          <a:solidFill>
            <a:srgbClr val="FFB084"/>
          </a:solidFill>
          <a:ln w="889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2624455" y="2423160"/>
            <a:ext cx="1098550" cy="1657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ctr">
              <a:buFontTx/>
              <a:buNone/>
            </a:pPr>
            <a:r>
              <a:rPr lang="ko-KR" sz="14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Preprocess</a:t>
            </a:r>
            <a:endParaRPr lang="ko-KR" altLang="en-US" sz="14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624455" y="2743200"/>
            <a:ext cx="1097915" cy="2292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ctr">
              <a:buFontTx/>
              <a:buNone/>
            </a:pP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정제·형태소 </a:t>
            </a:r>
            <a:endParaRPr lang="ko-KR" altLang="en-US" sz="1000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ctr">
              <a:buFontTx/>
              <a:buNone/>
            </a:pP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분석</a:t>
            </a:r>
            <a:endParaRPr lang="ko-KR" altLang="en-US" sz="1000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5" name="Line 15"/>
          <p:cNvSpPr/>
          <p:nvPr/>
        </p:nvSpPr>
        <p:spPr>
          <a:xfrm>
            <a:off x="3977640" y="2724785"/>
            <a:ext cx="229235" cy="635"/>
          </a:xfrm>
          <a:prstGeom prst="line">
            <a:avLst/>
          </a:prstGeom>
          <a:ln w="19050">
            <a:solidFill>
              <a:srgbClr val="0A0A0A"/>
            </a:solidFill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16" name="Shape 16"/>
          <p:cNvSpPr>
            <a:spLocks/>
          </p:cNvSpPr>
          <p:nvPr/>
        </p:nvSpPr>
        <p:spPr>
          <a:xfrm rot="0">
            <a:off x="4370705" y="2148840"/>
            <a:ext cx="1353820" cy="1143635"/>
          </a:xfrm>
          <a:prstGeom prst="roundRect"/>
          <a:solidFill>
            <a:srgbClr val="E8B94A"/>
          </a:solidFill>
          <a:ln w="889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4498975" y="2423160"/>
            <a:ext cx="1098550" cy="1657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ctr">
              <a:buFontTx/>
              <a:buNone/>
            </a:pPr>
            <a:r>
              <a:rPr lang="ko-KR" sz="14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Visualization</a:t>
            </a:r>
            <a:endParaRPr lang="ko-KR" altLang="en-US" sz="14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4498975" y="2743200"/>
            <a:ext cx="1097915" cy="2292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ctr">
              <a:buFontTx/>
              <a:buNone/>
            </a:pP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WordCloud 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/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endParaRPr lang="ko-KR" altLang="en-US" sz="1000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ctr">
              <a:buFontTx/>
              <a:buNone/>
            </a:pP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Bi-gram</a:t>
            </a:r>
            <a:endParaRPr lang="ko-KR" altLang="en-US" sz="1000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9" name="Line 19"/>
          <p:cNvSpPr/>
          <p:nvPr/>
        </p:nvSpPr>
        <p:spPr>
          <a:xfrm>
            <a:off x="5852160" y="2724785"/>
            <a:ext cx="229235" cy="635"/>
          </a:xfrm>
          <a:prstGeom prst="line">
            <a:avLst/>
          </a:prstGeom>
          <a:ln w="19050">
            <a:solidFill>
              <a:srgbClr val="0A0A0A"/>
            </a:solidFill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20" name="Shape 20"/>
          <p:cNvSpPr>
            <a:spLocks/>
          </p:cNvSpPr>
          <p:nvPr/>
        </p:nvSpPr>
        <p:spPr>
          <a:xfrm rot="0">
            <a:off x="6245225" y="2148840"/>
            <a:ext cx="1353820" cy="1143635"/>
          </a:xfrm>
          <a:prstGeom prst="roundRect"/>
          <a:solidFill>
            <a:srgbClr val="B8A4ED"/>
          </a:solidFill>
          <a:ln w="889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21" name="TextBox 21"/>
          <p:cNvSpPr txBox="1">
            <a:spLocks/>
          </p:cNvSpPr>
          <p:nvPr/>
        </p:nvSpPr>
        <p:spPr>
          <a:xfrm rot="0">
            <a:off x="6343650" y="2292985"/>
            <a:ext cx="1127760" cy="12827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ctr">
              <a:buFontTx/>
              <a:buNone/>
            </a:pPr>
            <a:r>
              <a:rPr lang="ko-KR" sz="14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Cluster </a:t>
            </a:r>
            <a:r>
              <a:rPr lang="ko-KR" sz="14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A</a:t>
            </a:r>
            <a:r>
              <a:rPr lang="ko-KR" sz="14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nalysis</a:t>
            </a:r>
            <a:endParaRPr lang="ko-KR" altLang="en-US" sz="14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373495" y="2743200"/>
            <a:ext cx="1097915" cy="2292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ctr">
              <a:buFontTx/>
              <a:buNone/>
            </a:pP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K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-Means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/ 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L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DA / 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BERTopic</a:t>
            </a:r>
            <a:endParaRPr lang="ko-KR" altLang="en-US" sz="1000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3" name="Line 23"/>
          <p:cNvSpPr/>
          <p:nvPr/>
        </p:nvSpPr>
        <p:spPr>
          <a:xfrm>
            <a:off x="7726680" y="2724785"/>
            <a:ext cx="229235" cy="635"/>
          </a:xfrm>
          <a:prstGeom prst="line">
            <a:avLst/>
          </a:prstGeom>
          <a:ln w="19050">
            <a:solidFill>
              <a:srgbClr val="0A0A0A"/>
            </a:solidFill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24" name="Shape 24"/>
          <p:cNvSpPr>
            <a:spLocks/>
          </p:cNvSpPr>
          <p:nvPr/>
        </p:nvSpPr>
        <p:spPr>
          <a:xfrm rot="0">
            <a:off x="8119745" y="2148840"/>
            <a:ext cx="1353820" cy="1143635"/>
          </a:xfrm>
          <a:prstGeom prst="roundRect"/>
          <a:solidFill>
            <a:srgbClr val="FF6B5A"/>
          </a:solidFill>
          <a:ln w="889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25" name="TextBox 25"/>
          <p:cNvSpPr txBox="1"/>
          <p:nvPr/>
        </p:nvSpPr>
        <p:spPr>
          <a:xfrm>
            <a:off x="8248015" y="2423160"/>
            <a:ext cx="1098550" cy="1657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ctr">
              <a:buFontTx/>
              <a:buNone/>
            </a:pPr>
            <a:r>
              <a:rPr lang="ko-KR" sz="14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Sentiment</a:t>
            </a:r>
            <a:endParaRPr lang="ko-KR" altLang="en-US" sz="14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8248015" y="2743200"/>
            <a:ext cx="1097915" cy="2292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ctr">
              <a:buFontTx/>
              <a:buNone/>
            </a:pP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K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nu 감성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사전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 /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endParaRPr lang="ko-KR" altLang="en-US" sz="1000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ctr">
              <a:buFontTx/>
              <a:buNone/>
            </a:pP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시계열 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분석</a:t>
            </a:r>
            <a:r>
              <a:rPr lang="ko-KR" sz="635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endParaRPr lang="ko-KR" altLang="en-US" sz="635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7" name="Line 27"/>
          <p:cNvSpPr/>
          <p:nvPr/>
        </p:nvSpPr>
        <p:spPr>
          <a:xfrm>
            <a:off x="9601200" y="2724785"/>
            <a:ext cx="229235" cy="635"/>
          </a:xfrm>
          <a:prstGeom prst="line">
            <a:avLst/>
          </a:prstGeom>
          <a:ln w="19050">
            <a:solidFill>
              <a:srgbClr val="0A0A0A"/>
            </a:solidFill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28" name="Shape 28"/>
          <p:cNvSpPr>
            <a:spLocks/>
          </p:cNvSpPr>
          <p:nvPr/>
        </p:nvSpPr>
        <p:spPr>
          <a:xfrm rot="0">
            <a:off x="9994265" y="2148840"/>
            <a:ext cx="1353820" cy="1143635"/>
          </a:xfrm>
          <a:prstGeom prst="roundRect"/>
          <a:solidFill>
            <a:srgbClr val="FF4D8B"/>
          </a:solidFill>
          <a:ln w="889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29" name="TextBox 29"/>
          <p:cNvSpPr txBox="1"/>
          <p:nvPr/>
        </p:nvSpPr>
        <p:spPr>
          <a:xfrm>
            <a:off x="10122535" y="2423160"/>
            <a:ext cx="1098550" cy="1657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ctr">
              <a:buFontTx/>
              <a:buNone/>
            </a:pPr>
            <a:r>
              <a:rPr lang="ko-KR" sz="14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Policy</a:t>
            </a:r>
            <a:endParaRPr lang="ko-KR" altLang="en-US" sz="14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0122535" y="2743200"/>
            <a:ext cx="1097915" cy="2292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ctr">
              <a:buFontTx/>
              <a:buNone/>
            </a:pP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정책 제언</a:t>
            </a:r>
            <a:endParaRPr lang="ko-KR" altLang="en-US" sz="1000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1" name="Shape 31"/>
          <p:cNvSpPr>
            <a:spLocks/>
          </p:cNvSpPr>
          <p:nvPr/>
        </p:nvSpPr>
        <p:spPr>
          <a:xfrm rot="0">
            <a:off x="713105" y="4041775"/>
            <a:ext cx="10626725" cy="1445895"/>
          </a:xfrm>
          <a:prstGeom prst="roundRect"/>
          <a:solidFill>
            <a:schemeClr val="tx2">
              <a:lumMod val="10000"/>
              <a:lumOff val="90000"/>
            </a:schemeClr>
          </a:solidFill>
          <a:ln w="889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 marL="0" indent="0">
              <a:buFontTx/>
              <a:buNone/>
              <a:defRPr/>
            </a:pPr>
            <a:endParaRPr lang="ko-KR" altLang="en-US"/>
          </a:p>
        </p:txBody>
      </p:sp>
      <p:sp>
        <p:nvSpPr>
          <p:cNvPr id="35" name="TextBox 35"/>
          <p:cNvSpPr txBox="1">
            <a:spLocks/>
          </p:cNvSpPr>
          <p:nvPr/>
        </p:nvSpPr>
        <p:spPr>
          <a:xfrm rot="0">
            <a:off x="923290" y="4149725"/>
            <a:ext cx="1318260" cy="41275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ctr">
              <a:buFontTx/>
              <a:buNone/>
            </a:pPr>
            <a:r>
              <a:rPr lang="ko-KR" sz="13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데이터</a:t>
            </a:r>
            <a:r>
              <a:rPr lang="ko-KR" sz="13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13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수집 기간</a:t>
            </a:r>
            <a:endParaRPr lang="ko-KR" altLang="en-US" sz="13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6" name="TextBox 36"/>
          <p:cNvSpPr txBox="1">
            <a:spLocks/>
          </p:cNvSpPr>
          <p:nvPr/>
        </p:nvSpPr>
        <p:spPr>
          <a:xfrm rot="0">
            <a:off x="-1397635" y="4530725"/>
            <a:ext cx="10238740" cy="47180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ctr">
              <a:buFontTx/>
              <a:buNone/>
            </a:pPr>
            <a:r>
              <a:rPr lang="ko-KR" sz="2400" b="1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2025/03/26 ~ 2026/05/14</a:t>
            </a:r>
            <a:endParaRPr lang="ko-KR" altLang="en-US" sz="2400" b="1">
              <a:solidFill>
                <a:schemeClr val="tx1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endParaRPr lang="ko-KR" altLang="en-US" sz="1600" b="1">
              <a:solidFill>
                <a:schemeClr val="tx1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ko-KR" sz="1600" b="1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		 </a:t>
            </a:r>
            <a:r>
              <a:rPr lang="ko-KR" sz="1600" b="1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      </a:t>
            </a:r>
            <a:r>
              <a:rPr lang="ko-KR" sz="1600" b="1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지브리 사진 변환 유행의 시작부터 오늘날까지</a:t>
            </a:r>
            <a:endParaRPr lang="ko-KR" altLang="en-US" sz="1600" b="1">
              <a:solidFill>
                <a:schemeClr val="tx1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7" name="TextBox 37"/>
          <p:cNvSpPr txBox="1">
            <a:spLocks/>
          </p:cNvSpPr>
          <p:nvPr/>
        </p:nvSpPr>
        <p:spPr>
          <a:xfrm rot="0">
            <a:off x="11247120" y="6610985"/>
            <a:ext cx="463550" cy="10985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r">
              <a:buFontTx/>
              <a:buNone/>
            </a:pPr>
            <a:r>
              <a:rPr lang="ko-KR" sz="7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0</a:t>
            </a:r>
            <a:r>
              <a:rPr lang="ko-KR" sz="7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3</a:t>
            </a:r>
            <a:endParaRPr lang="ko-KR" altLang="en-US" sz="700" b="1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8" name="텍스트 상자 7"/>
          <p:cNvSpPr txBox="1">
            <a:spLocks/>
          </p:cNvSpPr>
          <p:nvPr/>
        </p:nvSpPr>
        <p:spPr>
          <a:xfrm rot="0">
            <a:off x="7919720" y="4299585"/>
            <a:ext cx="2451100" cy="92392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 b="1">
                <a:latin typeface="맑은 고딕" charset="0"/>
                <a:ea typeface="맑은 고딕" charset="0"/>
              </a:rPr>
              <a:t>블로그 </a:t>
            </a:r>
            <a:r>
              <a:rPr lang="ko-KR" sz="1800" b="1">
                <a:latin typeface="맑은 고딕" charset="0"/>
                <a:ea typeface="맑은 고딕" charset="0"/>
              </a:rPr>
              <a:t>:</a:t>
            </a:r>
            <a:r>
              <a:rPr lang="ko-KR" sz="1800" b="1">
                <a:latin typeface="맑은 고딕" charset="0"/>
                <a:ea typeface="맑은 고딕" charset="0"/>
              </a:rPr>
              <a:t> </a:t>
            </a:r>
            <a:r>
              <a:rPr lang="ko-KR" sz="1800" b="1">
                <a:latin typeface="맑은 고딕" charset="0"/>
                <a:ea typeface="맑은 고딕" charset="0"/>
              </a:rPr>
              <a:t>52830건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/>
            <a:r>
              <a:rPr lang="ko-KR" sz="1800" b="1">
                <a:latin typeface="맑은 고딕" charset="0"/>
                <a:ea typeface="맑은 고딕" charset="0"/>
              </a:rPr>
              <a:t>카페 : 23156건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/>
            <a:r>
              <a:rPr lang="ko-KR" sz="1800" b="1">
                <a:latin typeface="맑은 고딕" charset="0"/>
                <a:ea typeface="맑은 고딕" charset="0"/>
              </a:rPr>
              <a:t>총 </a:t>
            </a:r>
            <a:r>
              <a:rPr lang="ko-KR" sz="1800" b="1">
                <a:latin typeface="맑은 고딕" charset="0"/>
                <a:ea typeface="맑은 고딕" charset="0"/>
              </a:rPr>
              <a:t>75</a:t>
            </a:r>
            <a:r>
              <a:rPr lang="ko-KR" sz="1800" b="1">
                <a:latin typeface="맑은 고딕" charset="0"/>
                <a:ea typeface="맑은 고딕" charset="0"/>
              </a:rPr>
              <a:t>986건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AF0"/>
          </a:solidFill>
          <a:ln w="8890">
            <a:solidFill>
              <a:srgbClr val="FFFAF0"/>
            </a:solidFill>
          </a:ln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411480" y="182880"/>
            <a:ext cx="3659505" cy="1663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03. 데이터 수집 및 전처리</a:t>
            </a:r>
            <a:endParaRPr lang="ko-KR" altLang="en-US" sz="800" b="1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4" name="Line 4"/>
          <p:cNvSpPr/>
          <p:nvPr/>
        </p:nvSpPr>
        <p:spPr>
          <a:xfrm>
            <a:off x="411480" y="6510655"/>
            <a:ext cx="11384280" cy="0"/>
          </a:xfrm>
          <a:prstGeom prst="line">
            <a:avLst/>
          </a:prstGeom>
          <a:ln w="10160">
            <a:solidFill>
              <a:srgbClr val="E5DED3"/>
            </a:solidFill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548640" y="612775"/>
            <a:ext cx="2470150" cy="147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CRAWLING</a:t>
            </a:r>
            <a:endParaRPr lang="ko-KR" altLang="en-US" sz="800" b="1">
              <a:solidFill>
                <a:srgbClr val="FF6B5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30225" y="850265"/>
            <a:ext cx="7635875" cy="713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데이터 </a:t>
            </a: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수집</a:t>
            </a:r>
            <a:endParaRPr lang="ko-KR" altLang="en-US" sz="265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48640" y="1581785"/>
            <a:ext cx="7178675" cy="3117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데이터 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수집과정의 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시행착오와 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최종 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선택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임.</a:t>
            </a:r>
            <a:endParaRPr lang="ko-KR" altLang="en-US" sz="1100">
              <a:solidFill>
                <a:schemeClr val="tx1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8" name="Shape 8"/>
          <p:cNvSpPr>
            <a:spLocks/>
          </p:cNvSpPr>
          <p:nvPr/>
        </p:nvSpPr>
        <p:spPr>
          <a:xfrm rot="0">
            <a:off x="713105" y="1993265"/>
            <a:ext cx="4709795" cy="2149475"/>
          </a:xfrm>
          <a:prstGeom prst="roundRect"/>
          <a:solidFill>
            <a:srgbClr val="FFFFFF"/>
          </a:solidFill>
          <a:ln w="889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9" name="TextBox 9"/>
          <p:cNvSpPr txBox="1">
            <a:spLocks/>
          </p:cNvSpPr>
          <p:nvPr/>
        </p:nvSpPr>
        <p:spPr>
          <a:xfrm rot="0">
            <a:off x="951230" y="2304415"/>
            <a:ext cx="1006475" cy="16510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2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초기 계획</a:t>
            </a:r>
            <a:endParaRPr lang="ko-KR" altLang="en-US" sz="1200" b="1">
              <a:solidFill>
                <a:srgbClr val="FF6B5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0" name="TextBox 10"/>
          <p:cNvSpPr txBox="1">
            <a:spLocks/>
          </p:cNvSpPr>
          <p:nvPr/>
        </p:nvSpPr>
        <p:spPr>
          <a:xfrm rot="0">
            <a:off x="951230" y="2697480"/>
            <a:ext cx="4069715" cy="56769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700" b="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검색 </a:t>
            </a:r>
            <a:r>
              <a:rPr lang="ko-KR" sz="1700" b="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쿼리를 </a:t>
            </a:r>
            <a:r>
              <a:rPr lang="ko-KR" sz="17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‘AI </a:t>
            </a:r>
            <a:r>
              <a:rPr lang="ko-KR" sz="17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이</a:t>
            </a:r>
            <a:r>
              <a:rPr lang="ko-KR" sz="17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용’</a:t>
            </a:r>
            <a:r>
              <a:rPr lang="ko-KR" sz="1700" b="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 으로 하여</a:t>
            </a:r>
            <a:endParaRPr lang="ko-KR" altLang="en-US" sz="1700" b="0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ko-KR" sz="1700" b="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AI로 생성한 </a:t>
            </a:r>
            <a:r>
              <a:rPr lang="ko-KR" sz="1700" b="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컨</a:t>
            </a:r>
            <a:r>
              <a:rPr lang="ko-KR" sz="1700" b="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텐츠들에 대</a:t>
            </a:r>
            <a:r>
              <a:rPr lang="ko-KR" sz="1700" b="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해</a:t>
            </a:r>
            <a:endParaRPr lang="ko-KR" altLang="en-US" sz="1700" b="0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ko-KR" sz="1700" b="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여론 </a:t>
            </a:r>
            <a:r>
              <a:rPr lang="ko-KR" sz="1700" b="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분석을 하고자 </a:t>
            </a:r>
            <a:r>
              <a:rPr lang="ko-KR" sz="1700" b="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함</a:t>
            </a:r>
            <a:r>
              <a:rPr lang="ko-KR" sz="1700" b="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. </a:t>
            </a:r>
            <a:endParaRPr lang="ko-KR" altLang="en-US" sz="1700" b="0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1" name="Shape 11"/>
          <p:cNvSpPr>
            <a:spLocks/>
          </p:cNvSpPr>
          <p:nvPr/>
        </p:nvSpPr>
        <p:spPr>
          <a:xfrm rot="0">
            <a:off x="5742305" y="1993265"/>
            <a:ext cx="5469255" cy="2150110"/>
          </a:xfrm>
          <a:prstGeom prst="roundRect"/>
          <a:solidFill>
            <a:srgbClr val="1A3A3A"/>
          </a:solidFill>
          <a:ln w="889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 marL="0" indent="0">
              <a:buFontTx/>
              <a:buNone/>
              <a:defRPr/>
            </a:pPr>
            <a:endParaRPr lang="ko-KR" altLang="en-US"/>
          </a:p>
        </p:txBody>
      </p:sp>
      <p:sp>
        <p:nvSpPr>
          <p:cNvPr id="12" name="TextBox 12"/>
          <p:cNvSpPr txBox="1">
            <a:spLocks/>
          </p:cNvSpPr>
          <p:nvPr/>
        </p:nvSpPr>
        <p:spPr>
          <a:xfrm rot="0">
            <a:off x="6016625" y="2304415"/>
            <a:ext cx="1509395" cy="16510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200" b="1">
                <a:solidFill>
                  <a:schemeClr val="accent3"/>
                </a:solidFill>
                <a:latin typeface="Pretendard" charset="0"/>
                <a:ea typeface="Pretendard" charset="0"/>
                <a:cs typeface="Pretendard" charset="0"/>
              </a:rPr>
              <a:t>한계</a:t>
            </a:r>
            <a:endParaRPr lang="ko-KR" altLang="en-US" sz="1200" b="1">
              <a:solidFill>
                <a:schemeClr val="accent3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4" name="TextBox 14"/>
          <p:cNvSpPr txBox="1">
            <a:spLocks/>
          </p:cNvSpPr>
          <p:nvPr/>
        </p:nvSpPr>
        <p:spPr>
          <a:xfrm rot="0">
            <a:off x="6019165" y="2640330"/>
            <a:ext cx="4571365" cy="108013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700" b="0">
                <a:solidFill>
                  <a:schemeClr val="bg1"/>
                </a:solidFill>
                <a:latin typeface="Pretendard" charset="0"/>
                <a:ea typeface="Pretendard" charset="0"/>
                <a:cs typeface="Pretendard" charset="0"/>
              </a:rPr>
              <a:t>현재 </a:t>
            </a:r>
            <a:r>
              <a:rPr lang="ko-KR" sz="1700" b="0">
                <a:solidFill>
                  <a:schemeClr val="bg1"/>
                </a:solidFill>
                <a:latin typeface="Pretendard" charset="0"/>
                <a:ea typeface="Pretendard" charset="0"/>
                <a:cs typeface="Pretendard" charset="0"/>
              </a:rPr>
              <a:t>AI가 </a:t>
            </a:r>
            <a:r>
              <a:rPr lang="ko-KR" sz="1700" b="0">
                <a:solidFill>
                  <a:schemeClr val="bg1"/>
                </a:solidFill>
                <a:latin typeface="Pretendard" charset="0"/>
                <a:ea typeface="Pretendard" charset="0"/>
                <a:cs typeface="Pretendard" charset="0"/>
              </a:rPr>
              <a:t>이미 사람들의</a:t>
            </a:r>
            <a:r>
              <a:rPr lang="ko-KR" sz="1700" b="0">
                <a:solidFill>
                  <a:schemeClr val="bg1"/>
                </a:solidFill>
                <a:latin typeface="Pretendard" charset="0"/>
                <a:ea typeface="Pretendard" charset="0"/>
                <a:cs typeface="Pretendard" charset="0"/>
              </a:rPr>
              <a:t> 일상에 </a:t>
            </a:r>
            <a:r>
              <a:rPr lang="ko-KR" sz="1700" b="0">
                <a:solidFill>
                  <a:schemeClr val="bg1"/>
                </a:solidFill>
                <a:latin typeface="Pretendard" charset="0"/>
                <a:ea typeface="Pretendard" charset="0"/>
                <a:cs typeface="Pretendard" charset="0"/>
              </a:rPr>
              <a:t>녹아든 </a:t>
            </a:r>
            <a:r>
              <a:rPr lang="ko-KR" sz="1700" b="0">
                <a:solidFill>
                  <a:schemeClr val="bg1"/>
                </a:solidFill>
                <a:latin typeface="Pretendard" charset="0"/>
                <a:ea typeface="Pretendard" charset="0"/>
                <a:cs typeface="Pretendard" charset="0"/>
              </a:rPr>
              <a:t>상</a:t>
            </a:r>
            <a:r>
              <a:rPr lang="ko-KR" sz="1700" b="0">
                <a:solidFill>
                  <a:schemeClr val="bg1"/>
                </a:solidFill>
                <a:latin typeface="Pretendard" charset="0"/>
                <a:ea typeface="Pretendard" charset="0"/>
                <a:cs typeface="Pretendard" charset="0"/>
              </a:rPr>
              <a:t>태로 </a:t>
            </a:r>
            <a:r>
              <a:rPr lang="ko-KR" sz="1700" b="1">
                <a:solidFill>
                  <a:schemeClr val="bg1"/>
                </a:solidFill>
                <a:latin typeface="Pretendard" charset="0"/>
                <a:ea typeface="Pretendard" charset="0"/>
                <a:cs typeface="Pretendard" charset="0"/>
              </a:rPr>
              <a:t>노이즈 데이터</a:t>
            </a:r>
            <a:r>
              <a:rPr lang="ko-KR" sz="1700" b="1">
                <a:solidFill>
                  <a:schemeClr val="bg1"/>
                </a:solidFill>
                <a:latin typeface="Pretendard" charset="0"/>
                <a:ea typeface="Pretendard" charset="0"/>
                <a:cs typeface="Pretendard" charset="0"/>
              </a:rPr>
              <a:t>가 </a:t>
            </a:r>
            <a:r>
              <a:rPr lang="ko-KR" sz="1700" b="1">
                <a:solidFill>
                  <a:schemeClr val="bg1"/>
                </a:solidFill>
                <a:latin typeface="Pretendard" charset="0"/>
                <a:ea typeface="Pretendard" charset="0"/>
                <a:cs typeface="Pretendard" charset="0"/>
              </a:rPr>
              <a:t>많아</a:t>
            </a:r>
            <a:r>
              <a:rPr lang="ko-KR" sz="1700" b="0">
                <a:solidFill>
                  <a:schemeClr val="bg1"/>
                </a:solidFill>
                <a:latin typeface="Pretendard" charset="0"/>
                <a:ea typeface="Pretendard" charset="0"/>
                <a:cs typeface="Pretendard" charset="0"/>
              </a:rPr>
              <a:t> 분석에 어려움을 겪</a:t>
            </a:r>
            <a:r>
              <a:rPr lang="ko-KR" sz="1700" b="0">
                <a:solidFill>
                  <a:schemeClr val="bg1"/>
                </a:solidFill>
                <a:latin typeface="Pretendard" charset="0"/>
                <a:ea typeface="Pretendard" charset="0"/>
                <a:cs typeface="Pretendard" charset="0"/>
              </a:rPr>
              <a:t>음.</a:t>
            </a:r>
            <a:endParaRPr lang="ko-KR" altLang="en-US" sz="1700" b="0">
              <a:solidFill>
                <a:schemeClr val="bg1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ko-KR" sz="1700" b="0">
                <a:solidFill>
                  <a:schemeClr val="bg1"/>
                </a:solidFill>
                <a:latin typeface="Pretendard" charset="0"/>
                <a:ea typeface="Pretendard" charset="0"/>
                <a:cs typeface="Pretendard" charset="0"/>
              </a:rPr>
              <a:t>‘지브리’, ‘</a:t>
            </a:r>
            <a:r>
              <a:rPr lang="ko-KR" sz="1700" b="0">
                <a:solidFill>
                  <a:schemeClr val="bg1"/>
                </a:solidFill>
                <a:latin typeface="Pretendard" charset="0"/>
                <a:ea typeface="Pretendard" charset="0"/>
                <a:cs typeface="Pretendard" charset="0"/>
              </a:rPr>
              <a:t>인스타그램’,</a:t>
            </a:r>
            <a:r>
              <a:rPr lang="ko-KR" sz="1700" b="0">
                <a:solidFill>
                  <a:schemeClr val="bg1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1700" b="0">
                <a:solidFill>
                  <a:schemeClr val="bg1"/>
                </a:solidFill>
                <a:latin typeface="Pretendard" charset="0"/>
                <a:ea typeface="Pretendard" charset="0"/>
                <a:cs typeface="Pretendard" charset="0"/>
              </a:rPr>
              <a:t>‘</a:t>
            </a:r>
            <a:r>
              <a:rPr lang="ko-KR" sz="1700" b="0">
                <a:solidFill>
                  <a:schemeClr val="bg1"/>
                </a:solidFill>
                <a:latin typeface="Pretendard" charset="0"/>
                <a:ea typeface="Pretendard" charset="0"/>
                <a:cs typeface="Pretendard" charset="0"/>
              </a:rPr>
              <a:t>유투브’ </a:t>
            </a:r>
            <a:r>
              <a:rPr lang="ko-KR" sz="1700" b="0">
                <a:solidFill>
                  <a:schemeClr val="bg1"/>
                </a:solidFill>
                <a:latin typeface="Pretendard" charset="0"/>
                <a:ea typeface="Pretendard" charset="0"/>
                <a:cs typeface="Pretendard" charset="0"/>
              </a:rPr>
              <a:t>중심의 </a:t>
            </a:r>
            <a:r>
              <a:rPr lang="ko-KR" sz="1700" b="0">
                <a:solidFill>
                  <a:schemeClr val="bg1"/>
                </a:solidFill>
                <a:latin typeface="Pretendard" charset="0"/>
                <a:ea typeface="Pretendard" charset="0"/>
                <a:cs typeface="Pretendard" charset="0"/>
              </a:rPr>
              <a:t>단어가 많음을 느</a:t>
            </a:r>
            <a:r>
              <a:rPr lang="ko-KR" sz="1700" b="0">
                <a:solidFill>
                  <a:schemeClr val="bg1"/>
                </a:solidFill>
                <a:latin typeface="Pretendard" charset="0"/>
                <a:ea typeface="Pretendard" charset="0"/>
                <a:cs typeface="Pretendard" charset="0"/>
              </a:rPr>
              <a:t>끼고 </a:t>
            </a:r>
            <a:r>
              <a:rPr lang="ko-KR" sz="1700" b="1">
                <a:solidFill>
                  <a:schemeClr val="bg1"/>
                </a:solidFill>
                <a:latin typeface="Pretendard" charset="0"/>
                <a:ea typeface="Pretendard" charset="0"/>
                <a:cs typeface="Pretendard" charset="0"/>
              </a:rPr>
              <a:t>쿼리를 변경</a:t>
            </a:r>
            <a:r>
              <a:rPr lang="ko-KR" sz="1700" b="0">
                <a:solidFill>
                  <a:schemeClr val="bg1"/>
                </a:solidFill>
                <a:latin typeface="Pretendard" charset="0"/>
                <a:ea typeface="Pretendard" charset="0"/>
                <a:cs typeface="Pretendard" charset="0"/>
              </a:rPr>
              <a:t>하기로 </a:t>
            </a:r>
            <a:r>
              <a:rPr lang="ko-KR" sz="1700" b="0">
                <a:solidFill>
                  <a:schemeClr val="bg1"/>
                </a:solidFill>
                <a:latin typeface="Pretendard" charset="0"/>
                <a:ea typeface="Pretendard" charset="0"/>
                <a:cs typeface="Pretendard" charset="0"/>
              </a:rPr>
              <a:t>함</a:t>
            </a:r>
            <a:r>
              <a:rPr lang="ko-KR" sz="1700" b="0">
                <a:solidFill>
                  <a:schemeClr val="bg1"/>
                </a:solidFill>
                <a:latin typeface="Pretendard" charset="0"/>
                <a:ea typeface="Pretendard" charset="0"/>
                <a:cs typeface="Pretendard" charset="0"/>
              </a:rPr>
              <a:t>.</a:t>
            </a:r>
            <a:endParaRPr lang="ko-KR" altLang="en-US" sz="1700" b="0">
              <a:solidFill>
                <a:schemeClr val="bg1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2" name="Shape 22"/>
          <p:cNvSpPr>
            <a:spLocks/>
          </p:cNvSpPr>
          <p:nvPr/>
        </p:nvSpPr>
        <p:spPr>
          <a:xfrm rot="0">
            <a:off x="713105" y="4572000"/>
            <a:ext cx="10497820" cy="1079500"/>
          </a:xfrm>
          <a:prstGeom prst="roundRect"/>
          <a:solidFill>
            <a:srgbClr val="F5F0E0"/>
          </a:solidFill>
          <a:ln w="889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28" name="TextBox 28"/>
          <p:cNvSpPr txBox="1"/>
          <p:nvPr/>
        </p:nvSpPr>
        <p:spPr>
          <a:xfrm>
            <a:off x="11247120" y="6610985"/>
            <a:ext cx="503555" cy="1289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r">
              <a:buFontTx/>
              <a:buNone/>
            </a:pPr>
            <a:r>
              <a:rPr lang="ko-KR" sz="7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0</a:t>
            </a:r>
            <a:r>
              <a:rPr lang="ko-KR" sz="7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4</a:t>
            </a:r>
            <a:endParaRPr lang="ko-KR" altLang="en-US" sz="700" b="1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0" name="텍스트 상자 71"/>
          <p:cNvSpPr txBox="1">
            <a:spLocks/>
          </p:cNvSpPr>
          <p:nvPr/>
        </p:nvSpPr>
        <p:spPr>
          <a:xfrm rot="0">
            <a:off x="869950" y="4660265"/>
            <a:ext cx="1980565" cy="308610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400" b="1">
                <a:latin typeface="맑은 고딕" charset="0"/>
                <a:ea typeface="맑은 고딕" charset="0"/>
              </a:rPr>
              <a:t>최종 </a:t>
            </a:r>
            <a:r>
              <a:rPr lang="ko-KR" sz="1400" b="1">
                <a:latin typeface="맑은 고딕" charset="0"/>
                <a:ea typeface="맑은 고딕" charset="0"/>
              </a:rPr>
              <a:t>선택</a:t>
            </a:r>
            <a:endParaRPr lang="ko-KR" altLang="en-US" sz="1400" b="1">
              <a:latin typeface="맑은 고딕" charset="0"/>
              <a:ea typeface="맑은 고딕" charset="0"/>
            </a:endParaRPr>
          </a:p>
        </p:txBody>
      </p:sp>
      <p:sp>
        <p:nvSpPr>
          <p:cNvPr id="31" name="텍스트 상자 72"/>
          <p:cNvSpPr txBox="1">
            <a:spLocks/>
          </p:cNvSpPr>
          <p:nvPr/>
        </p:nvSpPr>
        <p:spPr>
          <a:xfrm rot="0">
            <a:off x="1040130" y="4999990"/>
            <a:ext cx="10100310" cy="64706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 b="0">
                <a:solidFill>
                  <a:schemeClr val="tx1"/>
                </a:solidFill>
                <a:latin typeface="맑은 고딕" charset="0"/>
                <a:ea typeface="맑은 고딕" charset="0"/>
              </a:rPr>
              <a:t>여론이 </a:t>
            </a:r>
            <a:r>
              <a:rPr lang="ko-KR" sz="1800" b="0">
                <a:solidFill>
                  <a:schemeClr val="tx1"/>
                </a:solidFill>
                <a:latin typeface="맑은 고딕" charset="0"/>
                <a:ea typeface="맑은 고딕" charset="0"/>
              </a:rPr>
              <a:t>AI</a:t>
            </a:r>
            <a:r>
              <a:rPr lang="ko-KR" sz="1800" b="0">
                <a:solidFill>
                  <a:schemeClr val="tx1"/>
                </a:solidFill>
                <a:latin typeface="맑은 고딕" charset="0"/>
                <a:ea typeface="맑은 고딕" charset="0"/>
              </a:rPr>
              <a:t>가 </a:t>
            </a:r>
            <a:r>
              <a:rPr lang="ko-KR" sz="1800" b="0">
                <a:solidFill>
                  <a:schemeClr val="tx1"/>
                </a:solidFill>
                <a:latin typeface="맑은 고딕" charset="0"/>
                <a:ea typeface="맑은 고딕" charset="0"/>
              </a:rPr>
              <a:t>생성한 </a:t>
            </a:r>
            <a:r>
              <a:rPr lang="ko-KR" sz="1800" b="0">
                <a:solidFill>
                  <a:schemeClr val="tx1"/>
                </a:solidFill>
                <a:latin typeface="맑은 고딕" charset="0"/>
                <a:ea typeface="맑은 고딕" charset="0"/>
              </a:rPr>
              <a:t>컨텐츠</a:t>
            </a:r>
            <a:r>
              <a:rPr lang="ko-KR" sz="1800" b="0">
                <a:solidFill>
                  <a:schemeClr val="tx1"/>
                </a:solidFill>
                <a:latin typeface="맑은 고딕" charset="0"/>
                <a:ea typeface="맑은 고딕" charset="0"/>
              </a:rPr>
              <a:t>에</a:t>
            </a:r>
            <a:r>
              <a:rPr lang="ko-KR" sz="1800" b="0">
                <a:solidFill>
                  <a:schemeClr val="tx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sz="1800" b="0">
                <a:solidFill>
                  <a:schemeClr val="tx1"/>
                </a:solidFill>
                <a:latin typeface="맑은 고딕" charset="0"/>
                <a:ea typeface="맑은 고딕" charset="0"/>
              </a:rPr>
              <a:t>저작권</a:t>
            </a:r>
            <a:r>
              <a:rPr lang="ko-KR" sz="1800" b="0">
                <a:solidFill>
                  <a:schemeClr val="tx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sz="1800" b="0">
                <a:solidFill>
                  <a:schemeClr val="tx1"/>
                </a:solidFill>
                <a:latin typeface="맑은 고딕" charset="0"/>
                <a:ea typeface="맑은 고딕" charset="0"/>
              </a:rPr>
              <a:t>여부에 대한 여론의 반응, AI</a:t>
            </a:r>
            <a:r>
              <a:rPr lang="ko-KR" sz="1800" b="0">
                <a:solidFill>
                  <a:schemeClr val="tx1"/>
                </a:solidFill>
                <a:latin typeface="맑은 고딕" charset="0"/>
                <a:ea typeface="맑은 고딕" charset="0"/>
              </a:rPr>
              <a:t> 저작권 </a:t>
            </a:r>
            <a:r>
              <a:rPr lang="ko-KR" sz="1800" b="0">
                <a:solidFill>
                  <a:schemeClr val="tx1"/>
                </a:solidFill>
                <a:latin typeface="맑은 고딕" charset="0"/>
                <a:ea typeface="맑은 고딕" charset="0"/>
              </a:rPr>
              <a:t>침해 사례와 소송 사례</a:t>
            </a:r>
            <a:r>
              <a:rPr lang="ko-KR" sz="1800" b="0">
                <a:solidFill>
                  <a:schemeClr val="tx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sz="1800" b="0">
                <a:solidFill>
                  <a:schemeClr val="tx1"/>
                </a:solidFill>
                <a:latin typeface="맑은 고딕" charset="0"/>
                <a:ea typeface="맑은 고딕" charset="0"/>
              </a:rPr>
              <a:t>여론 반</a:t>
            </a:r>
            <a:r>
              <a:rPr lang="ko-KR" sz="1800" b="0">
                <a:solidFill>
                  <a:schemeClr val="tx1"/>
                </a:solidFill>
                <a:latin typeface="맑은 고딕" charset="0"/>
                <a:ea typeface="맑은 고딕" charset="0"/>
              </a:rPr>
              <a:t>응을 분석</a:t>
            </a:r>
            <a:r>
              <a:rPr lang="ko-KR" sz="1800" b="0">
                <a:solidFill>
                  <a:schemeClr val="tx1"/>
                </a:solidFill>
                <a:latin typeface="맑은 고딕" charset="0"/>
                <a:ea typeface="맑은 고딕" charset="0"/>
              </a:rPr>
              <a:t>하기 위해 </a:t>
            </a:r>
            <a:r>
              <a:rPr lang="ko-KR" sz="1800" b="1">
                <a:solidFill>
                  <a:schemeClr val="tx1"/>
                </a:solidFill>
                <a:latin typeface="맑은 고딕" charset="0"/>
                <a:ea typeface="맑은 고딕" charset="0"/>
              </a:rPr>
              <a:t>‘</a:t>
            </a:r>
            <a:r>
              <a:rPr lang="ko-KR" sz="1800" b="1">
                <a:solidFill>
                  <a:schemeClr val="tx1"/>
                </a:solidFill>
                <a:latin typeface="맑은 고딕" charset="0"/>
                <a:ea typeface="맑은 고딕" charset="0"/>
              </a:rPr>
              <a:t>AI 저작권</a:t>
            </a:r>
            <a:r>
              <a:rPr lang="ko-KR" sz="1800" b="1">
                <a:solidFill>
                  <a:schemeClr val="tx1"/>
                </a:solidFill>
                <a:latin typeface="맑은 고딕" charset="0"/>
                <a:ea typeface="맑은 고딕" charset="0"/>
              </a:rPr>
              <a:t>’</a:t>
            </a:r>
            <a:r>
              <a:rPr lang="ko-KR" sz="1800" b="0">
                <a:solidFill>
                  <a:schemeClr val="tx1"/>
                </a:solidFill>
                <a:latin typeface="맑은 고딕" charset="0"/>
                <a:ea typeface="맑은 고딕" charset="0"/>
              </a:rPr>
              <a:t> 으로 셀레니움을 통한 </a:t>
            </a:r>
            <a:r>
              <a:rPr lang="ko-KR" sz="1800" b="0">
                <a:solidFill>
                  <a:schemeClr val="tx1"/>
                </a:solidFill>
                <a:latin typeface="맑은 고딕" charset="0"/>
                <a:ea typeface="맑은 고딕" charset="0"/>
              </a:rPr>
              <a:t>데이터 수집 결정</a:t>
            </a:r>
            <a:r>
              <a:rPr lang="ko-KR" sz="1800" b="0">
                <a:solidFill>
                  <a:schemeClr val="tx1"/>
                </a:solidFill>
                <a:latin typeface="맑은 고딕" charset="0"/>
                <a:ea typeface="맑은 고딕" charset="0"/>
              </a:rPr>
              <a:t>.</a:t>
            </a:r>
            <a:endParaRPr lang="ko-KR" altLang="en-US" sz="1800" b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/>
          </p:cNvSpPr>
          <p:nvPr/>
        </p:nvSpPr>
        <p:spPr>
          <a:xfrm rot="0">
            <a:off x="0" y="0"/>
            <a:ext cx="12192635" cy="6858635"/>
          </a:xfrm>
          <a:prstGeom prst="rect"/>
          <a:solidFill>
            <a:srgbClr val="FFFAF0"/>
          </a:solidFill>
          <a:ln w="8890" cap="flat" cmpd="sng">
            <a:solidFill>
              <a:srgbClr val="FFFAF0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>
              <a:defRPr/>
            </a:pPr>
            <a:endParaRPr lang="ko-KR" altLang="en-US"/>
          </a:p>
        </p:txBody>
      </p:sp>
      <p:cxnSp>
        <p:nvCxnSpPr>
          <p:cNvPr id="4" name="Rect 0"/>
          <p:cNvCxnSpPr/>
          <p:nvPr/>
        </p:nvCxnSpPr>
        <p:spPr>
          <a:xfrm rot="0">
            <a:off x="411480" y="6510655"/>
            <a:ext cx="11384915" cy="635"/>
          </a:xfrm>
          <a:prstGeom prst="line"/>
          <a:ln w="10160" cap="flat" cmpd="sng">
            <a:solidFill>
              <a:srgbClr val="E5DED3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 0"/>
          <p:cNvSpPr txBox="1">
            <a:spLocks/>
          </p:cNvSpPr>
          <p:nvPr/>
        </p:nvSpPr>
        <p:spPr>
          <a:xfrm rot="0">
            <a:off x="530225" y="850265"/>
            <a:ext cx="8500745" cy="71374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데이터 정제 :</a:t>
            </a: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형태소 </a:t>
            </a: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분석</a:t>
            </a:r>
            <a:endParaRPr lang="ko-KR" altLang="en-US" sz="265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 rot="0">
            <a:off x="548640" y="1581785"/>
            <a:ext cx="7178675" cy="31178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형태소 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분석 계획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과 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시행착오 그리고 최종 선택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과정이다.</a:t>
            </a:r>
            <a:endParaRPr lang="ko-KR" altLang="en-US" sz="1100">
              <a:solidFill>
                <a:schemeClr val="tx1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3" name="Rect 0"/>
          <p:cNvSpPr txBox="1">
            <a:spLocks/>
          </p:cNvSpPr>
          <p:nvPr/>
        </p:nvSpPr>
        <p:spPr>
          <a:xfrm rot="0">
            <a:off x="11247120" y="6610985"/>
            <a:ext cx="503555" cy="12890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r">
              <a:buFontTx/>
              <a:buNone/>
            </a:pPr>
            <a:r>
              <a:rPr lang="ko-KR" sz="7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05</a:t>
            </a:r>
            <a:endParaRPr lang="ko-KR" altLang="en-US" sz="700" b="1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7" name="도형 104"/>
          <p:cNvSpPr>
            <a:spLocks/>
          </p:cNvSpPr>
          <p:nvPr/>
        </p:nvSpPr>
        <p:spPr>
          <a:xfrm rot="0">
            <a:off x="713105" y="1993265"/>
            <a:ext cx="4710430" cy="2150110"/>
          </a:xfrm>
          <a:prstGeom prst="roundRect"/>
          <a:solidFill>
            <a:srgbClr val="FFFFFF"/>
          </a:solidFill>
          <a:ln w="889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 marL="0" indent="0">
              <a:buFontTx/>
              <a:buNone/>
              <a:defRPr/>
            </a:pPr>
            <a:endParaRPr lang="ko-KR" altLang="en-US"/>
          </a:p>
        </p:txBody>
      </p:sp>
      <p:sp>
        <p:nvSpPr>
          <p:cNvPr id="28" name="텍스트 상자 105"/>
          <p:cNvSpPr txBox="1">
            <a:spLocks/>
          </p:cNvSpPr>
          <p:nvPr/>
        </p:nvSpPr>
        <p:spPr>
          <a:xfrm rot="0">
            <a:off x="951230" y="2304415"/>
            <a:ext cx="1006475" cy="16510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2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초기 계획</a:t>
            </a:r>
            <a:endParaRPr lang="ko-KR" altLang="en-US" sz="1200" b="1">
              <a:solidFill>
                <a:srgbClr val="FF6B5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9" name="텍스트 상자 106"/>
          <p:cNvSpPr txBox="1">
            <a:spLocks/>
          </p:cNvSpPr>
          <p:nvPr/>
        </p:nvSpPr>
        <p:spPr>
          <a:xfrm rot="0">
            <a:off x="951230" y="2697480"/>
            <a:ext cx="4069715" cy="56769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700" b="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정확도가 </a:t>
            </a:r>
            <a:r>
              <a:rPr lang="ko-KR" sz="1700" b="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높은 </a:t>
            </a:r>
            <a:r>
              <a:rPr lang="ko-KR" sz="17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바른 </a:t>
            </a:r>
            <a:r>
              <a:rPr lang="ko-KR" sz="17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Api </a:t>
            </a:r>
            <a:r>
              <a:rPr lang="ko-KR" sz="1700" b="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사용으</a:t>
            </a:r>
            <a:r>
              <a:rPr lang="ko-KR" sz="1700" b="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로</a:t>
            </a:r>
            <a:endParaRPr lang="ko-KR" altLang="en-US" sz="1700" b="0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ko-KR" sz="1700" b="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분석</a:t>
            </a:r>
            <a:r>
              <a:rPr lang="ko-KR" sz="1700" b="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17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속도보다 정확도</a:t>
            </a:r>
            <a:r>
              <a:rPr lang="ko-KR" sz="1700" b="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에 집중.</a:t>
            </a:r>
            <a:endParaRPr lang="ko-KR" altLang="en-US" sz="1700" b="0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0" name="도형 107"/>
          <p:cNvSpPr>
            <a:spLocks/>
          </p:cNvSpPr>
          <p:nvPr/>
        </p:nvSpPr>
        <p:spPr>
          <a:xfrm rot="0">
            <a:off x="5742305" y="1993265"/>
            <a:ext cx="5469255" cy="2150110"/>
          </a:xfrm>
          <a:prstGeom prst="roundRect"/>
          <a:solidFill>
            <a:srgbClr val="1A3A3A"/>
          </a:solidFill>
          <a:ln w="889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 marL="0" indent="0">
              <a:buFontTx/>
              <a:buNone/>
              <a:defRPr/>
            </a:pPr>
            <a:endParaRPr lang="ko-KR" altLang="en-US"/>
          </a:p>
        </p:txBody>
      </p:sp>
      <p:sp>
        <p:nvSpPr>
          <p:cNvPr id="31" name="텍스트 상자 108"/>
          <p:cNvSpPr txBox="1">
            <a:spLocks/>
          </p:cNvSpPr>
          <p:nvPr/>
        </p:nvSpPr>
        <p:spPr>
          <a:xfrm rot="0">
            <a:off x="6016625" y="2304415"/>
            <a:ext cx="1509395" cy="16510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200" b="1">
                <a:solidFill>
                  <a:schemeClr val="accent3"/>
                </a:solidFill>
                <a:latin typeface="Pretendard" charset="0"/>
                <a:ea typeface="Pretendard" charset="0"/>
                <a:cs typeface="Pretendard" charset="0"/>
              </a:rPr>
              <a:t>한계</a:t>
            </a:r>
            <a:endParaRPr lang="ko-KR" altLang="en-US" sz="1200" b="1">
              <a:solidFill>
                <a:schemeClr val="accent3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2" name="텍스트 상자 109"/>
          <p:cNvSpPr txBox="1">
            <a:spLocks/>
          </p:cNvSpPr>
          <p:nvPr/>
        </p:nvSpPr>
        <p:spPr>
          <a:xfrm rot="0">
            <a:off x="6019165" y="2640330"/>
            <a:ext cx="4571365" cy="108013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700" b="0">
                <a:solidFill>
                  <a:schemeClr val="bg1"/>
                </a:solidFill>
                <a:latin typeface="Pretendard" charset="0"/>
                <a:ea typeface="Pretendard" charset="0"/>
                <a:cs typeface="Pretendard" charset="0"/>
              </a:rPr>
              <a:t>바른 </a:t>
            </a:r>
            <a:r>
              <a:rPr lang="ko-KR" sz="1700" b="0">
                <a:solidFill>
                  <a:schemeClr val="bg1"/>
                </a:solidFill>
                <a:latin typeface="Pretendard" charset="0"/>
                <a:ea typeface="Pretendard" charset="0"/>
                <a:cs typeface="Pretendard" charset="0"/>
              </a:rPr>
              <a:t>API 유료화</a:t>
            </a:r>
            <a:r>
              <a:rPr lang="ko-KR" sz="1700" b="0">
                <a:solidFill>
                  <a:schemeClr val="bg1"/>
                </a:solidFill>
                <a:latin typeface="Pretendard" charset="0"/>
                <a:ea typeface="Pretendard" charset="0"/>
                <a:cs typeface="Pretendard" charset="0"/>
              </a:rPr>
              <a:t>와 </a:t>
            </a:r>
            <a:r>
              <a:rPr lang="ko-KR" sz="1700" b="0">
                <a:solidFill>
                  <a:schemeClr val="bg1"/>
                </a:solidFill>
                <a:latin typeface="Pretendard" charset="0"/>
                <a:ea typeface="Pretendard" charset="0"/>
                <a:cs typeface="Pretendard" charset="0"/>
              </a:rPr>
              <a:t>더불어</a:t>
            </a:r>
            <a:r>
              <a:rPr lang="ko-KR" sz="1700" b="1">
                <a:solidFill>
                  <a:schemeClr val="bg1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endParaRPr lang="ko-KR" altLang="en-US" sz="1700" b="1">
              <a:solidFill>
                <a:schemeClr val="bg1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ko-KR" sz="1700" b="1">
                <a:solidFill>
                  <a:schemeClr val="bg1"/>
                </a:solidFill>
                <a:latin typeface="Pretendard" charset="0"/>
                <a:ea typeface="Pretendard" charset="0"/>
                <a:cs typeface="Pretendard" charset="0"/>
              </a:rPr>
              <a:t>데이터</a:t>
            </a:r>
            <a:r>
              <a:rPr lang="ko-KR" sz="1700" b="1">
                <a:solidFill>
                  <a:schemeClr val="bg1"/>
                </a:solidFill>
                <a:latin typeface="Pretendard" charset="0"/>
                <a:ea typeface="Pretendard" charset="0"/>
                <a:cs typeface="Pretendard" charset="0"/>
              </a:rPr>
              <a:t> 수가</a:t>
            </a:r>
            <a:r>
              <a:rPr lang="ko-KR" sz="1700" b="1">
                <a:solidFill>
                  <a:schemeClr val="bg1"/>
                </a:solidFill>
                <a:latin typeface="Pretendard" charset="0"/>
                <a:ea typeface="Pretendard" charset="0"/>
                <a:cs typeface="Pretendard" charset="0"/>
              </a:rPr>
              <a:t> 많아</a:t>
            </a:r>
            <a:r>
              <a:rPr lang="ko-KR" sz="1700" b="0">
                <a:solidFill>
                  <a:schemeClr val="bg1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1700" b="0">
                <a:solidFill>
                  <a:schemeClr val="bg1"/>
                </a:solidFill>
                <a:latin typeface="Pretendard" charset="0"/>
                <a:ea typeface="Pretendard" charset="0"/>
                <a:cs typeface="Pretendard" charset="0"/>
              </a:rPr>
              <a:t>월간 분석 </a:t>
            </a:r>
            <a:r>
              <a:rPr lang="ko-KR" sz="1700" b="0">
                <a:solidFill>
                  <a:schemeClr val="bg1"/>
                </a:solidFill>
                <a:latin typeface="Pretendard" charset="0"/>
                <a:ea typeface="Pretendard" charset="0"/>
                <a:cs typeface="Pretendard" charset="0"/>
              </a:rPr>
              <a:t>한도</a:t>
            </a:r>
            <a:r>
              <a:rPr lang="ko-KR" sz="1700" b="0">
                <a:solidFill>
                  <a:schemeClr val="bg1"/>
                </a:solidFill>
                <a:latin typeface="Pretendard" charset="0"/>
                <a:ea typeface="Pretendard" charset="0"/>
                <a:cs typeface="Pretendard" charset="0"/>
              </a:rPr>
              <a:t>에 </a:t>
            </a:r>
            <a:r>
              <a:rPr lang="ko-KR" sz="1700" b="0">
                <a:solidFill>
                  <a:schemeClr val="bg1"/>
                </a:solidFill>
                <a:latin typeface="Pretendard" charset="0"/>
                <a:ea typeface="Pretendard" charset="0"/>
                <a:cs typeface="Pretendard" charset="0"/>
              </a:rPr>
              <a:t>막힘.</a:t>
            </a:r>
            <a:endParaRPr lang="ko-KR" altLang="en-US" sz="1700" b="0">
              <a:solidFill>
                <a:schemeClr val="bg1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ko-KR" sz="1700" b="0">
                <a:solidFill>
                  <a:schemeClr val="bg1"/>
                </a:solidFill>
                <a:latin typeface="Pretendard" charset="0"/>
                <a:ea typeface="Pretendard" charset="0"/>
                <a:cs typeface="Pretendard" charset="0"/>
              </a:rPr>
              <a:t>데이터</a:t>
            </a:r>
            <a:r>
              <a:rPr lang="ko-KR" sz="1700" b="0">
                <a:solidFill>
                  <a:schemeClr val="bg1"/>
                </a:solidFill>
                <a:latin typeface="Pretendard" charset="0"/>
                <a:ea typeface="Pretendard" charset="0"/>
                <a:cs typeface="Pretendard" charset="0"/>
              </a:rPr>
              <a:t>를 분할</a:t>
            </a:r>
            <a:r>
              <a:rPr lang="ko-KR" sz="1700" b="0">
                <a:solidFill>
                  <a:schemeClr val="bg1"/>
                </a:solidFill>
                <a:latin typeface="Pretendard" charset="0"/>
                <a:ea typeface="Pretendard" charset="0"/>
                <a:cs typeface="Pretendard" charset="0"/>
              </a:rPr>
              <a:t>하여 </a:t>
            </a:r>
            <a:r>
              <a:rPr lang="ko-KR" sz="1700" b="0">
                <a:solidFill>
                  <a:schemeClr val="bg1"/>
                </a:solidFill>
                <a:latin typeface="Pretendard" charset="0"/>
                <a:ea typeface="Pretendard" charset="0"/>
                <a:cs typeface="Pretendard" charset="0"/>
              </a:rPr>
              <a:t>계정을 </a:t>
            </a:r>
            <a:r>
              <a:rPr lang="ko-KR" sz="1700" b="0">
                <a:solidFill>
                  <a:schemeClr val="bg1"/>
                </a:solidFill>
                <a:latin typeface="Pretendard" charset="0"/>
                <a:ea typeface="Pretendard" charset="0"/>
                <a:cs typeface="Pretendard" charset="0"/>
              </a:rPr>
              <a:t>바꿔가며</a:t>
            </a:r>
            <a:endParaRPr lang="ko-KR" altLang="en-US" sz="1700" b="0">
              <a:solidFill>
                <a:schemeClr val="bg1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ko-KR" sz="1700" b="0">
                <a:solidFill>
                  <a:schemeClr val="bg1"/>
                </a:solidFill>
                <a:latin typeface="Pretendard" charset="0"/>
                <a:ea typeface="Pretendard" charset="0"/>
                <a:cs typeface="Pretendard" charset="0"/>
              </a:rPr>
              <a:t>형태소 </a:t>
            </a:r>
            <a:r>
              <a:rPr lang="ko-KR" sz="1700" b="0">
                <a:solidFill>
                  <a:schemeClr val="bg1"/>
                </a:solidFill>
                <a:latin typeface="Pretendard" charset="0"/>
                <a:ea typeface="Pretendard" charset="0"/>
                <a:cs typeface="Pretendard" charset="0"/>
              </a:rPr>
              <a:t>분석</a:t>
            </a:r>
            <a:r>
              <a:rPr lang="ko-KR" sz="1700" b="0">
                <a:solidFill>
                  <a:schemeClr val="bg1"/>
                </a:solidFill>
                <a:latin typeface="Pretendard" charset="0"/>
                <a:ea typeface="Pretendard" charset="0"/>
                <a:cs typeface="Pretendard" charset="0"/>
              </a:rPr>
              <a:t>을</a:t>
            </a:r>
            <a:r>
              <a:rPr lang="ko-KR" sz="1700" b="0">
                <a:solidFill>
                  <a:schemeClr val="bg1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1700" b="0">
                <a:solidFill>
                  <a:schemeClr val="bg1"/>
                </a:solidFill>
                <a:latin typeface="Pretendard" charset="0"/>
                <a:ea typeface="Pretendard" charset="0"/>
                <a:cs typeface="Pretendard" charset="0"/>
              </a:rPr>
              <a:t>해보려고 시도.</a:t>
            </a:r>
            <a:endParaRPr lang="ko-KR" altLang="en-US" sz="1700" b="0">
              <a:solidFill>
                <a:schemeClr val="bg1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3" name="도형 110"/>
          <p:cNvSpPr>
            <a:spLocks/>
          </p:cNvSpPr>
          <p:nvPr/>
        </p:nvSpPr>
        <p:spPr>
          <a:xfrm rot="0">
            <a:off x="713105" y="4572000"/>
            <a:ext cx="10498455" cy="1080135"/>
          </a:xfrm>
          <a:prstGeom prst="roundRect"/>
          <a:solidFill>
            <a:srgbClr val="F5F0E0"/>
          </a:solidFill>
          <a:ln w="889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 marL="0" indent="0">
              <a:buFontTx/>
              <a:buNone/>
              <a:defRPr/>
            </a:pPr>
            <a:endParaRPr lang="ko-KR" altLang="en-US"/>
          </a:p>
        </p:txBody>
      </p:sp>
      <p:sp>
        <p:nvSpPr>
          <p:cNvPr id="34" name="텍스트 상자 111"/>
          <p:cNvSpPr txBox="1">
            <a:spLocks/>
          </p:cNvSpPr>
          <p:nvPr/>
        </p:nvSpPr>
        <p:spPr>
          <a:xfrm rot="0">
            <a:off x="869950" y="4660265"/>
            <a:ext cx="1980565" cy="308610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400" b="1">
                <a:latin typeface="맑은 고딕" charset="0"/>
                <a:ea typeface="맑은 고딕" charset="0"/>
              </a:rPr>
              <a:t>최종 </a:t>
            </a:r>
            <a:r>
              <a:rPr lang="ko-KR" sz="1400" b="1">
                <a:latin typeface="맑은 고딕" charset="0"/>
                <a:ea typeface="맑은 고딕" charset="0"/>
              </a:rPr>
              <a:t>선택</a:t>
            </a:r>
            <a:endParaRPr lang="ko-KR" altLang="en-US" sz="1400" b="1">
              <a:latin typeface="맑은 고딕" charset="0"/>
              <a:ea typeface="맑은 고딕" charset="0"/>
            </a:endParaRPr>
          </a:p>
        </p:txBody>
      </p:sp>
      <p:sp>
        <p:nvSpPr>
          <p:cNvPr id="35" name="텍스트 상자 112"/>
          <p:cNvSpPr txBox="1">
            <a:spLocks/>
          </p:cNvSpPr>
          <p:nvPr/>
        </p:nvSpPr>
        <p:spPr>
          <a:xfrm rot="0">
            <a:off x="1040130" y="4999990"/>
            <a:ext cx="10100310" cy="64706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 b="0">
                <a:solidFill>
                  <a:schemeClr val="tx1"/>
                </a:solidFill>
                <a:latin typeface="맑은 고딕" charset="0"/>
                <a:ea typeface="맑은 고딕" charset="0"/>
              </a:rPr>
              <a:t>정확</a:t>
            </a:r>
            <a:r>
              <a:rPr lang="ko-KR" sz="1800" b="0">
                <a:solidFill>
                  <a:schemeClr val="tx1"/>
                </a:solidFill>
                <a:latin typeface="맑은 고딕" charset="0"/>
                <a:ea typeface="맑은 고딕" charset="0"/>
              </a:rPr>
              <a:t>도, </a:t>
            </a:r>
            <a:r>
              <a:rPr lang="ko-KR" sz="1800" b="0">
                <a:solidFill>
                  <a:schemeClr val="tx1"/>
                </a:solidFill>
                <a:latin typeface="맑은 고딕" charset="0"/>
                <a:ea typeface="맑은 고딕" charset="0"/>
              </a:rPr>
              <a:t>속도, 신조어파악, 사용성</a:t>
            </a:r>
            <a:r>
              <a:rPr lang="ko-KR" sz="1800" b="0">
                <a:solidFill>
                  <a:schemeClr val="tx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sz="1800" b="0">
                <a:solidFill>
                  <a:schemeClr val="tx1"/>
                </a:solidFill>
                <a:latin typeface="맑은 고딕" charset="0"/>
                <a:ea typeface="맑은 고딕" charset="0"/>
              </a:rPr>
              <a:t>등</a:t>
            </a:r>
            <a:r>
              <a:rPr lang="ko-KR" sz="1800" b="0">
                <a:solidFill>
                  <a:schemeClr val="tx1"/>
                </a:solidFill>
                <a:latin typeface="맑은 고딕" charset="0"/>
                <a:ea typeface="맑은 고딕" charset="0"/>
              </a:rPr>
              <a:t>의 </a:t>
            </a:r>
            <a:r>
              <a:rPr lang="ko-KR" sz="1800" b="0">
                <a:solidFill>
                  <a:schemeClr val="tx1"/>
                </a:solidFill>
                <a:latin typeface="맑은 고딕" charset="0"/>
                <a:ea typeface="맑은 고딕" charset="0"/>
              </a:rPr>
              <a:t>조건</a:t>
            </a:r>
            <a:r>
              <a:rPr lang="ko-KR" sz="1800" b="0">
                <a:solidFill>
                  <a:schemeClr val="tx1"/>
                </a:solidFill>
                <a:latin typeface="맑은 고딕" charset="0"/>
                <a:ea typeface="맑은 고딕" charset="0"/>
              </a:rPr>
              <a:t>에서 </a:t>
            </a:r>
            <a:r>
              <a:rPr lang="ko-KR" sz="1800" b="0">
                <a:solidFill>
                  <a:schemeClr val="tx1"/>
                </a:solidFill>
                <a:latin typeface="맑은 고딕" charset="0"/>
                <a:ea typeface="맑은 고딕" charset="0"/>
              </a:rPr>
              <a:t>정확도를 제외하고는 Kiwi </a:t>
            </a:r>
            <a:r>
              <a:rPr lang="ko-KR" sz="1800" b="0">
                <a:solidFill>
                  <a:schemeClr val="tx1"/>
                </a:solidFill>
                <a:latin typeface="맑은 고딕" charset="0"/>
                <a:ea typeface="맑은 고딕" charset="0"/>
              </a:rPr>
              <a:t>형태소 </a:t>
            </a:r>
            <a:r>
              <a:rPr lang="ko-KR" sz="1800" b="0">
                <a:solidFill>
                  <a:schemeClr val="tx1"/>
                </a:solidFill>
                <a:latin typeface="맑은 고딕" charset="0"/>
                <a:ea typeface="맑은 고딕" charset="0"/>
              </a:rPr>
              <a:t>분석기</a:t>
            </a:r>
            <a:r>
              <a:rPr lang="ko-KR" sz="1800" b="0">
                <a:solidFill>
                  <a:schemeClr val="tx1"/>
                </a:solidFill>
                <a:latin typeface="맑은 고딕" charset="0"/>
                <a:ea typeface="맑은 고딕" charset="0"/>
              </a:rPr>
              <a:t>가</a:t>
            </a:r>
            <a:endParaRPr lang="ko-KR" altLang="en-US" sz="1800" b="0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0" indent="0" algn="l" hangingPunct="1"/>
            <a:r>
              <a:rPr lang="ko-KR" sz="1800" b="0">
                <a:solidFill>
                  <a:schemeClr val="tx1"/>
                </a:solidFill>
                <a:latin typeface="맑은 고딕" charset="0"/>
                <a:ea typeface="맑은 고딕" charset="0"/>
              </a:rPr>
              <a:t>바른 형태소 분석기보다 </a:t>
            </a:r>
            <a:r>
              <a:rPr lang="ko-KR" sz="1800" b="1">
                <a:solidFill>
                  <a:schemeClr val="tx1"/>
                </a:solidFill>
                <a:latin typeface="맑은 고딕" charset="0"/>
                <a:ea typeface="맑은 고딕" charset="0"/>
              </a:rPr>
              <a:t>실용적인 </a:t>
            </a:r>
            <a:r>
              <a:rPr lang="ko-KR" sz="1800" b="1">
                <a:solidFill>
                  <a:schemeClr val="tx1"/>
                </a:solidFill>
                <a:latin typeface="맑은 고딕" charset="0"/>
                <a:ea typeface="맑은 고딕" charset="0"/>
              </a:rPr>
              <a:t>측면</a:t>
            </a:r>
            <a:r>
              <a:rPr lang="ko-KR" sz="1800" b="0">
                <a:solidFill>
                  <a:schemeClr val="tx1"/>
                </a:solidFill>
                <a:latin typeface="맑은 고딕" charset="0"/>
                <a:ea typeface="맑은 고딕" charset="0"/>
              </a:rPr>
              <a:t>에서 </a:t>
            </a:r>
            <a:r>
              <a:rPr lang="ko-KR" sz="1800" b="0">
                <a:solidFill>
                  <a:schemeClr val="tx1"/>
                </a:solidFill>
                <a:latin typeface="맑은 고딕" charset="0"/>
                <a:ea typeface="맑은 고딕" charset="0"/>
              </a:rPr>
              <a:t>효율적이기에</a:t>
            </a:r>
            <a:r>
              <a:rPr lang="ko-KR" sz="1800" b="0">
                <a:solidFill>
                  <a:schemeClr val="tx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sz="1800" b="0">
                <a:solidFill>
                  <a:schemeClr val="tx1"/>
                </a:solidFill>
                <a:latin typeface="맑은 고딕" charset="0"/>
                <a:ea typeface="맑은 고딕" charset="0"/>
              </a:rPr>
              <a:t>Kiwi 형태소 분석기를 채택하였</a:t>
            </a:r>
            <a:r>
              <a:rPr lang="ko-KR" sz="1800" b="0">
                <a:solidFill>
                  <a:schemeClr val="tx1"/>
                </a:solidFill>
                <a:latin typeface="맑은 고딕" charset="0"/>
                <a:ea typeface="맑은 고딕" charset="0"/>
              </a:rPr>
              <a:t>음.</a:t>
            </a:r>
            <a:endParaRPr lang="ko-KR" altLang="en-US" sz="1800" b="0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6" name="텍스트 상자 116"/>
          <p:cNvSpPr txBox="1">
            <a:spLocks/>
          </p:cNvSpPr>
          <p:nvPr/>
        </p:nvSpPr>
        <p:spPr>
          <a:xfrm rot="0">
            <a:off x="530225" y="604520"/>
            <a:ext cx="2470150" cy="14732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T</a:t>
            </a: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OKENIZ</a:t>
            </a: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A</a:t>
            </a: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TION</a:t>
            </a:r>
            <a:endParaRPr lang="ko-KR" altLang="en-US" sz="800" b="1">
              <a:solidFill>
                <a:srgbClr val="FF6B5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7" name="텍스트 상자 2"/>
          <p:cNvSpPr txBox="1">
            <a:spLocks/>
          </p:cNvSpPr>
          <p:nvPr/>
        </p:nvSpPr>
        <p:spPr>
          <a:xfrm>
            <a:off x="411480" y="182880"/>
            <a:ext cx="3659505" cy="16637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03. 데이터 수집 및 전처리</a:t>
            </a:r>
            <a:endParaRPr lang="ko-KR" altLang="en-US" sz="800" b="1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/>
          </p:cNvSpPr>
          <p:nvPr/>
        </p:nvSpPr>
        <p:spPr>
          <a:xfrm rot="0">
            <a:off x="0" y="0"/>
            <a:ext cx="12192635" cy="6858635"/>
          </a:xfrm>
          <a:prstGeom prst="rect"/>
          <a:solidFill>
            <a:srgbClr val="FFFAF0"/>
          </a:solidFill>
          <a:ln w="8890" cap="flat" cmpd="sng">
            <a:solidFill>
              <a:srgbClr val="FFFAF0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Line 4"/>
          <p:cNvSpPr/>
          <p:nvPr/>
        </p:nvSpPr>
        <p:spPr>
          <a:xfrm>
            <a:off x="411480" y="6510655"/>
            <a:ext cx="11384280" cy="0"/>
          </a:xfrm>
          <a:prstGeom prst="line">
            <a:avLst/>
          </a:prstGeom>
          <a:ln w="10160">
            <a:solidFill>
              <a:srgbClr val="E5DED3"/>
            </a:solidFill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548640" y="612775"/>
            <a:ext cx="2470150" cy="147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FILTERING</a:t>
            </a:r>
            <a:endParaRPr lang="ko-KR" altLang="en-US" sz="800" b="1">
              <a:solidFill>
                <a:srgbClr val="FF6B5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6" name="TextBox 6"/>
          <p:cNvSpPr txBox="1">
            <a:spLocks/>
          </p:cNvSpPr>
          <p:nvPr/>
        </p:nvSpPr>
        <p:spPr>
          <a:xfrm rot="0">
            <a:off x="530225" y="850265"/>
            <a:ext cx="8500745" cy="71374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데이터 정제 :</a:t>
            </a: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데이터 </a:t>
            </a: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축소</a:t>
            </a:r>
            <a:endParaRPr lang="ko-KR" altLang="en-US" sz="265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7" name="TextBox 7"/>
          <p:cNvSpPr txBox="1">
            <a:spLocks/>
          </p:cNvSpPr>
          <p:nvPr/>
        </p:nvSpPr>
        <p:spPr>
          <a:xfrm rot="0">
            <a:off x="548640" y="1305560"/>
            <a:ext cx="7178675" cy="31178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데이터 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축소, 형태소 분석, 불용어 제거를 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통해 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데이터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를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 정제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.</a:t>
            </a:r>
            <a:endParaRPr lang="ko-KR" altLang="en-US" sz="1100">
              <a:solidFill>
                <a:schemeClr val="tx1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4" name="Shape 14"/>
          <p:cNvSpPr>
            <a:spLocks/>
          </p:cNvSpPr>
          <p:nvPr/>
        </p:nvSpPr>
        <p:spPr>
          <a:xfrm rot="0">
            <a:off x="6693535" y="2157730"/>
            <a:ext cx="147320" cy="153035"/>
          </a:xfrm>
          <a:prstGeom prst="roundRect"/>
          <a:solidFill>
            <a:srgbClr val="FF6B5A"/>
          </a:solidFill>
          <a:ln w="8890" cap="flat" cmpd="sng">
            <a:solidFill>
              <a:schemeClr val="tx1">
                <a:alpha val="100000"/>
              </a:scheme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6922135" y="2103120"/>
            <a:ext cx="4435475" cy="1562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6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유의미한 </a:t>
            </a:r>
            <a:r>
              <a:rPr lang="ko-KR" sz="16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데이터 삭제 방지</a:t>
            </a:r>
            <a:endParaRPr lang="ko-KR" altLang="en-US" sz="16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6" name="TextBox 16"/>
          <p:cNvSpPr txBox="1">
            <a:spLocks/>
          </p:cNvSpPr>
          <p:nvPr/>
        </p:nvSpPr>
        <p:spPr>
          <a:xfrm rot="0">
            <a:off x="6922135" y="2372995"/>
            <a:ext cx="4435475" cy="22923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000">
                <a:solidFill>
                  <a:srgbClr val="3A3A3A"/>
                </a:solidFill>
                <a:latin typeface="Pretendard" charset="0"/>
                <a:ea typeface="Pretendard" charset="0"/>
                <a:cs typeface="Pretendard" charset="0"/>
              </a:rPr>
              <a:t>삭제 </a:t>
            </a:r>
            <a:r>
              <a:rPr lang="ko-KR" sz="1000">
                <a:solidFill>
                  <a:srgbClr val="3A3A3A"/>
                </a:solidFill>
                <a:latin typeface="Pretendard" charset="0"/>
                <a:ea typeface="Pretendard" charset="0"/>
                <a:cs typeface="Pretendard" charset="0"/>
              </a:rPr>
              <a:t>방지 ke</a:t>
            </a:r>
            <a:r>
              <a:rPr lang="ko-KR" sz="1000">
                <a:solidFill>
                  <a:srgbClr val="3A3A3A"/>
                </a:solidFill>
                <a:latin typeface="Pretendard" charset="0"/>
                <a:ea typeface="Pretendard" charset="0"/>
                <a:cs typeface="Pretendard" charset="0"/>
              </a:rPr>
              <a:t>y</a:t>
            </a:r>
            <a:r>
              <a:rPr lang="ko-KR" sz="1000">
                <a:solidFill>
                  <a:srgbClr val="3A3A3A"/>
                </a:solidFill>
                <a:latin typeface="Pretendard" charset="0"/>
                <a:ea typeface="Pretendard" charset="0"/>
                <a:cs typeface="Pretendard" charset="0"/>
              </a:rPr>
              <a:t>words와의 교집합 검증으로 </a:t>
            </a:r>
            <a:r>
              <a:rPr lang="ko-KR" sz="1000">
                <a:solidFill>
                  <a:srgbClr val="3A3A3A"/>
                </a:solidFill>
                <a:latin typeface="Pretendard" charset="0"/>
                <a:ea typeface="Pretendard" charset="0"/>
                <a:cs typeface="Pretendard" charset="0"/>
              </a:rPr>
              <a:t>유의미한 </a:t>
            </a:r>
            <a:r>
              <a:rPr lang="ko-KR" sz="1000">
                <a:solidFill>
                  <a:srgbClr val="3A3A3A"/>
                </a:solidFill>
                <a:latin typeface="Pretendard" charset="0"/>
                <a:ea typeface="Pretendard" charset="0"/>
                <a:cs typeface="Pretendard" charset="0"/>
              </a:rPr>
              <a:t>데이터</a:t>
            </a:r>
            <a:r>
              <a:rPr lang="ko-KR" sz="1000">
                <a:solidFill>
                  <a:srgbClr val="3A3A3A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1000">
                <a:solidFill>
                  <a:srgbClr val="3A3A3A"/>
                </a:solidFill>
                <a:latin typeface="Pretendard" charset="0"/>
                <a:ea typeface="Pretendard" charset="0"/>
                <a:cs typeface="Pretendard" charset="0"/>
              </a:rPr>
              <a:t>삭제를 방지함</a:t>
            </a:r>
            <a:endParaRPr lang="ko-KR" altLang="en-US" sz="1000">
              <a:solidFill>
                <a:srgbClr val="3A3A3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1247120" y="6610985"/>
            <a:ext cx="503555" cy="1289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r">
              <a:buFontTx/>
              <a:buNone/>
            </a:pPr>
            <a:r>
              <a:rPr lang="ko-KR" sz="7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0</a:t>
            </a:r>
            <a:r>
              <a:rPr lang="ko-KR" sz="7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6</a:t>
            </a:r>
            <a:endParaRPr lang="ko-KR" altLang="en-US" sz="700" b="1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5" name="도형 75"/>
          <p:cNvSpPr>
            <a:spLocks/>
          </p:cNvSpPr>
          <p:nvPr/>
        </p:nvSpPr>
        <p:spPr>
          <a:xfrm rot="0">
            <a:off x="6704965" y="2989580"/>
            <a:ext cx="147320" cy="153035"/>
          </a:xfrm>
          <a:prstGeom prst="roundRect"/>
          <a:solidFill>
            <a:srgbClr val="FFFF00"/>
          </a:solidFill>
          <a:ln w="8890" cap="flat" cmpd="sng">
            <a:solidFill>
              <a:schemeClr val="tx1">
                <a:alpha val="100000"/>
              </a:scheme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26" name="텍스트 상자 76"/>
          <p:cNvSpPr txBox="1">
            <a:spLocks/>
          </p:cNvSpPr>
          <p:nvPr/>
        </p:nvSpPr>
        <p:spPr>
          <a:xfrm rot="0">
            <a:off x="6933565" y="2934970"/>
            <a:ext cx="4435475" cy="15621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6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노이즈 </a:t>
            </a:r>
            <a:r>
              <a:rPr lang="ko-KR" sz="16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데이터 삭제</a:t>
            </a:r>
            <a:endParaRPr lang="ko-KR" altLang="en-US" sz="16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7" name="텍스트 상자 77"/>
          <p:cNvSpPr txBox="1">
            <a:spLocks/>
          </p:cNvSpPr>
          <p:nvPr/>
        </p:nvSpPr>
        <p:spPr>
          <a:xfrm rot="0">
            <a:off x="6933565" y="3204845"/>
            <a:ext cx="4435475" cy="22923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000">
                <a:solidFill>
                  <a:srgbClr val="3A3A3A"/>
                </a:solidFill>
                <a:latin typeface="Pretendard" charset="0"/>
                <a:ea typeface="Pretendard" charset="0"/>
                <a:cs typeface="Pretendard" charset="0"/>
              </a:rPr>
              <a:t>문서를 </a:t>
            </a:r>
            <a:r>
              <a:rPr lang="ko-KR" sz="1000">
                <a:solidFill>
                  <a:srgbClr val="3A3A3A"/>
                </a:solidFill>
                <a:latin typeface="Pretendard" charset="0"/>
                <a:ea typeface="Pretendard" charset="0"/>
                <a:cs typeface="Pretendard" charset="0"/>
              </a:rPr>
              <a:t>직접 뜯어보며 </a:t>
            </a:r>
            <a:r>
              <a:rPr lang="ko-KR" sz="1000">
                <a:solidFill>
                  <a:srgbClr val="3A3A3A"/>
                </a:solidFill>
                <a:latin typeface="Pretendard" charset="0"/>
                <a:ea typeface="Pretendard" charset="0"/>
                <a:cs typeface="Pretendard" charset="0"/>
              </a:rPr>
              <a:t>주제와 </a:t>
            </a:r>
            <a:r>
              <a:rPr lang="ko-KR" sz="1000">
                <a:solidFill>
                  <a:srgbClr val="3A3A3A"/>
                </a:solidFill>
                <a:latin typeface="Pretendard" charset="0"/>
                <a:ea typeface="Pretendard" charset="0"/>
                <a:cs typeface="Pretendard" charset="0"/>
              </a:rPr>
              <a:t>연관성이 떨어지는 데이터들을</a:t>
            </a:r>
            <a:r>
              <a:rPr lang="ko-KR" sz="1000">
                <a:solidFill>
                  <a:srgbClr val="3A3A3A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1000">
                <a:solidFill>
                  <a:srgbClr val="3A3A3A"/>
                </a:solidFill>
                <a:latin typeface="Pretendard" charset="0"/>
                <a:ea typeface="Pretendard" charset="0"/>
                <a:cs typeface="Pretendard" charset="0"/>
              </a:rPr>
              <a:t>제거</a:t>
            </a:r>
            <a:endParaRPr lang="ko-KR" altLang="en-US" sz="1000">
              <a:solidFill>
                <a:srgbClr val="3A3A3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8" name="도형 82"/>
          <p:cNvSpPr>
            <a:spLocks/>
          </p:cNvSpPr>
          <p:nvPr/>
        </p:nvSpPr>
        <p:spPr>
          <a:xfrm rot="0">
            <a:off x="6697345" y="3851275"/>
            <a:ext cx="147320" cy="153035"/>
          </a:xfrm>
          <a:prstGeom prst="roundRect"/>
          <a:solidFill>
            <a:schemeClr val="accent3">
              <a:lumMod val="60000"/>
              <a:lumOff val="40000"/>
            </a:schemeClr>
          </a:solidFill>
          <a:ln w="8890" cap="flat" cmpd="sng">
            <a:solidFill>
              <a:schemeClr val="tx1">
                <a:alpha val="100000"/>
              </a:scheme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29" name="텍스트 상자 83"/>
          <p:cNvSpPr txBox="1">
            <a:spLocks/>
          </p:cNvSpPr>
          <p:nvPr/>
        </p:nvSpPr>
        <p:spPr>
          <a:xfrm>
            <a:off x="6925945" y="3796665"/>
            <a:ext cx="4436110" cy="15684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6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유의미한 </a:t>
            </a:r>
            <a:r>
              <a:rPr lang="ko-KR" sz="16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데이터 축소</a:t>
            </a:r>
            <a:endParaRPr lang="ko-KR" altLang="en-US" sz="16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0" name="텍스트 상자 84"/>
          <p:cNvSpPr txBox="1">
            <a:spLocks/>
          </p:cNvSpPr>
          <p:nvPr/>
        </p:nvSpPr>
        <p:spPr>
          <a:xfrm>
            <a:off x="6925945" y="4066540"/>
            <a:ext cx="4436110" cy="22987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000">
                <a:solidFill>
                  <a:srgbClr val="3A3A3A"/>
                </a:solidFill>
                <a:latin typeface="Pretendard" charset="0"/>
                <a:ea typeface="Pretendard" charset="0"/>
                <a:cs typeface="Pretendard" charset="0"/>
              </a:rPr>
              <a:t>총 </a:t>
            </a:r>
            <a:r>
              <a:rPr lang="ko-KR" sz="1000">
                <a:solidFill>
                  <a:srgbClr val="3A3A3A"/>
                </a:solidFill>
                <a:latin typeface="Pretendard" charset="0"/>
                <a:ea typeface="Pretendard" charset="0"/>
                <a:cs typeface="Pretendard" charset="0"/>
              </a:rPr>
              <a:t>75986건 </a:t>
            </a:r>
            <a:r>
              <a:rPr lang="ko-KR" sz="1000">
                <a:solidFill>
                  <a:srgbClr val="3A3A3A"/>
                </a:solidFill>
                <a:latin typeface="Pretendard" charset="0"/>
                <a:ea typeface="Pretendard" charset="0"/>
                <a:cs typeface="Pretendard" charset="0"/>
              </a:rPr>
              <a:t>-</a:t>
            </a:r>
            <a:r>
              <a:rPr lang="ko-KR" sz="1000">
                <a:solidFill>
                  <a:srgbClr val="3A3A3A"/>
                </a:solidFill>
                <a:latin typeface="Pretendard" charset="0"/>
                <a:ea typeface="Pretendard" charset="0"/>
                <a:cs typeface="Pretendard" charset="0"/>
              </a:rPr>
              <a:t> &gt; </a:t>
            </a:r>
            <a:r>
              <a:rPr lang="ko-KR" sz="1000">
                <a:solidFill>
                  <a:srgbClr val="3A3A3A"/>
                </a:solidFill>
                <a:latin typeface="Pretendard" charset="0"/>
                <a:ea typeface="Pretendard" charset="0"/>
                <a:cs typeface="Pretendard" charset="0"/>
              </a:rPr>
              <a:t>2</a:t>
            </a:r>
            <a:r>
              <a:rPr lang="ko-KR" sz="1000">
                <a:solidFill>
                  <a:srgbClr val="3A3A3A"/>
                </a:solidFill>
                <a:latin typeface="Pretendard" charset="0"/>
                <a:ea typeface="Pretendard" charset="0"/>
                <a:cs typeface="Pretendard" charset="0"/>
              </a:rPr>
              <a:t>8879 건으로</a:t>
            </a:r>
            <a:r>
              <a:rPr lang="ko-KR" sz="1000">
                <a:solidFill>
                  <a:srgbClr val="3A3A3A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1000">
                <a:solidFill>
                  <a:srgbClr val="3A3A3A"/>
                </a:solidFill>
                <a:latin typeface="Pretendard" charset="0"/>
                <a:ea typeface="Pretendard" charset="0"/>
                <a:cs typeface="Pretendard" charset="0"/>
              </a:rPr>
              <a:t>유의미한 데이터 축소를 진행</a:t>
            </a:r>
            <a:r>
              <a:rPr lang="ko-KR" sz="1000">
                <a:solidFill>
                  <a:srgbClr val="3A3A3A"/>
                </a:solidFill>
                <a:latin typeface="Pretendard" charset="0"/>
                <a:ea typeface="Pretendard" charset="0"/>
                <a:cs typeface="Pretendard" charset="0"/>
              </a:rPr>
              <a:t>하였다.</a:t>
            </a:r>
            <a:endParaRPr lang="ko-KR" altLang="en-US" sz="1000">
              <a:solidFill>
                <a:srgbClr val="3A3A3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pic>
        <p:nvPicPr>
          <p:cNvPr id="31" name="그림 1" descr="C:/Users/WHKONG/AppData/Roaming/PolarisOffice/ETemp/20104_8463808/fImage8980851241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551815" y="1638935"/>
            <a:ext cx="5509260" cy="4842510"/>
          </a:xfrm>
          <a:prstGeom prst="rect"/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</a:ln>
          <a:effectLst>
            <a:outerShdw sx="100000" sy="100000" blurRad="50800" dist="38100" dir="0" rotWithShape="0" algn="l">
              <a:srgbClr val="000000">
                <a:alpha val="40000"/>
              </a:srgbClr>
            </a:outerShdw>
          </a:effectLst>
        </p:spPr>
      </p:pic>
      <p:sp>
        <p:nvSpPr>
          <p:cNvPr id="32" name="텍스트 상자 3"/>
          <p:cNvSpPr txBox="1">
            <a:spLocks/>
          </p:cNvSpPr>
          <p:nvPr/>
        </p:nvSpPr>
        <p:spPr>
          <a:xfrm>
            <a:off x="411480" y="182880"/>
            <a:ext cx="3659505" cy="16637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03. 데이터 수집 및 전처리</a:t>
            </a:r>
            <a:endParaRPr lang="ko-KR" altLang="en-US" sz="800" b="1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/>
          </p:cNvSpPr>
          <p:nvPr/>
        </p:nvSpPr>
        <p:spPr>
          <a:xfrm rot="0">
            <a:off x="0" y="0"/>
            <a:ext cx="12192635" cy="6858635"/>
          </a:xfrm>
          <a:prstGeom prst="rect"/>
          <a:solidFill>
            <a:srgbClr val="FFFAF0"/>
          </a:solidFill>
          <a:ln w="8890" cap="flat" cmpd="sng">
            <a:solidFill>
              <a:srgbClr val="FFFAF0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>
              <a:defRPr/>
            </a:pPr>
            <a:endParaRPr lang="ko-KR" altLang="en-US"/>
          </a:p>
        </p:txBody>
      </p:sp>
      <p:cxnSp>
        <p:nvCxnSpPr>
          <p:cNvPr id="4" name="Rect 0"/>
          <p:cNvCxnSpPr/>
          <p:nvPr/>
        </p:nvCxnSpPr>
        <p:spPr>
          <a:xfrm rot="0">
            <a:off x="411480" y="6510655"/>
            <a:ext cx="11384915" cy="635"/>
          </a:xfrm>
          <a:prstGeom prst="line"/>
          <a:ln w="10160" cap="flat" cmpd="sng">
            <a:solidFill>
              <a:srgbClr val="E5DED3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 0"/>
          <p:cNvSpPr txBox="1">
            <a:spLocks/>
          </p:cNvSpPr>
          <p:nvPr/>
        </p:nvSpPr>
        <p:spPr>
          <a:xfrm rot="0">
            <a:off x="548640" y="612775"/>
            <a:ext cx="2470150" cy="14732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FILTERING</a:t>
            </a:r>
            <a:endParaRPr lang="ko-KR" altLang="en-US" sz="800" b="1">
              <a:solidFill>
                <a:srgbClr val="FF6B5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6" name="Rect 0"/>
          <p:cNvSpPr txBox="1">
            <a:spLocks/>
          </p:cNvSpPr>
          <p:nvPr/>
        </p:nvSpPr>
        <p:spPr>
          <a:xfrm rot="0">
            <a:off x="530225" y="850265"/>
            <a:ext cx="8500745" cy="71374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데이터 정제 :</a:t>
            </a: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데이터 </a:t>
            </a: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축소</a:t>
            </a:r>
            <a:endParaRPr lang="ko-KR" altLang="en-US" sz="265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 rot="0">
            <a:off x="548640" y="1286510"/>
            <a:ext cx="7178675" cy="31178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데이터 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축소, 형태소 분석, 불용어 제거를 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통해 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데이터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를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 정제.</a:t>
            </a:r>
            <a:endParaRPr lang="ko-KR" altLang="en-US" sz="1100">
              <a:solidFill>
                <a:schemeClr val="tx1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4" name="Rect 0"/>
          <p:cNvSpPr>
            <a:spLocks/>
          </p:cNvSpPr>
          <p:nvPr/>
        </p:nvSpPr>
        <p:spPr>
          <a:xfrm rot="0">
            <a:off x="6693535" y="2157730"/>
            <a:ext cx="147320" cy="153035"/>
          </a:xfrm>
          <a:prstGeom prst="roundRect"/>
          <a:solidFill>
            <a:srgbClr val="FF6B5A"/>
          </a:solidFill>
          <a:ln w="8890" cap="flat" cmpd="sng">
            <a:solidFill>
              <a:schemeClr val="tx1">
                <a:alpha val="100000"/>
              </a:scheme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15" name="Rect 0"/>
          <p:cNvSpPr txBox="1">
            <a:spLocks/>
          </p:cNvSpPr>
          <p:nvPr/>
        </p:nvSpPr>
        <p:spPr>
          <a:xfrm rot="0">
            <a:off x="6922135" y="2103120"/>
            <a:ext cx="4435475" cy="15621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6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유의미한 </a:t>
            </a:r>
            <a:r>
              <a:rPr lang="ko-KR" sz="16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데이터 삭제 방지</a:t>
            </a:r>
            <a:endParaRPr lang="ko-KR" altLang="en-US" sz="16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6" name="Rect 0"/>
          <p:cNvSpPr txBox="1">
            <a:spLocks/>
          </p:cNvSpPr>
          <p:nvPr/>
        </p:nvSpPr>
        <p:spPr>
          <a:xfrm rot="0">
            <a:off x="6922135" y="2372995"/>
            <a:ext cx="4435475" cy="22923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000">
                <a:solidFill>
                  <a:srgbClr val="3A3A3A"/>
                </a:solidFill>
                <a:latin typeface="Pretendard" charset="0"/>
                <a:ea typeface="Pretendard" charset="0"/>
                <a:cs typeface="Pretendard" charset="0"/>
              </a:rPr>
              <a:t>삭제 </a:t>
            </a:r>
            <a:r>
              <a:rPr lang="ko-KR" sz="1000">
                <a:solidFill>
                  <a:srgbClr val="3A3A3A"/>
                </a:solidFill>
                <a:latin typeface="Pretendard" charset="0"/>
                <a:ea typeface="Pretendard" charset="0"/>
                <a:cs typeface="Pretendard" charset="0"/>
              </a:rPr>
              <a:t>방지 ke</a:t>
            </a:r>
            <a:r>
              <a:rPr lang="ko-KR" sz="1000">
                <a:solidFill>
                  <a:srgbClr val="3A3A3A"/>
                </a:solidFill>
                <a:latin typeface="Pretendard" charset="0"/>
                <a:ea typeface="Pretendard" charset="0"/>
                <a:cs typeface="Pretendard" charset="0"/>
              </a:rPr>
              <a:t>y</a:t>
            </a:r>
            <a:r>
              <a:rPr lang="ko-KR" sz="1000">
                <a:solidFill>
                  <a:srgbClr val="3A3A3A"/>
                </a:solidFill>
                <a:latin typeface="Pretendard" charset="0"/>
                <a:ea typeface="Pretendard" charset="0"/>
                <a:cs typeface="Pretendard" charset="0"/>
              </a:rPr>
              <a:t>words와의 교집합 검증으로 </a:t>
            </a:r>
            <a:r>
              <a:rPr lang="ko-KR" sz="1000">
                <a:solidFill>
                  <a:srgbClr val="3A3A3A"/>
                </a:solidFill>
                <a:latin typeface="Pretendard" charset="0"/>
                <a:ea typeface="Pretendard" charset="0"/>
                <a:cs typeface="Pretendard" charset="0"/>
              </a:rPr>
              <a:t>유의미한 </a:t>
            </a:r>
            <a:r>
              <a:rPr lang="ko-KR" sz="1000">
                <a:solidFill>
                  <a:srgbClr val="3A3A3A"/>
                </a:solidFill>
                <a:latin typeface="Pretendard" charset="0"/>
                <a:ea typeface="Pretendard" charset="0"/>
                <a:cs typeface="Pretendard" charset="0"/>
              </a:rPr>
              <a:t>데이터</a:t>
            </a:r>
            <a:r>
              <a:rPr lang="ko-KR" sz="1000">
                <a:solidFill>
                  <a:srgbClr val="3A3A3A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1000">
                <a:solidFill>
                  <a:srgbClr val="3A3A3A"/>
                </a:solidFill>
                <a:latin typeface="Pretendard" charset="0"/>
                <a:ea typeface="Pretendard" charset="0"/>
                <a:cs typeface="Pretendard" charset="0"/>
              </a:rPr>
              <a:t>삭제를 방지함</a:t>
            </a:r>
            <a:endParaRPr lang="ko-KR" altLang="en-US" sz="1000">
              <a:solidFill>
                <a:srgbClr val="3A3A3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3" name="Rect 0"/>
          <p:cNvSpPr txBox="1">
            <a:spLocks/>
          </p:cNvSpPr>
          <p:nvPr/>
        </p:nvSpPr>
        <p:spPr>
          <a:xfrm>
            <a:off x="11247120" y="6610985"/>
            <a:ext cx="504190" cy="12954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r">
              <a:buFontTx/>
              <a:buNone/>
            </a:pPr>
            <a:r>
              <a:rPr lang="ko-KR" sz="7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0</a:t>
            </a:r>
            <a:r>
              <a:rPr lang="ko-KR" sz="7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7</a:t>
            </a:r>
            <a:endParaRPr lang="ko-KR" altLang="en-US" sz="700" b="1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5" name="Rect 0"/>
          <p:cNvSpPr>
            <a:spLocks/>
          </p:cNvSpPr>
          <p:nvPr/>
        </p:nvSpPr>
        <p:spPr>
          <a:xfrm rot="0">
            <a:off x="6704965" y="2989580"/>
            <a:ext cx="147320" cy="153035"/>
          </a:xfrm>
          <a:prstGeom prst="roundRect"/>
          <a:solidFill>
            <a:srgbClr val="FFFF00"/>
          </a:solidFill>
          <a:ln w="8890" cap="flat" cmpd="sng">
            <a:solidFill>
              <a:schemeClr val="tx1">
                <a:alpha val="100000"/>
              </a:scheme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26" name="Rect 0"/>
          <p:cNvSpPr txBox="1">
            <a:spLocks/>
          </p:cNvSpPr>
          <p:nvPr/>
        </p:nvSpPr>
        <p:spPr>
          <a:xfrm rot="0">
            <a:off x="6933565" y="2934970"/>
            <a:ext cx="4435475" cy="15621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6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노이즈 </a:t>
            </a:r>
            <a:r>
              <a:rPr lang="ko-KR" sz="16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데이터 삭제</a:t>
            </a:r>
            <a:endParaRPr lang="ko-KR" altLang="en-US" sz="16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7" name="Rect 0"/>
          <p:cNvSpPr txBox="1">
            <a:spLocks/>
          </p:cNvSpPr>
          <p:nvPr/>
        </p:nvSpPr>
        <p:spPr>
          <a:xfrm rot="0">
            <a:off x="6933565" y="3204845"/>
            <a:ext cx="4435475" cy="22923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000">
                <a:solidFill>
                  <a:srgbClr val="3A3A3A"/>
                </a:solidFill>
                <a:latin typeface="Pretendard" charset="0"/>
                <a:ea typeface="Pretendard" charset="0"/>
                <a:cs typeface="Pretendard" charset="0"/>
              </a:rPr>
              <a:t>문서를 </a:t>
            </a:r>
            <a:r>
              <a:rPr lang="ko-KR" sz="1000">
                <a:solidFill>
                  <a:srgbClr val="3A3A3A"/>
                </a:solidFill>
                <a:latin typeface="Pretendard" charset="0"/>
                <a:ea typeface="Pretendard" charset="0"/>
                <a:cs typeface="Pretendard" charset="0"/>
              </a:rPr>
              <a:t>직접 뜯어보며 </a:t>
            </a:r>
            <a:r>
              <a:rPr lang="ko-KR" sz="1000">
                <a:solidFill>
                  <a:srgbClr val="3A3A3A"/>
                </a:solidFill>
                <a:latin typeface="Pretendard" charset="0"/>
                <a:ea typeface="Pretendard" charset="0"/>
                <a:cs typeface="Pretendard" charset="0"/>
              </a:rPr>
              <a:t>주제와 </a:t>
            </a:r>
            <a:r>
              <a:rPr lang="ko-KR" sz="1000">
                <a:solidFill>
                  <a:srgbClr val="3A3A3A"/>
                </a:solidFill>
                <a:latin typeface="Pretendard" charset="0"/>
                <a:ea typeface="Pretendard" charset="0"/>
                <a:cs typeface="Pretendard" charset="0"/>
              </a:rPr>
              <a:t>연관성이 떨어지는 데이터들을</a:t>
            </a:r>
            <a:r>
              <a:rPr lang="ko-KR" sz="1000">
                <a:solidFill>
                  <a:srgbClr val="3A3A3A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1000">
                <a:solidFill>
                  <a:srgbClr val="3A3A3A"/>
                </a:solidFill>
                <a:latin typeface="Pretendard" charset="0"/>
                <a:ea typeface="Pretendard" charset="0"/>
                <a:cs typeface="Pretendard" charset="0"/>
              </a:rPr>
              <a:t>제거</a:t>
            </a:r>
            <a:endParaRPr lang="ko-KR" altLang="en-US" sz="1000">
              <a:solidFill>
                <a:srgbClr val="3A3A3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pic>
        <p:nvPicPr>
          <p:cNvPr id="33" name="그림 2" descr="C:/Users/WHKONG/AppData/Roaming/PolarisOffice/ETemp/20104_8463808/fImage1044965138467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548640" y="1619885"/>
            <a:ext cx="5122545" cy="4871085"/>
          </a:xfrm>
          <a:prstGeom prst="rect"/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</a:ln>
          <a:effectLst>
            <a:outerShdw sx="100000" sy="100000" blurRad="50800" dist="38100" dir="0" rotWithShape="0" algn="l">
              <a:srgbClr val="000000">
                <a:alpha val="40000"/>
              </a:srgbClr>
            </a:outerShdw>
          </a:effectLst>
        </p:spPr>
      </p:pic>
      <p:sp>
        <p:nvSpPr>
          <p:cNvPr id="34" name="텍스트 상자 4"/>
          <p:cNvSpPr txBox="1">
            <a:spLocks/>
          </p:cNvSpPr>
          <p:nvPr/>
        </p:nvSpPr>
        <p:spPr>
          <a:xfrm>
            <a:off x="411480" y="182880"/>
            <a:ext cx="3659505" cy="16637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03. 데이터 수집 및 전처리</a:t>
            </a:r>
            <a:endParaRPr lang="ko-KR" altLang="en-US" sz="800" b="1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5" name="도형 1"/>
          <p:cNvSpPr>
            <a:spLocks/>
          </p:cNvSpPr>
          <p:nvPr/>
        </p:nvSpPr>
        <p:spPr>
          <a:xfrm rot="0">
            <a:off x="6697345" y="3851275"/>
            <a:ext cx="147955" cy="153670"/>
          </a:xfrm>
          <a:prstGeom prst="roundRect"/>
          <a:solidFill>
            <a:schemeClr val="accent3">
              <a:lumMod val="60000"/>
              <a:lumOff val="40000"/>
            </a:schemeClr>
          </a:solidFill>
          <a:ln w="8890" cap="flat" cmpd="sng">
            <a:solidFill>
              <a:schemeClr val="tx1">
                <a:alpha val="100000"/>
              </a:scheme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 marL="0" indent="0">
              <a:buFontTx/>
              <a:buNone/>
              <a:defRPr/>
            </a:pPr>
            <a:endParaRPr lang="ko-KR" altLang="en-US"/>
          </a:p>
        </p:txBody>
      </p:sp>
      <p:sp>
        <p:nvSpPr>
          <p:cNvPr id="36" name="텍스트 상자 2"/>
          <p:cNvSpPr txBox="1">
            <a:spLocks/>
          </p:cNvSpPr>
          <p:nvPr/>
        </p:nvSpPr>
        <p:spPr>
          <a:xfrm rot="0">
            <a:off x="6925945" y="3796665"/>
            <a:ext cx="4436110" cy="15684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6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유의미한 </a:t>
            </a:r>
            <a:r>
              <a:rPr lang="ko-KR" sz="16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데이터 축소</a:t>
            </a:r>
            <a:endParaRPr lang="ko-KR" altLang="en-US" sz="16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7" name="텍스트 상자 3"/>
          <p:cNvSpPr txBox="1">
            <a:spLocks/>
          </p:cNvSpPr>
          <p:nvPr/>
        </p:nvSpPr>
        <p:spPr>
          <a:xfrm rot="0">
            <a:off x="6925945" y="4066540"/>
            <a:ext cx="4436110" cy="22987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000">
                <a:solidFill>
                  <a:srgbClr val="3A3A3A"/>
                </a:solidFill>
                <a:latin typeface="Pretendard" charset="0"/>
                <a:ea typeface="Pretendard" charset="0"/>
                <a:cs typeface="Pretendard" charset="0"/>
              </a:rPr>
              <a:t>총 </a:t>
            </a:r>
            <a:r>
              <a:rPr lang="ko-KR" sz="1000">
                <a:solidFill>
                  <a:srgbClr val="3A3A3A"/>
                </a:solidFill>
                <a:latin typeface="Pretendard" charset="0"/>
                <a:ea typeface="Pretendard" charset="0"/>
                <a:cs typeface="Pretendard" charset="0"/>
              </a:rPr>
              <a:t>75986건 </a:t>
            </a:r>
            <a:r>
              <a:rPr lang="ko-KR" sz="1000">
                <a:solidFill>
                  <a:srgbClr val="3A3A3A"/>
                </a:solidFill>
                <a:latin typeface="Pretendard" charset="0"/>
                <a:ea typeface="Pretendard" charset="0"/>
                <a:cs typeface="Pretendard" charset="0"/>
              </a:rPr>
              <a:t>-</a:t>
            </a:r>
            <a:r>
              <a:rPr lang="ko-KR" sz="1000">
                <a:solidFill>
                  <a:srgbClr val="3A3A3A"/>
                </a:solidFill>
                <a:latin typeface="Pretendard" charset="0"/>
                <a:ea typeface="Pretendard" charset="0"/>
                <a:cs typeface="Pretendard" charset="0"/>
              </a:rPr>
              <a:t> &gt; </a:t>
            </a:r>
            <a:r>
              <a:rPr lang="ko-KR" sz="1000">
                <a:solidFill>
                  <a:srgbClr val="3A3A3A"/>
                </a:solidFill>
                <a:latin typeface="Pretendard" charset="0"/>
                <a:ea typeface="Pretendard" charset="0"/>
                <a:cs typeface="Pretendard" charset="0"/>
              </a:rPr>
              <a:t>2</a:t>
            </a:r>
            <a:r>
              <a:rPr lang="ko-KR" sz="1000">
                <a:solidFill>
                  <a:srgbClr val="3A3A3A"/>
                </a:solidFill>
                <a:latin typeface="Pretendard" charset="0"/>
                <a:ea typeface="Pretendard" charset="0"/>
                <a:cs typeface="Pretendard" charset="0"/>
              </a:rPr>
              <a:t>8879 건으로</a:t>
            </a:r>
            <a:r>
              <a:rPr lang="ko-KR" sz="1000">
                <a:solidFill>
                  <a:srgbClr val="3A3A3A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1000">
                <a:solidFill>
                  <a:srgbClr val="3A3A3A"/>
                </a:solidFill>
                <a:latin typeface="Pretendard" charset="0"/>
                <a:ea typeface="Pretendard" charset="0"/>
                <a:cs typeface="Pretendard" charset="0"/>
              </a:rPr>
              <a:t>유의미한 데이터 축소를 진행</a:t>
            </a:r>
            <a:r>
              <a:rPr lang="ko-KR" sz="1000">
                <a:solidFill>
                  <a:srgbClr val="3A3A3A"/>
                </a:solidFill>
                <a:latin typeface="Pretendard" charset="0"/>
                <a:ea typeface="Pretendard" charset="0"/>
                <a:cs typeface="Pretendard" charset="0"/>
              </a:rPr>
              <a:t>하였다.</a:t>
            </a:r>
            <a:endParaRPr lang="ko-KR" altLang="en-US" sz="1000">
              <a:solidFill>
                <a:srgbClr val="3A3A3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/>
          </p:cNvSpPr>
          <p:nvPr/>
        </p:nvSpPr>
        <p:spPr>
          <a:xfrm rot="0">
            <a:off x="0" y="0"/>
            <a:ext cx="12192635" cy="6858635"/>
          </a:xfrm>
          <a:prstGeom prst="rect"/>
          <a:solidFill>
            <a:srgbClr val="FFFAF0"/>
          </a:solidFill>
          <a:ln w="8890" cap="flat" cmpd="sng">
            <a:solidFill>
              <a:srgbClr val="FFFAF0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>
              <a:defRPr/>
            </a:pPr>
            <a:endParaRPr lang="ko-KR" altLang="en-US"/>
          </a:p>
        </p:txBody>
      </p:sp>
      <p:cxnSp>
        <p:nvCxnSpPr>
          <p:cNvPr id="4" name="Rect 0"/>
          <p:cNvCxnSpPr/>
          <p:nvPr/>
        </p:nvCxnSpPr>
        <p:spPr>
          <a:xfrm rot="0">
            <a:off x="411480" y="6510655"/>
            <a:ext cx="11384915" cy="635"/>
          </a:xfrm>
          <a:prstGeom prst="line"/>
          <a:ln w="10160" cap="flat" cmpd="sng">
            <a:solidFill>
              <a:srgbClr val="E5DED3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 0"/>
          <p:cNvSpPr txBox="1">
            <a:spLocks/>
          </p:cNvSpPr>
          <p:nvPr/>
        </p:nvSpPr>
        <p:spPr>
          <a:xfrm>
            <a:off x="548640" y="612775"/>
            <a:ext cx="2470150" cy="14732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FILTERING</a:t>
            </a:r>
            <a:endParaRPr lang="ko-KR" altLang="en-US" sz="800" b="1">
              <a:solidFill>
                <a:srgbClr val="FF6B5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6" name="Rect 0"/>
          <p:cNvSpPr txBox="1">
            <a:spLocks/>
          </p:cNvSpPr>
          <p:nvPr/>
        </p:nvSpPr>
        <p:spPr>
          <a:xfrm rot="0">
            <a:off x="530225" y="850265"/>
            <a:ext cx="8500745" cy="71374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데이터 정제 :</a:t>
            </a: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불용어 </a:t>
            </a: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제거</a:t>
            </a:r>
            <a:endParaRPr lang="ko-KR" altLang="en-US" sz="265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 rot="0">
            <a:off x="548640" y="1315085"/>
            <a:ext cx="7178675" cy="31178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데이터 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축소, 형태소 분석, 불용어 제거를 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통해 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데이터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를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 정제.</a:t>
            </a:r>
            <a:endParaRPr lang="ko-KR" altLang="en-US" sz="1100">
              <a:solidFill>
                <a:schemeClr val="tx1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3" name="Rect 0"/>
          <p:cNvSpPr txBox="1">
            <a:spLocks/>
          </p:cNvSpPr>
          <p:nvPr/>
        </p:nvSpPr>
        <p:spPr>
          <a:xfrm>
            <a:off x="11247120" y="6610985"/>
            <a:ext cx="504190" cy="12954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r">
              <a:buFontTx/>
              <a:buNone/>
            </a:pPr>
            <a:r>
              <a:rPr lang="ko-KR" sz="7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0</a:t>
            </a:r>
            <a:r>
              <a:rPr lang="ko-KR" sz="7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8</a:t>
            </a:r>
            <a:endParaRPr lang="ko-KR" altLang="en-US" sz="700" b="1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pic>
        <p:nvPicPr>
          <p:cNvPr id="35" name="그림 3" descr="C:/Users/WHKONG/AppData/Roaming/PolarisOffice/ETemp/20104_8463808/fImage885675146334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208405" y="1560195"/>
            <a:ext cx="4312920" cy="4871085"/>
          </a:xfrm>
          <a:prstGeom prst="rect"/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</a:ln>
          <a:effectLst>
            <a:outerShdw sx="100000" sy="100000" blurRad="50800" dist="38100" dir="0" rotWithShape="0" algn="l">
              <a:srgbClr val="000000">
                <a:alpha val="40000"/>
              </a:srgbClr>
            </a:outerShdw>
          </a:effectLst>
        </p:spPr>
      </p:pic>
      <p:pic>
        <p:nvPicPr>
          <p:cNvPr id="36" name="그림 5" descr="C:/Users/WHKONG/AppData/Roaming/PolarisOffice/ETemp/20104_8463808/fImage251365166500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5780405" y="1560195"/>
            <a:ext cx="4330700" cy="1370965"/>
          </a:xfrm>
          <a:prstGeom prst="rect"/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</a:ln>
          <a:effectLst>
            <a:outerShdw sx="100000" sy="100000" blurRad="50800" dist="38100" dir="0" rotWithShape="0" algn="l">
              <a:srgbClr val="000000">
                <a:alpha val="40000"/>
              </a:srgbClr>
            </a:outerShdw>
          </a:effectLst>
        </p:spPr>
      </p:pic>
      <p:sp>
        <p:nvSpPr>
          <p:cNvPr id="37" name="도형 29"/>
          <p:cNvSpPr>
            <a:spLocks/>
          </p:cNvSpPr>
          <p:nvPr/>
        </p:nvSpPr>
        <p:spPr>
          <a:xfrm rot="0">
            <a:off x="6270625" y="3568065"/>
            <a:ext cx="3840480" cy="1732915"/>
          </a:xfrm>
          <a:prstGeom prst="roundRect"/>
          <a:solidFill>
            <a:srgbClr val="FF6B5A"/>
          </a:solidFill>
          <a:ln w="889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 marL="0" indent="0">
              <a:buFontTx/>
              <a:buNone/>
              <a:defRPr/>
            </a:pPr>
            <a:endParaRPr lang="ko-KR" altLang="en-US"/>
          </a:p>
        </p:txBody>
      </p:sp>
      <p:sp>
        <p:nvSpPr>
          <p:cNvPr id="34" name="텍스트 상자 119"/>
          <p:cNvSpPr txBox="1">
            <a:spLocks/>
          </p:cNvSpPr>
          <p:nvPr/>
        </p:nvSpPr>
        <p:spPr>
          <a:xfrm rot="0">
            <a:off x="6305550" y="3985895"/>
            <a:ext cx="3745230" cy="92392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numCol="1" vert="horz" anchor="t">
            <a:spAutoFit/>
          </a:bodyPr>
          <a:lstStyle/>
          <a:p>
            <a:pPr marL="0" indent="0" algn="l" hangingPunct="1">
              <a:buFontTx/>
              <a:buNone/>
            </a:pPr>
            <a:r>
              <a:rPr lang="ko-KR" sz="1800" b="0">
                <a:solidFill>
                  <a:schemeClr val="bg1"/>
                </a:solidFill>
                <a:latin typeface="맑은 고딕" charset="0"/>
                <a:ea typeface="맑은 고딕" charset="0"/>
              </a:rPr>
              <a:t>조건에</a:t>
            </a:r>
            <a:r>
              <a:rPr lang="ko-KR" sz="1800" b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sz="1800" b="0">
                <a:solidFill>
                  <a:schemeClr val="bg1"/>
                </a:solidFill>
                <a:latin typeface="맑은 고딕" charset="0"/>
                <a:ea typeface="맑은 고딕" charset="0"/>
              </a:rPr>
              <a:t>해당하는</a:t>
            </a:r>
            <a:r>
              <a:rPr lang="ko-KR" sz="1800" b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sz="1800" b="0">
                <a:solidFill>
                  <a:schemeClr val="bg1"/>
                </a:solidFill>
                <a:latin typeface="맑은 고딕" charset="0"/>
                <a:ea typeface="맑은 고딕" charset="0"/>
              </a:rPr>
              <a:t>불용어들을</a:t>
            </a:r>
            <a:r>
              <a:rPr lang="ko-KR" sz="1800" b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sz="1800" b="0">
                <a:solidFill>
                  <a:schemeClr val="bg1"/>
                </a:solidFill>
                <a:latin typeface="맑은 고딕" charset="0"/>
                <a:ea typeface="맑은 고딕" charset="0"/>
              </a:rPr>
              <a:t>제거,</a:t>
            </a:r>
            <a:r>
              <a:rPr lang="ko-KR" sz="1800" b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endParaRPr lang="ko-KR" altLang="en-US" sz="1800" b="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endParaRPr lang="ko-KR" altLang="en-US" sz="1800" b="0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800" b="0">
                <a:solidFill>
                  <a:schemeClr val="bg1"/>
                </a:solidFill>
                <a:latin typeface="맑은 고딕" charset="0"/>
                <a:ea typeface="맑은 고딕" charset="0"/>
              </a:rPr>
              <a:t>추후에 </a:t>
            </a:r>
            <a:r>
              <a:rPr lang="ko-KR" sz="1800" b="1">
                <a:solidFill>
                  <a:schemeClr val="bg1"/>
                </a:solidFill>
                <a:latin typeface="맑은 고딕" charset="0"/>
                <a:ea typeface="맑은 고딕" charset="0"/>
              </a:rPr>
              <a:t>감성분석을</a:t>
            </a:r>
            <a:r>
              <a:rPr lang="ko-KR" sz="1800" b="1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sz="1800" b="1">
                <a:solidFill>
                  <a:schemeClr val="bg1"/>
                </a:solidFill>
                <a:latin typeface="맑은 고딕" charset="0"/>
                <a:ea typeface="맑은 고딕" charset="0"/>
              </a:rPr>
              <a:t>위해</a:t>
            </a:r>
            <a:r>
              <a:rPr lang="ko-KR" sz="1800" b="1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sz="1800" b="1">
                <a:solidFill>
                  <a:schemeClr val="bg1"/>
                </a:solidFill>
                <a:latin typeface="맑은 고딕" charset="0"/>
                <a:ea typeface="맑은 고딕" charset="0"/>
              </a:rPr>
              <a:t>최소화함.</a:t>
            </a:r>
            <a:endParaRPr lang="ko-KR" altLang="en-US" sz="1800" b="1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8" name="텍스트 상자 5"/>
          <p:cNvSpPr txBox="1">
            <a:spLocks/>
          </p:cNvSpPr>
          <p:nvPr/>
        </p:nvSpPr>
        <p:spPr>
          <a:xfrm>
            <a:off x="411480" y="182880"/>
            <a:ext cx="3659505" cy="16637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03. 데이터 수집 및 전처리</a:t>
            </a:r>
            <a:endParaRPr lang="ko-KR" altLang="en-US" sz="800" b="1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AF0"/>
          </a:solidFill>
          <a:ln w="8890">
            <a:solidFill>
              <a:srgbClr val="FFFAF0"/>
            </a:solidFill>
          </a:ln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411480" y="182880"/>
            <a:ext cx="3658870" cy="1657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04. 데이터 시각화</a:t>
            </a:r>
            <a:endParaRPr lang="ko-KR" altLang="en-US" sz="800" b="1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4" name="Line 4"/>
          <p:cNvSpPr/>
          <p:nvPr/>
        </p:nvSpPr>
        <p:spPr>
          <a:xfrm>
            <a:off x="411480" y="6510655"/>
            <a:ext cx="11384280" cy="0"/>
          </a:xfrm>
          <a:prstGeom prst="line">
            <a:avLst/>
          </a:prstGeom>
          <a:ln w="10160">
            <a:solidFill>
              <a:srgbClr val="E5DED3"/>
            </a:solidFill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548640" y="612775"/>
            <a:ext cx="2469515" cy="1466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WORD CLOUD</a:t>
            </a:r>
            <a:endParaRPr lang="ko-KR" altLang="en-US" sz="800" b="1">
              <a:solidFill>
                <a:srgbClr val="FF6B5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6" name="TextBox 6"/>
          <p:cNvSpPr txBox="1">
            <a:spLocks/>
          </p:cNvSpPr>
          <p:nvPr/>
        </p:nvSpPr>
        <p:spPr>
          <a:xfrm rot="0">
            <a:off x="530225" y="850265"/>
            <a:ext cx="8550275" cy="71374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워드클라우드는 대중 담론의 중심 단어를 보여</a:t>
            </a: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줌.</a:t>
            </a:r>
            <a:endParaRPr lang="ko-KR" altLang="en-US" sz="265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48640" y="1581785"/>
            <a:ext cx="7178675" cy="3117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명사 워드클라우드와 B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i-Gram을 통한 시각화로 단어 빈도수와 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전체 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흐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름을 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파악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함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.</a:t>
            </a:r>
            <a:endParaRPr lang="ko-KR" altLang="en-US" sz="1100">
              <a:solidFill>
                <a:schemeClr val="tx1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4" name="Shape 14"/>
          <p:cNvSpPr>
            <a:spLocks/>
          </p:cNvSpPr>
          <p:nvPr/>
        </p:nvSpPr>
        <p:spPr>
          <a:xfrm rot="0">
            <a:off x="6591300" y="2171065"/>
            <a:ext cx="4902200" cy="1080135"/>
          </a:xfrm>
          <a:prstGeom prst="roundRect"/>
          <a:solidFill>
            <a:srgbClr val="A4D4C5"/>
          </a:solidFill>
          <a:ln w="889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 marL="0" indent="0">
              <a:buFontTx/>
              <a:buNone/>
              <a:defRPr/>
            </a:pPr>
            <a:endParaRPr lang="ko-KR" altLang="en-US"/>
          </a:p>
        </p:txBody>
      </p:sp>
      <p:sp>
        <p:nvSpPr>
          <p:cNvPr id="15" name="TextBox 15"/>
          <p:cNvSpPr txBox="1">
            <a:spLocks/>
          </p:cNvSpPr>
          <p:nvPr/>
        </p:nvSpPr>
        <p:spPr>
          <a:xfrm>
            <a:off x="6957695" y="2381250"/>
            <a:ext cx="4325620" cy="22098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6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법 관련 단어</a:t>
            </a:r>
            <a:endParaRPr lang="ko-KR" altLang="en-US" sz="16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6" name="TextBox 16"/>
          <p:cNvSpPr txBox="1">
            <a:spLocks/>
          </p:cNvSpPr>
          <p:nvPr/>
        </p:nvSpPr>
        <p:spPr>
          <a:xfrm rot="0">
            <a:off x="6957695" y="2802255"/>
            <a:ext cx="4324985" cy="32956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저작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, 정책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,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 권리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,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 윤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리,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 창작자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등 </a:t>
            </a:r>
            <a:endParaRPr lang="ko-KR" altLang="en-US" sz="1000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7" name="Shape 17"/>
          <p:cNvSpPr>
            <a:spLocks/>
          </p:cNvSpPr>
          <p:nvPr/>
        </p:nvSpPr>
        <p:spPr>
          <a:xfrm rot="0">
            <a:off x="6591300" y="3579495"/>
            <a:ext cx="4902200" cy="1080135"/>
          </a:xfrm>
          <a:prstGeom prst="roundRect"/>
          <a:solidFill>
            <a:srgbClr val="FFB084"/>
          </a:solidFill>
          <a:ln w="889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 marL="0" indent="0">
              <a:buFontTx/>
              <a:buNone/>
              <a:defRPr/>
            </a:pPr>
            <a:endParaRPr lang="ko-KR" altLang="en-US"/>
          </a:p>
        </p:txBody>
      </p:sp>
      <p:sp>
        <p:nvSpPr>
          <p:cNvPr id="18" name="TextBox 18"/>
          <p:cNvSpPr txBox="1">
            <a:spLocks/>
          </p:cNvSpPr>
          <p:nvPr/>
        </p:nvSpPr>
        <p:spPr>
          <a:xfrm>
            <a:off x="6957695" y="3789680"/>
            <a:ext cx="4325620" cy="22098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6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AI 관련 단어</a:t>
            </a:r>
            <a:endParaRPr lang="ko-KR" altLang="en-US" sz="16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9" name="TextBox 19"/>
          <p:cNvSpPr txBox="1">
            <a:spLocks/>
          </p:cNvSpPr>
          <p:nvPr/>
        </p:nvSpPr>
        <p:spPr>
          <a:xfrm rot="0">
            <a:off x="6957695" y="4210050"/>
            <a:ext cx="4324985" cy="32956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모델,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 프롬프트, 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제작,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 활용, 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학습 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등</a:t>
            </a:r>
            <a:endParaRPr lang="ko-KR" altLang="en-US" sz="1000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0" name="Shape 20"/>
          <p:cNvSpPr>
            <a:spLocks/>
          </p:cNvSpPr>
          <p:nvPr/>
        </p:nvSpPr>
        <p:spPr>
          <a:xfrm rot="0">
            <a:off x="6591300" y="4987290"/>
            <a:ext cx="4902200" cy="934085"/>
          </a:xfrm>
          <a:prstGeom prst="roundRect"/>
          <a:solidFill>
            <a:srgbClr val="B8A4ED"/>
          </a:solidFill>
          <a:ln w="889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 marL="0" indent="0">
              <a:buFontTx/>
              <a:buNone/>
              <a:defRPr/>
            </a:pPr>
            <a:endParaRPr lang="ko-KR" altLang="en-US"/>
          </a:p>
        </p:txBody>
      </p:sp>
      <p:sp>
        <p:nvSpPr>
          <p:cNvPr id="21" name="TextBox 21"/>
          <p:cNvSpPr txBox="1">
            <a:spLocks/>
          </p:cNvSpPr>
          <p:nvPr/>
        </p:nvSpPr>
        <p:spPr>
          <a:xfrm>
            <a:off x="6957695" y="5198110"/>
            <a:ext cx="4325620" cy="22098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6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컨텐츠 관련 단어</a:t>
            </a:r>
            <a:endParaRPr lang="ko-KR" altLang="en-US" sz="16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2" name="TextBox 22"/>
          <p:cNvSpPr txBox="1">
            <a:spLocks/>
          </p:cNvSpPr>
          <p:nvPr/>
        </p:nvSpPr>
        <p:spPr>
          <a:xfrm rot="0">
            <a:off x="6957695" y="5618480"/>
            <a:ext cx="4324985" cy="1835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콘텐츠,</a:t>
            </a:r>
            <a:r>
              <a:rPr lang="ko-KR" sz="8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 음악, 영상, 디자인</a:t>
            </a:r>
            <a:r>
              <a:rPr lang="ko-KR" sz="8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8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등</a:t>
            </a:r>
            <a:endParaRPr lang="ko-KR" altLang="en-US" sz="800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1247120" y="6610985"/>
            <a:ext cx="503555" cy="1289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r">
              <a:buFontTx/>
              <a:buNone/>
            </a:pPr>
            <a:r>
              <a:rPr lang="ko-KR" sz="7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0</a:t>
            </a:r>
            <a:r>
              <a:rPr lang="ko-KR" sz="7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9</a:t>
            </a:r>
            <a:endParaRPr lang="ko-KR" altLang="en-US" sz="700" b="1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pic>
        <p:nvPicPr>
          <p:cNvPr id="24" name="그림 121" descr="C:/Users/WHKONG/AppData/Roaming/PolarisOffice/ETemp/20104_8463808/fImage4601147191478.png"/>
          <p:cNvPicPr>
            <a:picLocks noChangeAspect="1"/>
          </p:cNvPicPr>
          <p:nvPr/>
        </p:nvPicPr>
        <p:blipFill rotWithShape="1">
          <a:blip r:embed="rId1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539750" y="2009140"/>
            <a:ext cx="5586095" cy="3928745"/>
          </a:xfrm>
          <a:prstGeom prst="rect"/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</a:ln>
          <a:effectLst>
            <a:outerShdw sx="100000" sy="100000" blurRad="50800" dist="38100" dir="0" rotWithShape="0" algn="l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/>
          </p:cNvSpPr>
          <p:nvPr/>
        </p:nvSpPr>
        <p:spPr>
          <a:xfrm rot="0">
            <a:off x="0" y="0"/>
            <a:ext cx="12192635" cy="6858635"/>
          </a:xfrm>
          <a:prstGeom prst="rect"/>
          <a:solidFill>
            <a:srgbClr val="FFFAF0"/>
          </a:solidFill>
          <a:ln w="8890" cap="flat" cmpd="sng">
            <a:solidFill>
              <a:srgbClr val="FFFAF0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>
              <a:defRPr/>
            </a:pPr>
            <a:endParaRPr lang="ko-KR" altLang="en-US"/>
          </a:p>
        </p:txBody>
      </p:sp>
      <p:cxnSp>
        <p:nvCxnSpPr>
          <p:cNvPr id="4" name="Rect 0"/>
          <p:cNvCxnSpPr/>
          <p:nvPr/>
        </p:nvCxnSpPr>
        <p:spPr>
          <a:xfrm rot="0">
            <a:off x="411480" y="6510655"/>
            <a:ext cx="11384915" cy="635"/>
          </a:xfrm>
          <a:prstGeom prst="line"/>
          <a:ln w="10160" cap="flat" cmpd="sng">
            <a:solidFill>
              <a:srgbClr val="E5DED3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 0"/>
          <p:cNvSpPr txBox="1">
            <a:spLocks/>
          </p:cNvSpPr>
          <p:nvPr/>
        </p:nvSpPr>
        <p:spPr>
          <a:xfrm>
            <a:off x="548640" y="612775"/>
            <a:ext cx="2470150" cy="14732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WORD CLOUD</a:t>
            </a:r>
            <a:endParaRPr lang="ko-KR" altLang="en-US" sz="800" b="1">
              <a:solidFill>
                <a:srgbClr val="FF6B5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6" name="Rect 0"/>
          <p:cNvSpPr txBox="1">
            <a:spLocks/>
          </p:cNvSpPr>
          <p:nvPr/>
        </p:nvSpPr>
        <p:spPr>
          <a:xfrm rot="0">
            <a:off x="530225" y="850265"/>
            <a:ext cx="8550275" cy="71374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워드클라우드는 대중 담론의 중심 단어를 보여</a:t>
            </a: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줌.</a:t>
            </a:r>
            <a:endParaRPr lang="ko-KR" altLang="en-US" sz="265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 rot="0">
            <a:off x="548640" y="1581785"/>
            <a:ext cx="7178675" cy="31178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명사 워드클라우드와 B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i-Gram을 통한 시각화로 단어 빈도수와 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전체 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흐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름을 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파악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함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.</a:t>
            </a:r>
            <a:endParaRPr lang="ko-KR" altLang="en-US" sz="1100">
              <a:solidFill>
                <a:schemeClr val="tx1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4" name="Rect 0"/>
          <p:cNvSpPr>
            <a:spLocks/>
          </p:cNvSpPr>
          <p:nvPr/>
        </p:nvSpPr>
        <p:spPr>
          <a:xfrm rot="0">
            <a:off x="6715125" y="2221865"/>
            <a:ext cx="4777740" cy="1078865"/>
          </a:xfrm>
          <a:prstGeom prst="roundRect"/>
          <a:solidFill>
            <a:srgbClr val="A4D4C5"/>
          </a:solidFill>
          <a:ln w="8890" cap="flat" cmpd="sng">
            <a:solidFill>
              <a:srgbClr val="A4D4C5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15" name="Rect 0"/>
          <p:cNvSpPr txBox="1">
            <a:spLocks/>
          </p:cNvSpPr>
          <p:nvPr/>
        </p:nvSpPr>
        <p:spPr>
          <a:xfrm rot="0">
            <a:off x="7068185" y="2432050"/>
            <a:ext cx="4213860" cy="22034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2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법 </a:t>
            </a:r>
            <a:r>
              <a:rPr lang="ko-KR" sz="12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관련 </a:t>
            </a:r>
            <a:r>
              <a:rPr lang="ko-KR" sz="12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단어 조합</a:t>
            </a:r>
            <a:endParaRPr lang="ko-KR" altLang="en-US" sz="12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6" name="Rect 0"/>
          <p:cNvSpPr txBox="1">
            <a:spLocks/>
          </p:cNvSpPr>
          <p:nvPr/>
        </p:nvSpPr>
        <p:spPr>
          <a:xfrm rot="0">
            <a:off x="7068185" y="2852420"/>
            <a:ext cx="4213860" cy="33020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보호 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위하다, 책임 있다, 보호 있다, 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저작 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대하다, 책임감 있다 등</a:t>
            </a:r>
            <a:endParaRPr lang="ko-KR" altLang="en-US" sz="1000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7" name="Rect 0"/>
          <p:cNvSpPr>
            <a:spLocks/>
          </p:cNvSpPr>
          <p:nvPr/>
        </p:nvSpPr>
        <p:spPr>
          <a:xfrm rot="0">
            <a:off x="6715125" y="3630295"/>
            <a:ext cx="4777740" cy="1078865"/>
          </a:xfrm>
          <a:prstGeom prst="roundRect"/>
          <a:solidFill>
            <a:srgbClr val="FFB084"/>
          </a:solidFill>
          <a:ln w="8890" cap="flat" cmpd="sng">
            <a:solidFill>
              <a:srgbClr val="FFB084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18" name="Rect 0"/>
          <p:cNvSpPr txBox="1">
            <a:spLocks/>
          </p:cNvSpPr>
          <p:nvPr/>
        </p:nvSpPr>
        <p:spPr>
          <a:xfrm rot="0">
            <a:off x="7068185" y="3840480"/>
            <a:ext cx="4213860" cy="22034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2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A</a:t>
            </a:r>
            <a:r>
              <a:rPr lang="ko-KR" sz="12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I 관련 </a:t>
            </a:r>
            <a:r>
              <a:rPr lang="ko-KR" sz="12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단어 </a:t>
            </a:r>
            <a:r>
              <a:rPr lang="ko-KR" sz="12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조합</a:t>
            </a:r>
            <a:endParaRPr lang="ko-KR" altLang="en-US" sz="12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9" name="Rect 0"/>
          <p:cNvSpPr txBox="1">
            <a:spLocks/>
          </p:cNvSpPr>
          <p:nvPr/>
        </p:nvSpPr>
        <p:spPr>
          <a:xfrm rot="0">
            <a:off x="7068185" y="4260215"/>
            <a:ext cx="4213860" cy="33020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활용 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있다, 도움 되다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,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질문 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던지다, 콘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텐츠 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대하다 등</a:t>
            </a:r>
            <a:endParaRPr lang="ko-KR" altLang="en-US" sz="1000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0" name="Rect 0"/>
          <p:cNvSpPr>
            <a:spLocks/>
          </p:cNvSpPr>
          <p:nvPr/>
        </p:nvSpPr>
        <p:spPr>
          <a:xfrm rot="0">
            <a:off x="6715125" y="5038090"/>
            <a:ext cx="4777740" cy="933450"/>
          </a:xfrm>
          <a:prstGeom prst="roundRect"/>
          <a:solidFill>
            <a:srgbClr val="B8A4ED"/>
          </a:solidFill>
          <a:ln w="8890" cap="flat" cmpd="sng">
            <a:solidFill>
              <a:srgbClr val="B8A4ED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21" name="Rect 0"/>
          <p:cNvSpPr txBox="1">
            <a:spLocks/>
          </p:cNvSpPr>
          <p:nvPr/>
        </p:nvSpPr>
        <p:spPr>
          <a:xfrm rot="0">
            <a:off x="7068185" y="5248910"/>
            <a:ext cx="4213860" cy="22034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1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컨텐츠 </a:t>
            </a:r>
            <a:r>
              <a:rPr lang="ko-KR" sz="11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관련 단어</a:t>
            </a:r>
            <a:r>
              <a:rPr lang="ko-KR" sz="11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11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조합</a:t>
            </a:r>
            <a:endParaRPr lang="ko-KR" altLang="en-US" sz="115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2" name="Rect 0"/>
          <p:cNvSpPr txBox="1">
            <a:spLocks/>
          </p:cNvSpPr>
          <p:nvPr/>
        </p:nvSpPr>
        <p:spPr>
          <a:xfrm rot="0">
            <a:off x="7068185" y="5669280"/>
            <a:ext cx="4213860" cy="1835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영상 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만들다, 음악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만들다, 스타일 만들다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등</a:t>
            </a:r>
            <a:endParaRPr lang="ko-KR" altLang="en-US" sz="1000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3" name="Rect 0"/>
          <p:cNvSpPr txBox="1">
            <a:spLocks/>
          </p:cNvSpPr>
          <p:nvPr/>
        </p:nvSpPr>
        <p:spPr>
          <a:xfrm>
            <a:off x="11247120" y="6610985"/>
            <a:ext cx="504190" cy="12954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r">
              <a:buFontTx/>
              <a:buNone/>
            </a:pPr>
            <a:r>
              <a:rPr lang="ko-KR" sz="7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1</a:t>
            </a:r>
            <a:r>
              <a:rPr lang="ko-KR" sz="7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0</a:t>
            </a:r>
            <a:endParaRPr lang="ko-KR" altLang="en-US" sz="700" b="1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pic>
        <p:nvPicPr>
          <p:cNvPr id="24" name="그림 123" descr="C:/Users/WHKONG/AppData/Roaming/PolarisOffice/ETemp/20104_8463808/fImage2434907399358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547370" y="2092960"/>
            <a:ext cx="5664200" cy="4042410"/>
          </a:xfrm>
          <a:prstGeom prst="rect"/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</a:ln>
          <a:effectLst>
            <a:outerShdw sx="100000" sy="100000" blurRad="50800" dist="38100" dir="0" rotWithShape="0" algn="l">
              <a:srgbClr val="000000">
                <a:alpha val="40000"/>
              </a:srgbClr>
            </a:outerShdw>
          </a:effectLst>
        </p:spPr>
      </p:pic>
      <p:sp>
        <p:nvSpPr>
          <p:cNvPr id="25" name="텍스트 상자 6"/>
          <p:cNvSpPr txBox="1">
            <a:spLocks/>
          </p:cNvSpPr>
          <p:nvPr/>
        </p:nvSpPr>
        <p:spPr>
          <a:xfrm>
            <a:off x="411480" y="182880"/>
            <a:ext cx="3658870" cy="16573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04. 데이터 시각화</a:t>
            </a:r>
            <a:endParaRPr lang="ko-KR" altLang="en-US" sz="800" b="1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AF0"/>
          </a:solidFill>
          <a:ln w="8890">
            <a:solidFill>
              <a:srgbClr val="FFFAF0"/>
            </a:solidFill>
          </a:ln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411480" y="182880"/>
            <a:ext cx="3658870" cy="1657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05. 군집 분류</a:t>
            </a:r>
            <a:endParaRPr lang="ko-KR" altLang="en-US" sz="800" b="1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4" name="Line 4"/>
          <p:cNvSpPr/>
          <p:nvPr/>
        </p:nvSpPr>
        <p:spPr>
          <a:xfrm>
            <a:off x="411480" y="6510655"/>
            <a:ext cx="11384280" cy="0"/>
          </a:xfrm>
          <a:prstGeom prst="line">
            <a:avLst/>
          </a:prstGeom>
          <a:ln w="10160">
            <a:solidFill>
              <a:srgbClr val="E5DED3"/>
            </a:solidFill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548640" y="612775"/>
            <a:ext cx="2469515" cy="1466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K-MEANS</a:t>
            </a:r>
            <a:endParaRPr lang="ko-KR" altLang="en-US" sz="800" b="1">
              <a:solidFill>
                <a:srgbClr val="FF6B5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6" name="TextBox 6"/>
          <p:cNvSpPr txBox="1">
            <a:spLocks/>
          </p:cNvSpPr>
          <p:nvPr/>
        </p:nvSpPr>
        <p:spPr>
          <a:xfrm rot="0">
            <a:off x="530225" y="850265"/>
            <a:ext cx="10130790" cy="71374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K-Means는 </a:t>
            </a: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이러한 </a:t>
            </a: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담론이 몇 개의 큰 결로 나뉘는지 보여</a:t>
            </a: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줌.</a:t>
            </a:r>
            <a:endParaRPr lang="ko-KR" altLang="en-US" sz="265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7" name="TextBox 7"/>
          <p:cNvSpPr txBox="1">
            <a:spLocks/>
          </p:cNvSpPr>
          <p:nvPr/>
        </p:nvSpPr>
        <p:spPr>
          <a:xfrm rot="0">
            <a:off x="548640" y="1581785"/>
            <a:ext cx="9351645" cy="31242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Elbow Method, Silhouette Analysis, CH Index 와 LDA 응집도, 혼란도 검증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.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 이후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 하이퍼파라미터 값 수정을 통한 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직접검증 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또한 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수행하여 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군집</a:t>
            </a:r>
            <a:r>
              <a:rPr lang="ko-KR" sz="11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 선정.</a:t>
            </a:r>
            <a:endParaRPr lang="ko-KR" altLang="en-US" sz="1100">
              <a:solidFill>
                <a:schemeClr val="tx1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4" name="Shape 14"/>
          <p:cNvSpPr>
            <a:spLocks/>
          </p:cNvSpPr>
          <p:nvPr/>
        </p:nvSpPr>
        <p:spPr>
          <a:xfrm rot="0">
            <a:off x="7470775" y="2384425"/>
            <a:ext cx="3768725" cy="952500"/>
          </a:xfrm>
          <a:prstGeom prst="roundRect"/>
          <a:solidFill>
            <a:srgbClr val="A4D4C5"/>
          </a:solidFill>
          <a:ln w="889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 marL="0" indent="0">
              <a:buFontTx/>
              <a:buNone/>
              <a:defRPr/>
            </a:pPr>
            <a:endParaRPr lang="ko-KR" altLang="en-US"/>
          </a:p>
        </p:txBody>
      </p:sp>
      <p:sp>
        <p:nvSpPr>
          <p:cNvPr id="15" name="TextBox 15"/>
          <p:cNvSpPr txBox="1">
            <a:spLocks/>
          </p:cNvSpPr>
          <p:nvPr/>
        </p:nvSpPr>
        <p:spPr>
          <a:xfrm>
            <a:off x="7680960" y="2594610"/>
            <a:ext cx="3347720" cy="22098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6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수리적 통계치 확인</a:t>
            </a:r>
            <a:endParaRPr lang="ko-KR" altLang="en-US" sz="16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6" name="TextBox 16"/>
          <p:cNvSpPr txBox="1">
            <a:spLocks/>
          </p:cNvSpPr>
          <p:nvPr/>
        </p:nvSpPr>
        <p:spPr>
          <a:xfrm rot="0">
            <a:off x="7680960" y="3015615"/>
            <a:ext cx="3347085" cy="20193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오차제곱합에 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따른 계수들을 확인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하여 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군집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선정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.</a:t>
            </a:r>
            <a:endParaRPr lang="ko-KR" altLang="en-US" sz="1000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7" name="Shape 17"/>
          <p:cNvSpPr>
            <a:spLocks/>
          </p:cNvSpPr>
          <p:nvPr/>
        </p:nvSpPr>
        <p:spPr>
          <a:xfrm rot="0">
            <a:off x="7470775" y="3628390"/>
            <a:ext cx="3768725" cy="952500"/>
          </a:xfrm>
          <a:prstGeom prst="roundRect"/>
          <a:solidFill>
            <a:srgbClr val="FF6B5A"/>
          </a:solidFill>
          <a:ln w="889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 marL="0" indent="0">
              <a:buFontTx/>
              <a:buNone/>
              <a:defRPr/>
            </a:pPr>
            <a:endParaRPr lang="ko-KR" altLang="en-US"/>
          </a:p>
        </p:txBody>
      </p:sp>
      <p:sp>
        <p:nvSpPr>
          <p:cNvPr id="18" name="TextBox 18"/>
          <p:cNvSpPr txBox="1">
            <a:spLocks/>
          </p:cNvSpPr>
          <p:nvPr/>
        </p:nvSpPr>
        <p:spPr>
          <a:xfrm>
            <a:off x="7680960" y="3838575"/>
            <a:ext cx="3348355" cy="2216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600" b="1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하이퍼 파라미터 수정</a:t>
            </a:r>
            <a:endParaRPr lang="ko-KR" altLang="en-US" sz="1600" b="1">
              <a:solidFill>
                <a:schemeClr val="tx1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9" name="TextBox 19"/>
          <p:cNvSpPr txBox="1">
            <a:spLocks/>
          </p:cNvSpPr>
          <p:nvPr/>
        </p:nvSpPr>
        <p:spPr>
          <a:xfrm>
            <a:off x="7680960" y="4258945"/>
            <a:ext cx="3347720" cy="20256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0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토픽</a:t>
            </a:r>
            <a:r>
              <a:rPr lang="ko-KR" sz="10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10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수 후보들을 직접 실행해보며 하이퍼 파라미터 수정</a:t>
            </a:r>
            <a:endParaRPr lang="ko-KR" altLang="en-US" sz="1000">
              <a:solidFill>
                <a:schemeClr val="tx1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0" name="Shape 20"/>
          <p:cNvSpPr>
            <a:spLocks/>
          </p:cNvSpPr>
          <p:nvPr/>
        </p:nvSpPr>
        <p:spPr>
          <a:xfrm rot="0">
            <a:off x="7470775" y="4871720"/>
            <a:ext cx="3768725" cy="952500"/>
          </a:xfrm>
          <a:prstGeom prst="roundRect"/>
          <a:solidFill>
            <a:srgbClr val="B8A4ED"/>
          </a:solidFill>
          <a:ln w="889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 marL="0" indent="0">
              <a:buFontTx/>
              <a:buNone/>
              <a:defRPr/>
            </a:pPr>
            <a:endParaRPr lang="ko-KR" altLang="en-US"/>
          </a:p>
        </p:txBody>
      </p:sp>
      <p:sp>
        <p:nvSpPr>
          <p:cNvPr id="21" name="TextBox 21"/>
          <p:cNvSpPr txBox="1">
            <a:spLocks/>
          </p:cNvSpPr>
          <p:nvPr/>
        </p:nvSpPr>
        <p:spPr>
          <a:xfrm>
            <a:off x="7680960" y="5081905"/>
            <a:ext cx="3347720" cy="22098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6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LDA 응집도, 혼란도 확인</a:t>
            </a:r>
            <a:endParaRPr lang="ko-KR" altLang="en-US" sz="16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2" name="TextBox 22"/>
          <p:cNvSpPr txBox="1">
            <a:spLocks/>
          </p:cNvSpPr>
          <p:nvPr/>
        </p:nvSpPr>
        <p:spPr>
          <a:xfrm rot="0">
            <a:off x="7680960" y="5502910"/>
            <a:ext cx="3347085" cy="20193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L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DA 응집도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,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혼란도 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확인 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후 최종</a:t>
            </a:r>
            <a:r>
              <a:rPr lang="ko-KR" sz="10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 군집 선정.</a:t>
            </a:r>
            <a:endParaRPr lang="ko-KR" altLang="en-US" sz="1000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1247120" y="6610985"/>
            <a:ext cx="503555" cy="1289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r">
              <a:buFontTx/>
              <a:buNone/>
            </a:pPr>
            <a:r>
              <a:rPr lang="ko-KR" sz="7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1</a:t>
            </a:r>
            <a:r>
              <a:rPr lang="ko-KR" sz="7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1</a:t>
            </a:r>
            <a:endParaRPr lang="ko-KR" altLang="en-US" sz="700" b="1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pic>
        <p:nvPicPr>
          <p:cNvPr id="24" name="그림 14" descr="C:/Users/WHKONG/AppData/Roaming/PolarisOffice/ETemp/22012_12208440/fImage85386450741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07035" y="1939925"/>
            <a:ext cx="6973570" cy="4631055"/>
          </a:xfrm>
          <a:prstGeom prst="rect"/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</a:ln>
          <a:effectLst>
            <a:outerShdw sx="100000" sy="100000" blurRad="50800" dist="38100" dir="0" rotWithShape="0" algn="l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/>
          </p:cNvSpPr>
          <p:nvPr/>
        </p:nvSpPr>
        <p:spPr>
          <a:xfrm rot="0">
            <a:off x="0" y="0"/>
            <a:ext cx="12192635" cy="6858635"/>
          </a:xfrm>
          <a:prstGeom prst="rect"/>
          <a:solidFill>
            <a:srgbClr val="FFFAF0"/>
          </a:solidFill>
          <a:ln w="8890" cap="flat" cmpd="sng">
            <a:solidFill>
              <a:srgbClr val="FFFAF0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>
              <a:defRPr/>
            </a:pPr>
            <a:endParaRPr lang="ko-KR" altLang="en-US"/>
          </a:p>
        </p:txBody>
      </p:sp>
      <p:cxnSp>
        <p:nvCxnSpPr>
          <p:cNvPr id="4" name="Rect 0"/>
          <p:cNvCxnSpPr/>
          <p:nvPr/>
        </p:nvCxnSpPr>
        <p:spPr>
          <a:xfrm rot="0">
            <a:off x="411480" y="6510655"/>
            <a:ext cx="11384915" cy="635"/>
          </a:xfrm>
          <a:prstGeom prst="line"/>
          <a:ln w="10160" cap="flat" cmpd="sng">
            <a:solidFill>
              <a:srgbClr val="E5DED3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 0"/>
          <p:cNvSpPr txBox="1">
            <a:spLocks/>
          </p:cNvSpPr>
          <p:nvPr/>
        </p:nvSpPr>
        <p:spPr>
          <a:xfrm>
            <a:off x="548640" y="612775"/>
            <a:ext cx="2470150" cy="14732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LDA</a:t>
            </a:r>
            <a:endParaRPr lang="ko-KR" altLang="en-US" sz="800" b="1">
              <a:solidFill>
                <a:srgbClr val="FF6B5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6" name="Rect 0"/>
          <p:cNvSpPr txBox="1">
            <a:spLocks/>
          </p:cNvSpPr>
          <p:nvPr/>
        </p:nvSpPr>
        <p:spPr>
          <a:xfrm rot="0">
            <a:off x="530225" y="850265"/>
            <a:ext cx="8460740" cy="71374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LDA는 사전적 주제 구조를 확인하는 중간 검증 단계</a:t>
            </a: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임.</a:t>
            </a:r>
            <a:endParaRPr lang="ko-KR" altLang="en-US" sz="265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 rot="0">
            <a:off x="548640" y="1242060"/>
            <a:ext cx="7178675" cy="31178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0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확률적 토픽 모델을 통해 문서 내 단어 조합이 어떤 주제로 묶이는지 확인함.</a:t>
            </a:r>
            <a:endParaRPr lang="ko-KR" altLang="en-US" sz="1000">
              <a:solidFill>
                <a:schemeClr val="tx1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8" name="Rect 0"/>
          <p:cNvSpPr txBox="1">
            <a:spLocks/>
          </p:cNvSpPr>
          <p:nvPr/>
        </p:nvSpPr>
        <p:spPr>
          <a:xfrm>
            <a:off x="11247120" y="6610985"/>
            <a:ext cx="504825" cy="13017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r">
              <a:buFontTx/>
              <a:buNone/>
            </a:pPr>
            <a:r>
              <a:rPr lang="ko-KR" sz="7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1</a:t>
            </a:r>
            <a:r>
              <a:rPr lang="ko-KR" sz="7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5</a:t>
            </a:r>
            <a:endParaRPr lang="ko-KR" altLang="en-US" sz="700" b="1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0" name="Rect 0"/>
          <p:cNvSpPr txBox="1">
            <a:spLocks/>
          </p:cNvSpPr>
          <p:nvPr/>
        </p:nvSpPr>
        <p:spPr>
          <a:xfrm>
            <a:off x="549275" y="1480820"/>
            <a:ext cx="8376285" cy="37020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numCol="1" vert="horz" anchor="t">
            <a:spAutoFit/>
          </a:bodyPr>
          <a:lstStyle/>
          <a:p>
            <a:pPr marL="0" indent="0" algn="l" hangingPunct="1">
              <a:buFontTx/>
              <a:buNone/>
            </a:pPr>
            <a:r>
              <a:rPr lang="ko-KR" sz="1800" b="1">
                <a:latin typeface="맑은 고딕" charset="0"/>
                <a:ea typeface="맑은 고딕" charset="0"/>
              </a:rPr>
              <a:t>Topic </a:t>
            </a:r>
            <a:r>
              <a:rPr lang="ko-KR" sz="1800" b="1">
                <a:latin typeface="맑은 고딕" charset="0"/>
                <a:ea typeface="맑은 고딕" charset="0"/>
              </a:rPr>
              <a:t>1</a:t>
            </a:r>
            <a:r>
              <a:rPr lang="ko-KR" sz="1800" b="1">
                <a:latin typeface="맑은 고딕" charset="0"/>
                <a:ea typeface="맑은 고딕" charset="0"/>
              </a:rPr>
              <a:t> : AI 생성 콘텐츠</a:t>
            </a:r>
            <a:r>
              <a:rPr lang="ko-KR" sz="1800" b="1">
                <a:latin typeface="맑은 고딕" charset="0"/>
                <a:ea typeface="맑은 고딕" charset="0"/>
              </a:rPr>
              <a:t>로 </a:t>
            </a:r>
            <a:r>
              <a:rPr lang="ko-KR" sz="1800" b="1">
                <a:latin typeface="맑은 고딕" charset="0"/>
                <a:ea typeface="맑은 고딕" charset="0"/>
              </a:rPr>
              <a:t>인한 수익창출과 저작권 보호에 관한 담론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33" name="도형 34"/>
          <p:cNvSpPr>
            <a:spLocks/>
          </p:cNvSpPr>
          <p:nvPr/>
        </p:nvSpPr>
        <p:spPr>
          <a:xfrm rot="0">
            <a:off x="9321165" y="2218690"/>
            <a:ext cx="2339975" cy="3312160"/>
          </a:xfrm>
          <a:prstGeom prst="roundRect"/>
          <a:solidFill>
            <a:srgbClr val="FFFFFF"/>
          </a:solidFill>
          <a:ln w="8890" cap="flat" cmpd="sng">
            <a:solidFill>
              <a:srgbClr val="FF6B5A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 marL="0" indent="0">
              <a:buFontTx/>
              <a:buNone/>
              <a:defRPr/>
            </a:pPr>
            <a:endParaRPr lang="ko-KR" altLang="en-US"/>
          </a:p>
        </p:txBody>
      </p:sp>
      <p:sp>
        <p:nvSpPr>
          <p:cNvPr id="31" name="Rect 0"/>
          <p:cNvSpPr txBox="1">
            <a:spLocks/>
          </p:cNvSpPr>
          <p:nvPr/>
        </p:nvSpPr>
        <p:spPr>
          <a:xfrm>
            <a:off x="9504680" y="2586355"/>
            <a:ext cx="1990090" cy="175450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numCol="1" vert="horz" anchor="t">
            <a:spAutoFit/>
          </a:bodyPr>
          <a:lstStyle/>
          <a:p>
            <a:pPr marL="0" indent="0" algn="l" hangingPunct="1">
              <a:lnSpc>
                <a:spcPct val="150000"/>
              </a:lnSpc>
              <a:buFontTx/>
              <a:buNone/>
            </a:pPr>
            <a:r>
              <a:rPr lang="ko-KR" sz="1800" b="1">
                <a:latin typeface="맑은 고딕" charset="0"/>
                <a:ea typeface="맑은 고딕" charset="0"/>
              </a:rPr>
              <a:t>KeyWord : 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lnSpc>
                <a:spcPct val="150000"/>
              </a:lnSpc>
              <a:buFontTx/>
              <a:buNone/>
            </a:pPr>
            <a:r>
              <a:rPr lang="ko-KR" sz="1800" b="1">
                <a:latin typeface="맑은 고딕" charset="0"/>
                <a:ea typeface="맑은 고딕" charset="0"/>
              </a:rPr>
              <a:t>콘텐츠,</a:t>
            </a:r>
            <a:r>
              <a:rPr lang="ko-KR" sz="1800" b="1">
                <a:latin typeface="맑은 고딕" charset="0"/>
                <a:ea typeface="맑은 고딕" charset="0"/>
              </a:rPr>
              <a:t> 학습, 모델, 분석</a:t>
            </a:r>
            <a:r>
              <a:rPr lang="ko-KR" sz="1800" b="1">
                <a:latin typeface="맑은 고딕" charset="0"/>
                <a:ea typeface="맑은 고딕" charset="0"/>
              </a:rPr>
              <a:t>,</a:t>
            </a:r>
            <a:r>
              <a:rPr lang="ko-KR" sz="1800" b="1">
                <a:latin typeface="맑은 고딕" charset="0"/>
                <a:ea typeface="맑은 고딕" charset="0"/>
              </a:rPr>
              <a:t> 수익, 보호, 제작, 창작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34" name="텍스트 상자 139"/>
          <p:cNvSpPr txBox="1">
            <a:spLocks/>
          </p:cNvSpPr>
          <p:nvPr/>
        </p:nvSpPr>
        <p:spPr>
          <a:xfrm rot="0">
            <a:off x="411480" y="182880"/>
            <a:ext cx="3658870" cy="16573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06. </a:t>
            </a:r>
            <a:r>
              <a:rPr lang="ko-KR" sz="8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토픽 </a:t>
            </a:r>
            <a:r>
              <a:rPr lang="ko-KR" sz="8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모델링</a:t>
            </a:r>
            <a:endParaRPr lang="ko-KR" altLang="en-US" sz="800" b="1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pic>
        <p:nvPicPr>
          <p:cNvPr id="35" name="그림 6" descr="C:/Users/WHKONG/AppData/Roaming/PolarisOffice/ETemp/22012_12208440/fImage587375058467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53085" y="2129790"/>
            <a:ext cx="8507730" cy="4338320"/>
          </a:xfrm>
          <a:prstGeom prst="rect"/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</a:ln>
          <a:effectLst>
            <a:outerShdw sx="100000" sy="100000" blurRad="50800" dist="38100" dir="0" rotWithShape="0" algn="l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/>
          </p:cNvSpPr>
          <p:nvPr/>
        </p:nvSpPr>
        <p:spPr>
          <a:xfrm rot="0">
            <a:off x="0" y="0"/>
            <a:ext cx="12192635" cy="6858635"/>
          </a:xfrm>
          <a:prstGeom prst="rect"/>
          <a:solidFill>
            <a:srgbClr val="FFFAF0"/>
          </a:solidFill>
          <a:ln w="8890" cap="flat" cmpd="sng">
            <a:solidFill>
              <a:srgbClr val="FFFAF0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>
              <a:defRPr/>
            </a:pPr>
            <a:endParaRPr lang="ko-KR" altLang="en-US"/>
          </a:p>
        </p:txBody>
      </p:sp>
      <p:cxnSp>
        <p:nvCxnSpPr>
          <p:cNvPr id="4" name="Rect 0"/>
          <p:cNvCxnSpPr/>
          <p:nvPr/>
        </p:nvCxnSpPr>
        <p:spPr>
          <a:xfrm rot="0">
            <a:off x="411480" y="6510655"/>
            <a:ext cx="11384915" cy="635"/>
          </a:xfrm>
          <a:prstGeom prst="line"/>
          <a:ln w="10160" cap="flat" cmpd="sng">
            <a:solidFill>
              <a:srgbClr val="E5DED3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 0"/>
          <p:cNvSpPr txBox="1">
            <a:spLocks/>
          </p:cNvSpPr>
          <p:nvPr/>
        </p:nvSpPr>
        <p:spPr>
          <a:xfrm rot="0">
            <a:off x="548640" y="612775"/>
            <a:ext cx="2469515" cy="14668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65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LDA</a:t>
            </a:r>
            <a:endParaRPr lang="ko-KR" altLang="en-US" sz="650" b="1">
              <a:solidFill>
                <a:srgbClr val="FF6B5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6" name="Rect 0"/>
          <p:cNvSpPr txBox="1">
            <a:spLocks/>
          </p:cNvSpPr>
          <p:nvPr/>
        </p:nvSpPr>
        <p:spPr>
          <a:xfrm rot="0">
            <a:off x="530225" y="850265"/>
            <a:ext cx="8460740" cy="71374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LDA는 사전적 주제 구조를 확인하는 중간 검증 단계</a:t>
            </a: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임.</a:t>
            </a:r>
            <a:endParaRPr lang="ko-KR" altLang="en-US" sz="265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 rot="0">
            <a:off x="548640" y="1242060"/>
            <a:ext cx="7178675" cy="31178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0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확률적 토픽 모델을 통해 문서 내 단어 조합이 어떤 주제로 묶이는지 확인함.</a:t>
            </a:r>
            <a:endParaRPr lang="ko-KR" altLang="en-US" sz="1000">
              <a:solidFill>
                <a:schemeClr val="tx1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8" name="Rect 0"/>
          <p:cNvSpPr txBox="1">
            <a:spLocks/>
          </p:cNvSpPr>
          <p:nvPr/>
        </p:nvSpPr>
        <p:spPr>
          <a:xfrm>
            <a:off x="11247120" y="6610985"/>
            <a:ext cx="504190" cy="12954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r">
              <a:buFontTx/>
              <a:buNone/>
            </a:pPr>
            <a:r>
              <a:rPr lang="ko-KR" sz="7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1</a:t>
            </a:r>
            <a:r>
              <a:rPr lang="ko-KR" sz="7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3</a:t>
            </a:r>
            <a:endParaRPr lang="ko-KR" altLang="en-US" sz="700" b="1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0" name="Rect 0"/>
          <p:cNvSpPr txBox="1">
            <a:spLocks/>
          </p:cNvSpPr>
          <p:nvPr/>
        </p:nvSpPr>
        <p:spPr>
          <a:xfrm>
            <a:off x="549275" y="1480820"/>
            <a:ext cx="8142605" cy="37020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numCol="1" vert="horz" anchor="t">
            <a:spAutoFit/>
          </a:bodyPr>
          <a:lstStyle/>
          <a:p>
            <a:pPr marL="0" indent="0" algn="l" hangingPunct="1">
              <a:buFontTx/>
              <a:buNone/>
            </a:pPr>
            <a:r>
              <a:rPr lang="ko-KR" sz="1800" b="1">
                <a:latin typeface="맑은 고딕" charset="0"/>
                <a:ea typeface="맑은 고딕" charset="0"/>
              </a:rPr>
              <a:t>Topic 2 : </a:t>
            </a:r>
            <a:r>
              <a:rPr lang="ko-KR" sz="1800" b="1">
                <a:latin typeface="맑은 고딕" charset="0"/>
                <a:ea typeface="맑은 고딕" charset="0"/>
              </a:rPr>
              <a:t>AI </a:t>
            </a:r>
            <a:r>
              <a:rPr lang="ko-KR" sz="1800" b="1">
                <a:latin typeface="맑은 고딕" charset="0"/>
                <a:ea typeface="맑은 고딕" charset="0"/>
              </a:rPr>
              <a:t>생성 </a:t>
            </a:r>
            <a:r>
              <a:rPr lang="ko-KR" sz="1800" b="1">
                <a:latin typeface="맑은 고딕" charset="0"/>
                <a:ea typeface="맑은 고딕" charset="0"/>
              </a:rPr>
              <a:t>콘</a:t>
            </a:r>
            <a:r>
              <a:rPr lang="ko-KR" sz="1800" b="1">
                <a:latin typeface="맑은 고딕" charset="0"/>
                <a:ea typeface="맑은 고딕" charset="0"/>
              </a:rPr>
              <a:t>텐츠에 대한 </a:t>
            </a:r>
            <a:r>
              <a:rPr lang="ko-KR" sz="1800" b="1">
                <a:latin typeface="맑은 고딕" charset="0"/>
                <a:ea typeface="맑은 고딕" charset="0"/>
              </a:rPr>
              <a:t>여론의 </a:t>
            </a:r>
            <a:r>
              <a:rPr lang="ko-KR" sz="1800" b="1">
                <a:latin typeface="맑은 고딕" charset="0"/>
                <a:ea typeface="맑은 고딕" charset="0"/>
              </a:rPr>
              <a:t>평가가 담긴 담론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33" name="도형 33"/>
          <p:cNvSpPr>
            <a:spLocks/>
          </p:cNvSpPr>
          <p:nvPr/>
        </p:nvSpPr>
        <p:spPr>
          <a:xfrm rot="0">
            <a:off x="9321165" y="2288540"/>
            <a:ext cx="2339975" cy="3312160"/>
          </a:xfrm>
          <a:prstGeom prst="roundRect"/>
          <a:solidFill>
            <a:srgbClr val="FFFFFF"/>
          </a:solidFill>
          <a:ln w="8890" cap="flat" cmpd="sng">
            <a:solidFill>
              <a:srgbClr val="FF6B5A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 marL="0" indent="0">
              <a:buFontTx/>
              <a:buNone/>
              <a:defRPr/>
            </a:pPr>
            <a:endParaRPr lang="ko-KR" altLang="en-US"/>
          </a:p>
        </p:txBody>
      </p:sp>
      <p:sp>
        <p:nvSpPr>
          <p:cNvPr id="31" name="Rect 0"/>
          <p:cNvSpPr txBox="1">
            <a:spLocks/>
          </p:cNvSpPr>
          <p:nvPr/>
        </p:nvSpPr>
        <p:spPr>
          <a:xfrm>
            <a:off x="9504680" y="2586355"/>
            <a:ext cx="1990090" cy="175450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numCol="1" vert="horz" anchor="t">
            <a:spAutoFit/>
          </a:bodyPr>
          <a:lstStyle/>
          <a:p>
            <a:pPr marL="0" indent="0" algn="l" hangingPunct="1">
              <a:lnSpc>
                <a:spcPct val="150000"/>
              </a:lnSpc>
              <a:buFontTx/>
              <a:buNone/>
            </a:pPr>
            <a:r>
              <a:rPr lang="ko-KR" sz="1800" b="1">
                <a:latin typeface="맑은 고딕" charset="0"/>
                <a:ea typeface="맑은 고딕" charset="0"/>
              </a:rPr>
              <a:t>KeyWord : 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lnSpc>
                <a:spcPct val="150000"/>
              </a:lnSpc>
              <a:buFontTx/>
              <a:buNone/>
            </a:pPr>
            <a:r>
              <a:rPr lang="ko-KR" sz="1800" b="1">
                <a:latin typeface="맑은 고딕" charset="0"/>
                <a:ea typeface="맑은 고딕" charset="0"/>
              </a:rPr>
              <a:t>영상,</a:t>
            </a:r>
            <a:r>
              <a:rPr lang="ko-KR" sz="1800" b="1">
                <a:latin typeface="맑은 고딕" charset="0"/>
                <a:ea typeface="맑은 고딕" charset="0"/>
              </a:rPr>
              <a:t> 좋다, 음악, 제작, </a:t>
            </a:r>
            <a:r>
              <a:rPr lang="ko-KR" sz="1800" b="1">
                <a:latin typeface="맑은 고딕" charset="0"/>
                <a:ea typeface="맑은 고딕" charset="0"/>
              </a:rPr>
              <a:t>스타일,</a:t>
            </a:r>
            <a:r>
              <a:rPr lang="ko-KR" sz="1800" b="1">
                <a:latin typeface="맑은 고딕" charset="0"/>
                <a:ea typeface="맑은 고딕" charset="0"/>
              </a:rPr>
              <a:t> 편집, 무료, 느낌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34" name="텍스트 상자 138"/>
          <p:cNvSpPr txBox="1">
            <a:spLocks/>
          </p:cNvSpPr>
          <p:nvPr/>
        </p:nvSpPr>
        <p:spPr>
          <a:xfrm rot="0">
            <a:off x="411480" y="182880"/>
            <a:ext cx="3658870" cy="16573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06. </a:t>
            </a:r>
            <a:r>
              <a:rPr lang="ko-KR" sz="8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토픽 </a:t>
            </a:r>
            <a:r>
              <a:rPr lang="ko-KR" sz="8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모델링</a:t>
            </a:r>
            <a:endParaRPr lang="ko-KR" altLang="en-US" sz="800" b="1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pic>
        <p:nvPicPr>
          <p:cNvPr id="35" name="그림 10" descr="C:/Users/WHKONG/AppData/Roaming/PolarisOffice/ETemp/22012_12208440/fImage587695066334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53085" y="2030095"/>
            <a:ext cx="8408035" cy="4222115"/>
          </a:xfrm>
          <a:prstGeom prst="rect"/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</a:ln>
          <a:effectLst>
            <a:outerShdw sx="100000" sy="100000" blurRad="50800" dist="38100" dir="0" rotWithShape="0" algn="l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/>
          </p:cNvSpPr>
          <p:nvPr/>
        </p:nvSpPr>
        <p:spPr>
          <a:xfrm rot="0">
            <a:off x="0" y="0"/>
            <a:ext cx="12192635" cy="6858635"/>
          </a:xfrm>
          <a:prstGeom prst="rect"/>
          <a:solidFill>
            <a:srgbClr val="FFFAF0"/>
          </a:solidFill>
          <a:ln w="8890" cap="flat" cmpd="sng">
            <a:solidFill>
              <a:srgbClr val="FFFAF0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Rect 0"/>
          <p:cNvSpPr txBox="1">
            <a:spLocks/>
          </p:cNvSpPr>
          <p:nvPr/>
        </p:nvSpPr>
        <p:spPr>
          <a:xfrm>
            <a:off x="411480" y="182880"/>
            <a:ext cx="3658870" cy="16573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06. </a:t>
            </a:r>
            <a:r>
              <a:rPr lang="ko-KR" sz="8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토픽 </a:t>
            </a:r>
            <a:r>
              <a:rPr lang="ko-KR" sz="8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모델링</a:t>
            </a:r>
            <a:endParaRPr lang="ko-KR" altLang="en-US" sz="800" b="1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cxnSp>
        <p:nvCxnSpPr>
          <p:cNvPr id="4" name="Rect 0"/>
          <p:cNvCxnSpPr/>
          <p:nvPr/>
        </p:nvCxnSpPr>
        <p:spPr>
          <a:xfrm rot="0">
            <a:off x="411480" y="6510655"/>
            <a:ext cx="11384915" cy="635"/>
          </a:xfrm>
          <a:prstGeom prst="line"/>
          <a:ln w="10160" cap="flat" cmpd="sng">
            <a:solidFill>
              <a:srgbClr val="E5DED3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 0"/>
          <p:cNvSpPr txBox="1">
            <a:spLocks/>
          </p:cNvSpPr>
          <p:nvPr/>
        </p:nvSpPr>
        <p:spPr>
          <a:xfrm rot="0">
            <a:off x="548640" y="612775"/>
            <a:ext cx="2469515" cy="14668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65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LDA</a:t>
            </a:r>
            <a:endParaRPr lang="ko-KR" altLang="en-US" sz="650" b="1">
              <a:solidFill>
                <a:srgbClr val="FF6B5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6" name="Rect 0"/>
          <p:cNvSpPr txBox="1">
            <a:spLocks/>
          </p:cNvSpPr>
          <p:nvPr/>
        </p:nvSpPr>
        <p:spPr>
          <a:xfrm rot="0">
            <a:off x="530225" y="850265"/>
            <a:ext cx="8460740" cy="71374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LDA는 사전적 주제 구조를 확인하는 중간 검증 단계</a:t>
            </a: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임.</a:t>
            </a:r>
            <a:endParaRPr lang="ko-KR" altLang="en-US" sz="265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>
            <a:off x="548640" y="1242060"/>
            <a:ext cx="7179310" cy="31242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0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L</a:t>
            </a:r>
            <a:r>
              <a:rPr lang="ko-KR" sz="10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DA 결과로는 세부 담론이 어떤식으로 </a:t>
            </a:r>
            <a:r>
              <a:rPr lang="ko-KR" sz="10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구성되어있는지 </a:t>
            </a:r>
            <a:r>
              <a:rPr lang="ko-KR" sz="10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명확하게 파악하기 힘</a:t>
            </a:r>
            <a:r>
              <a:rPr lang="ko-KR" sz="10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듬.</a:t>
            </a:r>
            <a:endParaRPr lang="ko-KR" altLang="en-US" sz="1000">
              <a:solidFill>
                <a:schemeClr val="tx1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8" name="Rect 0"/>
          <p:cNvSpPr txBox="1">
            <a:spLocks/>
          </p:cNvSpPr>
          <p:nvPr/>
        </p:nvSpPr>
        <p:spPr>
          <a:xfrm>
            <a:off x="11247120" y="6610985"/>
            <a:ext cx="504190" cy="12954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r">
              <a:buFontTx/>
              <a:buNone/>
            </a:pPr>
            <a:r>
              <a:rPr lang="ko-KR" sz="7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1</a:t>
            </a:r>
            <a:r>
              <a:rPr lang="ko-KR" sz="7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2</a:t>
            </a:r>
            <a:endParaRPr lang="ko-KR" altLang="en-US" sz="700" b="1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0" name="텍스트 상자 127"/>
          <p:cNvSpPr txBox="1">
            <a:spLocks/>
          </p:cNvSpPr>
          <p:nvPr/>
        </p:nvSpPr>
        <p:spPr>
          <a:xfrm rot="0">
            <a:off x="549275" y="1480820"/>
            <a:ext cx="8531225" cy="37020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numCol="1" vert="horz" anchor="t">
            <a:spAutoFit/>
          </a:bodyPr>
          <a:lstStyle/>
          <a:p>
            <a:pPr marL="0" indent="0" algn="l" hangingPunct="1">
              <a:buFontTx/>
              <a:buNone/>
            </a:pPr>
            <a:r>
              <a:rPr lang="ko-KR" sz="1800" b="1">
                <a:latin typeface="맑은 고딕" charset="0"/>
                <a:ea typeface="맑은 고딕" charset="0"/>
              </a:rPr>
              <a:t>Topic </a:t>
            </a:r>
            <a:r>
              <a:rPr lang="ko-KR" sz="1800" b="1">
                <a:latin typeface="맑은 고딕" charset="0"/>
                <a:ea typeface="맑은 고딕" charset="0"/>
              </a:rPr>
              <a:t>3</a:t>
            </a:r>
            <a:r>
              <a:rPr lang="ko-KR" sz="1800" b="1">
                <a:latin typeface="맑은 고딕" charset="0"/>
                <a:ea typeface="맑은 고딕" charset="0"/>
              </a:rPr>
              <a:t> : 기업과 시장, 사회전반적</a:t>
            </a:r>
            <a:r>
              <a:rPr lang="ko-KR" sz="1800" b="1">
                <a:latin typeface="맑은 고딕" charset="0"/>
                <a:ea typeface="맑은 고딕" charset="0"/>
              </a:rPr>
              <a:t>인 </a:t>
            </a:r>
            <a:r>
              <a:rPr lang="ko-KR" sz="1800" b="1">
                <a:latin typeface="맑은 고딕" charset="0"/>
                <a:ea typeface="맑은 고딕" charset="0"/>
              </a:rPr>
              <a:t>경제흐름</a:t>
            </a:r>
            <a:r>
              <a:rPr lang="ko-KR" sz="1800" b="1">
                <a:latin typeface="맑은 고딕" charset="0"/>
                <a:ea typeface="맑은 고딕" charset="0"/>
              </a:rPr>
              <a:t>에</a:t>
            </a:r>
            <a:r>
              <a:rPr lang="ko-KR" sz="1800" b="1">
                <a:latin typeface="맑은 고딕" charset="0"/>
                <a:ea typeface="맑은 고딕" charset="0"/>
              </a:rPr>
              <a:t> 대한 담론</a:t>
            </a:r>
            <a:r>
              <a:rPr lang="ko-KR" sz="1800" b="1">
                <a:latin typeface="맑은 고딕" charset="0"/>
                <a:ea typeface="맑은 고딕" charset="0"/>
              </a:rPr>
              <a:t> (</a:t>
            </a:r>
            <a:r>
              <a:rPr lang="ko-KR" sz="1800" b="1">
                <a:latin typeface="맑은 고딕" charset="0"/>
                <a:ea typeface="맑은 고딕" charset="0"/>
              </a:rPr>
              <a:t>노이즈</a:t>
            </a:r>
            <a:r>
              <a:rPr lang="ko-KR" sz="1800" b="1">
                <a:latin typeface="맑은 고딕" charset="0"/>
                <a:ea typeface="맑은 고딕" charset="0"/>
              </a:rPr>
              <a:t>일 수 </a:t>
            </a:r>
            <a:r>
              <a:rPr lang="ko-KR" sz="1800" b="1">
                <a:latin typeface="맑은 고딕" charset="0"/>
                <a:ea typeface="맑은 고딕" charset="0"/>
              </a:rPr>
              <a:t>있음)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33" name="도형 30"/>
          <p:cNvSpPr>
            <a:spLocks/>
          </p:cNvSpPr>
          <p:nvPr/>
        </p:nvSpPr>
        <p:spPr>
          <a:xfrm rot="0">
            <a:off x="9321165" y="2168525"/>
            <a:ext cx="2339975" cy="3312160"/>
          </a:xfrm>
          <a:prstGeom prst="roundRect"/>
          <a:solidFill>
            <a:srgbClr val="FFFFFF"/>
          </a:solidFill>
          <a:ln w="8890" cap="flat" cmpd="sng">
            <a:solidFill>
              <a:srgbClr val="FF6B5A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 marL="0" indent="0">
              <a:buFontTx/>
              <a:buNone/>
              <a:defRPr/>
            </a:pPr>
            <a:endParaRPr lang="ko-KR" altLang="en-US"/>
          </a:p>
        </p:txBody>
      </p:sp>
      <p:sp>
        <p:nvSpPr>
          <p:cNvPr id="31" name="텍스트 상자 129"/>
          <p:cNvSpPr txBox="1">
            <a:spLocks/>
          </p:cNvSpPr>
          <p:nvPr/>
        </p:nvSpPr>
        <p:spPr>
          <a:xfrm>
            <a:off x="9514840" y="2546350"/>
            <a:ext cx="1990725" cy="175450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numCol="1" vert="horz" anchor="t">
            <a:spAutoFit/>
          </a:bodyPr>
          <a:lstStyle/>
          <a:p>
            <a:pPr marL="0" indent="0" algn="l" hangingPunct="1">
              <a:lnSpc>
                <a:spcPct val="150000"/>
              </a:lnSpc>
              <a:buFontTx/>
              <a:buNone/>
            </a:pPr>
            <a:r>
              <a:rPr lang="ko-KR" sz="1800" b="1">
                <a:latin typeface="맑은 고딕" charset="0"/>
                <a:ea typeface="맑은 고딕" charset="0"/>
              </a:rPr>
              <a:t>KeyWord : 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lnSpc>
                <a:spcPct val="150000"/>
              </a:lnSpc>
              <a:buFontTx/>
              <a:buNone/>
            </a:pPr>
            <a:r>
              <a:rPr lang="ko-KR" sz="1800" b="1">
                <a:latin typeface="맑은 고딕" charset="0"/>
                <a:ea typeface="맑은 고딕" charset="0"/>
              </a:rPr>
              <a:t>기업, 시장, 산업,  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lnSpc>
                <a:spcPct val="150000"/>
              </a:lnSpc>
              <a:buFontTx/>
              <a:buNone/>
            </a:pPr>
            <a:r>
              <a:rPr lang="ko-KR" sz="1800" b="1">
                <a:latin typeface="맑은 고딕" charset="0"/>
                <a:ea typeface="맑은 고딕" charset="0"/>
              </a:rPr>
              <a:t>정부, </a:t>
            </a:r>
            <a:r>
              <a:rPr lang="ko-KR" sz="1800" b="1">
                <a:latin typeface="맑은 고딕" charset="0"/>
                <a:ea typeface="맑은 고딕" charset="0"/>
              </a:rPr>
              <a:t>매출</a:t>
            </a:r>
            <a:r>
              <a:rPr lang="ko-KR" sz="1800" b="1">
                <a:latin typeface="맑은 고딕" charset="0"/>
                <a:ea typeface="맑은 고딕" charset="0"/>
              </a:rPr>
              <a:t>, 규모, 경제,</a:t>
            </a:r>
            <a:r>
              <a:rPr lang="ko-KR" sz="1800" b="1">
                <a:latin typeface="맑은 고딕" charset="0"/>
                <a:ea typeface="맑은 고딕" charset="0"/>
              </a:rPr>
              <a:t> </a:t>
            </a:r>
            <a:r>
              <a:rPr lang="ko-KR" sz="1800" b="1">
                <a:latin typeface="맑은 고딕" charset="0"/>
                <a:ea typeface="맑은 고딕" charset="0"/>
              </a:rPr>
              <a:t>정책, 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pic>
        <p:nvPicPr>
          <p:cNvPr id="34" name="그림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57200" y="1850390"/>
            <a:ext cx="8763635" cy="4577080"/>
          </a:xfrm>
          <a:prstGeom prst="rect"/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</a:ln>
          <a:effectLst>
            <a:outerShdw sx="100000" sy="100000" blurRad="50800" dist="38100" dir="0" rotWithShape="0" algn="l">
              <a:srgbClr val="000000">
                <a:alpha val="40000"/>
              </a:srgbClr>
            </a:outerShdw>
          </a:effectLst>
        </p:spPr>
      </p:pic>
      <p:sp>
        <p:nvSpPr>
          <p:cNvPr id="35" name="텍스트 상자 18"/>
          <p:cNvSpPr txBox="1">
            <a:spLocks/>
          </p:cNvSpPr>
          <p:nvPr/>
        </p:nvSpPr>
        <p:spPr>
          <a:xfrm>
            <a:off x="9559925" y="4399915"/>
            <a:ext cx="1861185" cy="175450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numCol="1" vert="horz" anchor="t">
            <a:spAutoFit/>
          </a:bodyPr>
          <a:lstStyle/>
          <a:p>
            <a:pPr marL="0" indent="0" algn="l" hangingPunct="1">
              <a:buFontTx/>
              <a:buNone/>
            </a:pPr>
            <a:r>
              <a:rPr lang="ko-KR" sz="1800">
                <a:latin typeface="맑은 고딕" charset="0"/>
                <a:ea typeface="맑은 고딕" charset="0"/>
              </a:rPr>
              <a:t>LDA만으로는</a:t>
            </a:r>
            <a:endParaRPr lang="ko-KR" altLang="en-US" sz="1800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800">
                <a:latin typeface="맑은 고딕" charset="0"/>
                <a:ea typeface="맑은 고딕" charset="0"/>
              </a:rPr>
              <a:t>세부 담론을</a:t>
            </a:r>
            <a:endParaRPr lang="ko-KR" altLang="en-US" sz="1800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800">
                <a:latin typeface="맑은 고딕" charset="0"/>
                <a:ea typeface="맑은 고딕" charset="0"/>
              </a:rPr>
              <a:t>파악하기 힘</a:t>
            </a:r>
            <a:r>
              <a:rPr lang="ko-KR" sz="1800">
                <a:latin typeface="맑은 고딕" charset="0"/>
                <a:ea typeface="맑은 고딕" charset="0"/>
              </a:rPr>
              <a:t>듦,</a:t>
            </a:r>
            <a:endParaRPr lang="ko-KR" altLang="en-US" sz="1800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800">
                <a:latin typeface="맑은 고딕" charset="0"/>
                <a:ea typeface="맑은 고딕" charset="0"/>
              </a:rPr>
              <a:t>BERTopic</a:t>
            </a:r>
            <a:r>
              <a:rPr lang="ko-KR" sz="1800">
                <a:latin typeface="맑은 고딕" charset="0"/>
                <a:ea typeface="맑은 고딕" charset="0"/>
              </a:rPr>
              <a:t>으로 </a:t>
            </a:r>
            <a:endParaRPr lang="ko-KR" altLang="en-US" sz="1800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800">
                <a:latin typeface="맑은 고딕" charset="0"/>
                <a:ea typeface="맑은 고딕" charset="0"/>
              </a:rPr>
              <a:t>세부 </a:t>
            </a:r>
            <a:r>
              <a:rPr lang="ko-KR" sz="1800">
                <a:latin typeface="맑은 고딕" charset="0"/>
                <a:ea typeface="맑은 고딕" charset="0"/>
              </a:rPr>
              <a:t>담론 확인.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AF0"/>
          </a:solidFill>
          <a:ln w="8890">
            <a:solidFill>
              <a:srgbClr val="FFFAF0"/>
            </a:solidFill>
          </a:ln>
        </p:spPr>
        <p:txBody>
          <a:bodyPr/>
          <a:lstStyle/>
          <a:p/>
        </p:txBody>
      </p:sp>
      <p:sp>
        <p:nvSpPr>
          <p:cNvPr id="4" name="Line 4"/>
          <p:cNvSpPr/>
          <p:nvPr/>
        </p:nvSpPr>
        <p:spPr>
          <a:xfrm>
            <a:off x="411480" y="6510655"/>
            <a:ext cx="11384280" cy="0"/>
          </a:xfrm>
          <a:prstGeom prst="line">
            <a:avLst/>
          </a:prstGeom>
          <a:ln w="10160">
            <a:solidFill>
              <a:srgbClr val="E5DED3"/>
            </a:solidFill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548640" y="612775"/>
            <a:ext cx="2469515" cy="1466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BERTOPIC TOPICS</a:t>
            </a:r>
            <a:endParaRPr lang="ko-KR" altLang="en-US" sz="800" b="1">
              <a:solidFill>
                <a:srgbClr val="FF6B5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6" name="TextBox 6"/>
          <p:cNvSpPr txBox="1">
            <a:spLocks/>
          </p:cNvSpPr>
          <p:nvPr/>
        </p:nvSpPr>
        <p:spPr>
          <a:xfrm rot="0">
            <a:off x="530225" y="850265"/>
            <a:ext cx="8918575" cy="40830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spAutoFit/>
          </a:bodyPr>
          <a:lstStyle/>
          <a:p>
            <a:pPr marL="0" indent="0" algn="l">
              <a:buFontTx/>
              <a:buNone/>
            </a:pP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토픽은 대중 확산, 권리 갈등, 산업 주변 담론으로 나</a:t>
            </a: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뉨.</a:t>
            </a:r>
            <a:endParaRPr lang="ko-KR" altLang="en-US" sz="265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7" name="TextBox 7"/>
          <p:cNvSpPr txBox="1">
            <a:spLocks/>
          </p:cNvSpPr>
          <p:nvPr/>
        </p:nvSpPr>
        <p:spPr>
          <a:xfrm rot="0">
            <a:off x="548640" y="1305560"/>
            <a:ext cx="7178675" cy="31178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915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각 토픽은 단순 키워드가 아니라 ‘어떤 사회적 질문을 담는가’로 해석해야 한다.</a:t>
            </a:r>
            <a:endParaRPr lang="ko-KR" altLang="en-US" sz="915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8" name="Shape 8"/>
          <p:cNvSpPr>
            <a:spLocks/>
          </p:cNvSpPr>
          <p:nvPr/>
        </p:nvSpPr>
        <p:spPr>
          <a:xfrm rot="0">
            <a:off x="658495" y="1543050"/>
            <a:ext cx="10772775" cy="4317365"/>
          </a:xfrm>
          <a:prstGeom prst="roundRect"/>
          <a:solidFill>
            <a:srgbClr val="FFFFFF"/>
          </a:solidFill>
          <a:ln w="889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 marL="0" indent="0">
              <a:buFontTx/>
              <a:buNone/>
              <a:defRPr/>
            </a:pPr>
            <a:endParaRPr lang="ko-KR" altLang="en-US"/>
          </a:p>
        </p:txBody>
      </p:sp>
      <p:sp>
        <p:nvSpPr>
          <p:cNvPr id="9" name="TextBox 9"/>
          <p:cNvSpPr txBox="1">
            <a:spLocks/>
          </p:cNvSpPr>
          <p:nvPr/>
        </p:nvSpPr>
        <p:spPr>
          <a:xfrm rot="0">
            <a:off x="1122680" y="1809115"/>
            <a:ext cx="2561590" cy="20256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4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BERTopic</a:t>
            </a:r>
            <a:r>
              <a:rPr lang="ko-KR" sz="14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14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토픽별</a:t>
            </a:r>
            <a:r>
              <a:rPr lang="ko-KR" sz="14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14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의미</a:t>
            </a:r>
            <a:r>
              <a:rPr lang="ko-KR" sz="14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14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해석</a:t>
            </a:r>
            <a:endParaRPr lang="ko-KR" altLang="en-US" sz="14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0" name="TextBox 10"/>
          <p:cNvSpPr txBox="1">
            <a:spLocks/>
          </p:cNvSpPr>
          <p:nvPr/>
        </p:nvSpPr>
        <p:spPr>
          <a:xfrm rot="0">
            <a:off x="932815" y="2237740"/>
            <a:ext cx="385445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9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T0</a:t>
            </a:r>
            <a:endParaRPr lang="ko-KR" altLang="en-US" sz="900" b="1">
              <a:solidFill>
                <a:srgbClr val="FF6B5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1" name="TextBox 11"/>
          <p:cNvSpPr txBox="1">
            <a:spLocks/>
          </p:cNvSpPr>
          <p:nvPr/>
        </p:nvSpPr>
        <p:spPr>
          <a:xfrm rot="0">
            <a:off x="1390015" y="2228850"/>
            <a:ext cx="1692910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9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이미지·음악 생성 저작권</a:t>
            </a:r>
            <a:endParaRPr lang="ko-KR" altLang="en-US" sz="9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2" name="TextBox 12"/>
          <p:cNvSpPr txBox="1">
            <a:spLocks/>
          </p:cNvSpPr>
          <p:nvPr/>
        </p:nvSpPr>
        <p:spPr>
          <a:xfrm rot="0">
            <a:off x="3145790" y="2228850"/>
            <a:ext cx="2287270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대중적 AI 창작 경험이 모이는 중심 담론</a:t>
            </a:r>
            <a:endParaRPr lang="ko-KR" altLang="en-US" sz="800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3" name="TextBox 13"/>
          <p:cNvSpPr txBox="1">
            <a:spLocks/>
          </p:cNvSpPr>
          <p:nvPr/>
        </p:nvSpPr>
        <p:spPr>
          <a:xfrm rot="0">
            <a:off x="932815" y="2567305"/>
            <a:ext cx="385445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9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T1</a:t>
            </a:r>
            <a:endParaRPr lang="ko-KR" altLang="en-US" sz="900" b="1">
              <a:solidFill>
                <a:srgbClr val="FF6B5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4" name="TextBox 14"/>
          <p:cNvSpPr txBox="1">
            <a:spLocks/>
          </p:cNvSpPr>
          <p:nvPr/>
        </p:nvSpPr>
        <p:spPr>
          <a:xfrm rot="0">
            <a:off x="1390015" y="2557780"/>
            <a:ext cx="1692910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9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학습 데이터·기술 활용</a:t>
            </a:r>
            <a:endParaRPr lang="ko-KR" altLang="en-US" sz="9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5" name="TextBox 15"/>
          <p:cNvSpPr txBox="1">
            <a:spLocks/>
          </p:cNvSpPr>
          <p:nvPr/>
        </p:nvSpPr>
        <p:spPr>
          <a:xfrm rot="0">
            <a:off x="3145790" y="2557780"/>
            <a:ext cx="2287270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AI 기술 수용과 데이터 활용 조건에 대한 논의</a:t>
            </a:r>
            <a:endParaRPr lang="ko-KR" altLang="en-US" sz="800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6" name="TextBox 16"/>
          <p:cNvSpPr txBox="1">
            <a:spLocks/>
          </p:cNvSpPr>
          <p:nvPr/>
        </p:nvSpPr>
        <p:spPr>
          <a:xfrm rot="0">
            <a:off x="932815" y="2896235"/>
            <a:ext cx="385445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9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T2</a:t>
            </a:r>
            <a:endParaRPr lang="ko-KR" altLang="en-US" sz="900" b="1">
              <a:solidFill>
                <a:srgbClr val="FF6B5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7" name="TextBox 17"/>
          <p:cNvSpPr txBox="1">
            <a:spLocks/>
          </p:cNvSpPr>
          <p:nvPr/>
        </p:nvSpPr>
        <p:spPr>
          <a:xfrm rot="0">
            <a:off x="1390015" y="2887345"/>
            <a:ext cx="1692910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9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교육·학생·학습 활용</a:t>
            </a:r>
            <a:endParaRPr lang="ko-KR" altLang="en-US" sz="9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8" name="TextBox 18"/>
          <p:cNvSpPr txBox="1">
            <a:spLocks/>
          </p:cNvSpPr>
          <p:nvPr/>
        </p:nvSpPr>
        <p:spPr>
          <a:xfrm rot="0">
            <a:off x="3145790" y="2887345"/>
            <a:ext cx="2287270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학업 윤리와 AI 활용 가이드라인 이슈</a:t>
            </a:r>
            <a:endParaRPr lang="ko-KR" altLang="en-US" sz="800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9" name="TextBox 19"/>
          <p:cNvSpPr txBox="1">
            <a:spLocks/>
          </p:cNvSpPr>
          <p:nvPr/>
        </p:nvSpPr>
        <p:spPr>
          <a:xfrm rot="0">
            <a:off x="932815" y="3225800"/>
            <a:ext cx="385445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9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T3</a:t>
            </a:r>
            <a:endParaRPr lang="ko-KR" altLang="en-US" sz="900" b="1">
              <a:solidFill>
                <a:srgbClr val="FF6B5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0" name="TextBox 20"/>
          <p:cNvSpPr txBox="1">
            <a:spLocks/>
          </p:cNvSpPr>
          <p:nvPr/>
        </p:nvSpPr>
        <p:spPr>
          <a:xfrm rot="0">
            <a:off x="1390015" y="3216275"/>
            <a:ext cx="1692910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9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기기·플랫폼 기능</a:t>
            </a:r>
            <a:endParaRPr lang="ko-KR" altLang="en-US" sz="9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1" name="TextBox 21"/>
          <p:cNvSpPr txBox="1">
            <a:spLocks/>
          </p:cNvSpPr>
          <p:nvPr/>
        </p:nvSpPr>
        <p:spPr>
          <a:xfrm rot="0">
            <a:off x="3145790" y="3216275"/>
            <a:ext cx="2287270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제품 기능 소개성 콘텐츠가 섞인 주변 담론</a:t>
            </a:r>
            <a:endParaRPr lang="ko-KR" altLang="en-US" sz="800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2" name="TextBox 22"/>
          <p:cNvSpPr txBox="1">
            <a:spLocks/>
          </p:cNvSpPr>
          <p:nvPr/>
        </p:nvSpPr>
        <p:spPr>
          <a:xfrm rot="0">
            <a:off x="932815" y="3554730"/>
            <a:ext cx="385445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9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T4</a:t>
            </a:r>
            <a:endParaRPr lang="ko-KR" altLang="en-US" sz="900" b="1">
              <a:solidFill>
                <a:srgbClr val="FF6B5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3" name="TextBox 23"/>
          <p:cNvSpPr txBox="1">
            <a:spLocks/>
          </p:cNvSpPr>
          <p:nvPr/>
        </p:nvSpPr>
        <p:spPr>
          <a:xfrm rot="0">
            <a:off x="1390015" y="3545840"/>
            <a:ext cx="1692910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9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영상 편집·제작</a:t>
            </a:r>
            <a:endParaRPr lang="ko-KR" altLang="en-US" sz="9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4" name="TextBox 24"/>
          <p:cNvSpPr txBox="1">
            <a:spLocks/>
          </p:cNvSpPr>
          <p:nvPr/>
        </p:nvSpPr>
        <p:spPr>
          <a:xfrm rot="0">
            <a:off x="3145790" y="3545840"/>
            <a:ext cx="2287270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AI 제작 도구의 생산성 기대가 큰 활용 담론</a:t>
            </a:r>
            <a:endParaRPr lang="ko-KR" altLang="en-US" sz="800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5" name="TextBox 25"/>
          <p:cNvSpPr txBox="1">
            <a:spLocks/>
          </p:cNvSpPr>
          <p:nvPr/>
        </p:nvSpPr>
        <p:spPr>
          <a:xfrm rot="0">
            <a:off x="932815" y="3883660"/>
            <a:ext cx="385445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9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T5</a:t>
            </a:r>
            <a:endParaRPr lang="ko-KR" altLang="en-US" sz="900" b="1">
              <a:solidFill>
                <a:srgbClr val="FF6B5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6" name="TextBox 26"/>
          <p:cNvSpPr txBox="1">
            <a:spLocks/>
          </p:cNvSpPr>
          <p:nvPr/>
        </p:nvSpPr>
        <p:spPr>
          <a:xfrm rot="0">
            <a:off x="1390015" y="3874770"/>
            <a:ext cx="1692910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9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시장·투자·기업 가격</a:t>
            </a:r>
            <a:endParaRPr lang="ko-KR" altLang="en-US" sz="9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7" name="TextBox 27"/>
          <p:cNvSpPr txBox="1">
            <a:spLocks/>
          </p:cNvSpPr>
          <p:nvPr/>
        </p:nvSpPr>
        <p:spPr>
          <a:xfrm rot="0">
            <a:off x="3145790" y="3874770"/>
            <a:ext cx="2287270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산업 성장과 투자 관점의 경제 담론</a:t>
            </a:r>
            <a:endParaRPr lang="ko-KR" altLang="en-US" sz="800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8" name="TextBox 28"/>
          <p:cNvSpPr txBox="1">
            <a:spLocks/>
          </p:cNvSpPr>
          <p:nvPr/>
        </p:nvSpPr>
        <p:spPr>
          <a:xfrm rot="0">
            <a:off x="932815" y="4213225"/>
            <a:ext cx="385445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9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T6</a:t>
            </a:r>
            <a:endParaRPr lang="ko-KR" altLang="en-US" sz="900" b="1">
              <a:solidFill>
                <a:srgbClr val="FF6B5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9" name="TextBox 29"/>
          <p:cNvSpPr txBox="1">
            <a:spLocks/>
          </p:cNvSpPr>
          <p:nvPr/>
        </p:nvSpPr>
        <p:spPr>
          <a:xfrm rot="0">
            <a:off x="1390015" y="4203700"/>
            <a:ext cx="1692910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9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미국 정책·정부</a:t>
            </a:r>
            <a:endParaRPr lang="ko-KR" altLang="en-US" sz="9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0" name="TextBox 30"/>
          <p:cNvSpPr txBox="1">
            <a:spLocks/>
          </p:cNvSpPr>
          <p:nvPr/>
        </p:nvSpPr>
        <p:spPr>
          <a:xfrm rot="0">
            <a:off x="3145790" y="4203700"/>
            <a:ext cx="2287270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규제 방향과 정치·정책 반응 담론</a:t>
            </a:r>
            <a:endParaRPr lang="ko-KR" altLang="en-US" sz="800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1" name="TextBox 31"/>
          <p:cNvSpPr txBox="1">
            <a:spLocks/>
          </p:cNvSpPr>
          <p:nvPr/>
        </p:nvSpPr>
        <p:spPr>
          <a:xfrm rot="0">
            <a:off x="932815" y="4542155"/>
            <a:ext cx="385445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9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T7</a:t>
            </a:r>
            <a:endParaRPr lang="ko-KR" altLang="en-US" sz="900" b="1">
              <a:solidFill>
                <a:srgbClr val="FF6B5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2" name="TextBox 32"/>
          <p:cNvSpPr txBox="1">
            <a:spLocks/>
          </p:cNvSpPr>
          <p:nvPr/>
        </p:nvSpPr>
        <p:spPr>
          <a:xfrm rot="0">
            <a:off x="1390015" y="4533265"/>
            <a:ext cx="1692910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9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영화·디즈니·영상 저작</a:t>
            </a:r>
            <a:endParaRPr lang="ko-KR" altLang="en-US" sz="9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3" name="TextBox 33"/>
          <p:cNvSpPr txBox="1">
            <a:spLocks/>
          </p:cNvSpPr>
          <p:nvPr/>
        </p:nvSpPr>
        <p:spPr>
          <a:xfrm rot="0">
            <a:off x="3145790" y="4533265"/>
            <a:ext cx="2287270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IP·스타일 모방·영상 저작권 갈등</a:t>
            </a:r>
            <a:endParaRPr lang="ko-KR" altLang="en-US" sz="800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4" name="TextBox 34"/>
          <p:cNvSpPr txBox="1">
            <a:spLocks/>
          </p:cNvSpPr>
          <p:nvPr/>
        </p:nvSpPr>
        <p:spPr>
          <a:xfrm rot="0">
            <a:off x="932815" y="4871720"/>
            <a:ext cx="385445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9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T8</a:t>
            </a:r>
            <a:endParaRPr lang="ko-KR" altLang="en-US" sz="900" b="1">
              <a:solidFill>
                <a:srgbClr val="FF6B5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5" name="TextBox 35"/>
          <p:cNvSpPr txBox="1">
            <a:spLocks/>
          </p:cNvSpPr>
          <p:nvPr/>
        </p:nvSpPr>
        <p:spPr>
          <a:xfrm rot="0">
            <a:off x="1390015" y="4862195"/>
            <a:ext cx="1692910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9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음성·목소리·오디오</a:t>
            </a:r>
            <a:endParaRPr lang="ko-KR" altLang="en-US" sz="9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6" name="TextBox 36"/>
          <p:cNvSpPr txBox="1">
            <a:spLocks/>
          </p:cNvSpPr>
          <p:nvPr/>
        </p:nvSpPr>
        <p:spPr>
          <a:xfrm rot="0">
            <a:off x="3145790" y="4862195"/>
            <a:ext cx="2287270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보이스 클로닝과 음원 권리 논의</a:t>
            </a:r>
            <a:endParaRPr lang="ko-KR" altLang="en-US" sz="800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7" name="TextBox 37"/>
          <p:cNvSpPr txBox="1">
            <a:spLocks/>
          </p:cNvSpPr>
          <p:nvPr/>
        </p:nvSpPr>
        <p:spPr>
          <a:xfrm rot="0">
            <a:off x="932815" y="5200650"/>
            <a:ext cx="385445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9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T9</a:t>
            </a:r>
            <a:endParaRPr lang="ko-KR" altLang="en-US" sz="900" b="1">
              <a:solidFill>
                <a:srgbClr val="FF6B5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8" name="TextBox 38"/>
          <p:cNvSpPr txBox="1">
            <a:spLocks/>
          </p:cNvSpPr>
          <p:nvPr/>
        </p:nvSpPr>
        <p:spPr>
          <a:xfrm rot="0">
            <a:off x="1390015" y="5191760"/>
            <a:ext cx="1692910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9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콘텐츠·블로그·인스타그램</a:t>
            </a:r>
            <a:endParaRPr lang="ko-KR" altLang="en-US" sz="9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9" name="TextBox 39"/>
          <p:cNvSpPr txBox="1">
            <a:spLocks/>
          </p:cNvSpPr>
          <p:nvPr/>
        </p:nvSpPr>
        <p:spPr>
          <a:xfrm rot="0">
            <a:off x="3145790" y="5191760"/>
            <a:ext cx="2287270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플랫폼형 콘텐츠 확산과 양산형 사용</a:t>
            </a:r>
            <a:endParaRPr lang="ko-KR" altLang="en-US" sz="800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40" name="TextBox 40"/>
          <p:cNvSpPr txBox="1">
            <a:spLocks/>
          </p:cNvSpPr>
          <p:nvPr/>
        </p:nvSpPr>
        <p:spPr>
          <a:xfrm rot="0">
            <a:off x="6172200" y="2237740"/>
            <a:ext cx="385445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9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T10</a:t>
            </a:r>
            <a:endParaRPr lang="ko-KR" altLang="en-US" sz="900" b="1">
              <a:solidFill>
                <a:srgbClr val="FF6B5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41" name="TextBox 41"/>
          <p:cNvSpPr txBox="1">
            <a:spLocks/>
          </p:cNvSpPr>
          <p:nvPr/>
        </p:nvSpPr>
        <p:spPr>
          <a:xfrm rot="0">
            <a:off x="6629400" y="2228850"/>
            <a:ext cx="1692910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9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저작·소송·법원·학습</a:t>
            </a:r>
            <a:endParaRPr lang="ko-KR" altLang="en-US" sz="9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42" name="TextBox 42"/>
          <p:cNvSpPr txBox="1">
            <a:spLocks/>
          </p:cNvSpPr>
          <p:nvPr/>
        </p:nvSpPr>
        <p:spPr>
          <a:xfrm rot="0">
            <a:off x="8385175" y="2228850"/>
            <a:ext cx="2287270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법적 분쟁과 학습데이터 정당성의 핵심 갈등</a:t>
            </a:r>
            <a:endParaRPr lang="ko-KR" altLang="en-US" sz="800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43" name="TextBox 43"/>
          <p:cNvSpPr txBox="1">
            <a:spLocks/>
          </p:cNvSpPr>
          <p:nvPr/>
        </p:nvSpPr>
        <p:spPr>
          <a:xfrm rot="0">
            <a:off x="6172200" y="2567305"/>
            <a:ext cx="385445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9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T11</a:t>
            </a:r>
            <a:endParaRPr lang="ko-KR" altLang="en-US" sz="900" b="1">
              <a:solidFill>
                <a:srgbClr val="FF6B5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44" name="TextBox 44"/>
          <p:cNvSpPr txBox="1">
            <a:spLocks/>
          </p:cNvSpPr>
          <p:nvPr/>
        </p:nvSpPr>
        <p:spPr>
          <a:xfrm rot="0">
            <a:off x="6629400" y="2557780"/>
            <a:ext cx="1692910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9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이미지 생성 트렌드</a:t>
            </a:r>
            <a:endParaRPr lang="ko-KR" altLang="en-US" sz="9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45" name="TextBox 45"/>
          <p:cNvSpPr txBox="1">
            <a:spLocks/>
          </p:cNvSpPr>
          <p:nvPr/>
        </p:nvSpPr>
        <p:spPr>
          <a:xfrm rot="0">
            <a:off x="8385175" y="2557780"/>
            <a:ext cx="2287270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특정 이미지 생성 서비스·유행 담론</a:t>
            </a:r>
            <a:endParaRPr lang="ko-KR" altLang="en-US" sz="800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46" name="TextBox 46"/>
          <p:cNvSpPr txBox="1">
            <a:spLocks/>
          </p:cNvSpPr>
          <p:nvPr/>
        </p:nvSpPr>
        <p:spPr>
          <a:xfrm rot="0">
            <a:off x="6172200" y="2896235"/>
            <a:ext cx="385445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9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T12</a:t>
            </a:r>
            <a:endParaRPr lang="ko-KR" altLang="en-US" sz="900" b="1">
              <a:solidFill>
                <a:srgbClr val="FF6B5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47" name="TextBox 47"/>
          <p:cNvSpPr txBox="1">
            <a:spLocks/>
          </p:cNvSpPr>
          <p:nvPr/>
        </p:nvSpPr>
        <p:spPr>
          <a:xfrm rot="0">
            <a:off x="6629400" y="2887345"/>
            <a:ext cx="1692910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9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게임·기업·콘텐츠 기술</a:t>
            </a:r>
            <a:endParaRPr lang="ko-KR" altLang="en-US" sz="9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48" name="TextBox 48"/>
          <p:cNvSpPr txBox="1">
            <a:spLocks/>
          </p:cNvSpPr>
          <p:nvPr/>
        </p:nvSpPr>
        <p:spPr>
          <a:xfrm rot="0">
            <a:off x="8385175" y="2887345"/>
            <a:ext cx="2287270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게임 콘텐츠와 기업 기술 적용 논의</a:t>
            </a:r>
            <a:endParaRPr lang="ko-KR" altLang="en-US" sz="800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49" name="TextBox 49"/>
          <p:cNvSpPr txBox="1">
            <a:spLocks/>
          </p:cNvSpPr>
          <p:nvPr/>
        </p:nvSpPr>
        <p:spPr>
          <a:xfrm rot="0">
            <a:off x="6172200" y="3225800"/>
            <a:ext cx="385445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9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T13</a:t>
            </a:r>
            <a:endParaRPr lang="ko-KR" altLang="en-US" sz="900" b="1">
              <a:solidFill>
                <a:srgbClr val="FF6B5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50" name="TextBox 50"/>
          <p:cNvSpPr txBox="1">
            <a:spLocks/>
          </p:cNvSpPr>
          <p:nvPr/>
        </p:nvSpPr>
        <p:spPr>
          <a:xfrm rot="0">
            <a:off x="6629400" y="3216275"/>
            <a:ext cx="1692910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9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로봇·인공지능 기술</a:t>
            </a:r>
            <a:endParaRPr lang="ko-KR" altLang="en-US" sz="9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51" name="TextBox 51"/>
          <p:cNvSpPr txBox="1">
            <a:spLocks/>
          </p:cNvSpPr>
          <p:nvPr/>
        </p:nvSpPr>
        <p:spPr>
          <a:xfrm rot="0">
            <a:off x="8385175" y="3216275"/>
            <a:ext cx="2287270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AI 기술 일반론과 자동화 담론</a:t>
            </a:r>
            <a:endParaRPr lang="ko-KR" altLang="en-US" sz="800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52" name="TextBox 52"/>
          <p:cNvSpPr txBox="1">
            <a:spLocks/>
          </p:cNvSpPr>
          <p:nvPr/>
        </p:nvSpPr>
        <p:spPr>
          <a:xfrm rot="0">
            <a:off x="6172200" y="3554730"/>
            <a:ext cx="385445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9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T14</a:t>
            </a:r>
            <a:endParaRPr lang="ko-KR" altLang="en-US" sz="900" b="1">
              <a:solidFill>
                <a:srgbClr val="FF6B5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53" name="TextBox 53"/>
          <p:cNvSpPr txBox="1">
            <a:spLocks/>
          </p:cNvSpPr>
          <p:nvPr/>
        </p:nvSpPr>
        <p:spPr>
          <a:xfrm rot="0">
            <a:off x="6629400" y="3545840"/>
            <a:ext cx="1692910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9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파일·저장·첨부</a:t>
            </a:r>
            <a:endParaRPr lang="ko-KR" altLang="en-US" sz="9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54" name="TextBox 54"/>
          <p:cNvSpPr txBox="1">
            <a:spLocks/>
          </p:cNvSpPr>
          <p:nvPr/>
        </p:nvSpPr>
        <p:spPr>
          <a:xfrm rot="0">
            <a:off x="8385175" y="3545840"/>
            <a:ext cx="2287270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데이터 내 잔여 노이즈 또는 사용법성 문서</a:t>
            </a:r>
            <a:endParaRPr lang="ko-KR" altLang="en-US" sz="800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55" name="TextBox 55"/>
          <p:cNvSpPr txBox="1">
            <a:spLocks/>
          </p:cNvSpPr>
          <p:nvPr/>
        </p:nvSpPr>
        <p:spPr>
          <a:xfrm rot="0">
            <a:off x="6172200" y="3883660"/>
            <a:ext cx="385445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9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T15</a:t>
            </a:r>
            <a:endParaRPr lang="ko-KR" altLang="en-US" sz="900" b="1">
              <a:solidFill>
                <a:srgbClr val="FF6B5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56" name="TextBox 56"/>
          <p:cNvSpPr txBox="1">
            <a:spLocks/>
          </p:cNvSpPr>
          <p:nvPr/>
        </p:nvSpPr>
        <p:spPr>
          <a:xfrm rot="0">
            <a:off x="6629400" y="3874770"/>
            <a:ext cx="1692910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9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스포츠·경기·시즌</a:t>
            </a:r>
            <a:endParaRPr lang="ko-KR" altLang="en-US" sz="9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57" name="TextBox 57"/>
          <p:cNvSpPr txBox="1">
            <a:spLocks/>
          </p:cNvSpPr>
          <p:nvPr/>
        </p:nvSpPr>
        <p:spPr>
          <a:xfrm rot="0">
            <a:off x="8385175" y="3874770"/>
            <a:ext cx="2287270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검색 쿼리 유입 노이즈 성격의 주변 토픽</a:t>
            </a:r>
            <a:endParaRPr lang="ko-KR" altLang="en-US" sz="800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58" name="TextBox 58"/>
          <p:cNvSpPr txBox="1">
            <a:spLocks/>
          </p:cNvSpPr>
          <p:nvPr/>
        </p:nvSpPr>
        <p:spPr>
          <a:xfrm rot="0">
            <a:off x="6172200" y="4213225"/>
            <a:ext cx="385445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9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T16</a:t>
            </a:r>
            <a:endParaRPr lang="ko-KR" altLang="en-US" sz="900" b="1">
              <a:solidFill>
                <a:srgbClr val="FF6B5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59" name="TextBox 59"/>
          <p:cNvSpPr txBox="1">
            <a:spLocks/>
          </p:cNvSpPr>
          <p:nvPr/>
        </p:nvSpPr>
        <p:spPr>
          <a:xfrm rot="0">
            <a:off x="6629400" y="4203700"/>
            <a:ext cx="1692910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9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트레이싱·방송·유튜브</a:t>
            </a:r>
            <a:endParaRPr lang="ko-KR" altLang="en-US" sz="9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60" name="TextBox 60"/>
          <p:cNvSpPr txBox="1">
            <a:spLocks/>
          </p:cNvSpPr>
          <p:nvPr/>
        </p:nvSpPr>
        <p:spPr>
          <a:xfrm rot="0">
            <a:off x="8385175" y="4203700"/>
            <a:ext cx="2287270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창작물 표절·트레이싱 논란과 플랫폼 영상</a:t>
            </a:r>
            <a:endParaRPr lang="ko-KR" altLang="en-US" sz="800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61" name="TextBox 61"/>
          <p:cNvSpPr txBox="1">
            <a:spLocks/>
          </p:cNvSpPr>
          <p:nvPr/>
        </p:nvSpPr>
        <p:spPr>
          <a:xfrm rot="0">
            <a:off x="6172200" y="4542155"/>
            <a:ext cx="385445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9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T17</a:t>
            </a:r>
            <a:endParaRPr lang="ko-KR" altLang="en-US" sz="900" b="1">
              <a:solidFill>
                <a:srgbClr val="FF6B5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62" name="TextBox 62"/>
          <p:cNvSpPr txBox="1">
            <a:spLocks/>
          </p:cNvSpPr>
          <p:nvPr/>
        </p:nvSpPr>
        <p:spPr>
          <a:xfrm rot="0">
            <a:off x="6629400" y="4533265"/>
            <a:ext cx="1692910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9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공장·시장·기술·보험</a:t>
            </a:r>
            <a:endParaRPr lang="ko-KR" altLang="en-US" sz="9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63" name="TextBox 63"/>
          <p:cNvSpPr txBox="1">
            <a:spLocks/>
          </p:cNvSpPr>
          <p:nvPr/>
        </p:nvSpPr>
        <p:spPr>
          <a:xfrm rot="0">
            <a:off x="8385175" y="4533265"/>
            <a:ext cx="2287270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산업·경제성 문맥의 주변 토픽</a:t>
            </a:r>
            <a:endParaRPr lang="ko-KR" altLang="en-US" sz="800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64" name="TextBox 64"/>
          <p:cNvSpPr txBox="1">
            <a:spLocks/>
          </p:cNvSpPr>
          <p:nvPr/>
        </p:nvSpPr>
        <p:spPr>
          <a:xfrm rot="0">
            <a:off x="6172200" y="4871720"/>
            <a:ext cx="385445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9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T18</a:t>
            </a:r>
            <a:endParaRPr lang="ko-KR" altLang="en-US" sz="900" b="1">
              <a:solidFill>
                <a:srgbClr val="FF6B5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65" name="TextBox 65"/>
          <p:cNvSpPr txBox="1">
            <a:spLocks/>
          </p:cNvSpPr>
          <p:nvPr/>
        </p:nvSpPr>
        <p:spPr>
          <a:xfrm rot="0">
            <a:off x="6629400" y="4862195"/>
            <a:ext cx="1692910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9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데이터센터·기업 투자</a:t>
            </a:r>
            <a:endParaRPr lang="ko-KR" altLang="en-US" sz="9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66" name="TextBox 66"/>
          <p:cNvSpPr txBox="1">
            <a:spLocks/>
          </p:cNvSpPr>
          <p:nvPr/>
        </p:nvSpPr>
        <p:spPr>
          <a:xfrm rot="0">
            <a:off x="8385175" y="4862195"/>
            <a:ext cx="2287270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AI 인프라 투자와 기업 성장 담론</a:t>
            </a:r>
            <a:endParaRPr lang="ko-KR" altLang="en-US" sz="800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67" name="TextBox 67"/>
          <p:cNvSpPr txBox="1"/>
          <p:nvPr/>
        </p:nvSpPr>
        <p:spPr>
          <a:xfrm>
            <a:off x="11247120" y="6610985"/>
            <a:ext cx="504190" cy="1295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r">
              <a:buFontTx/>
              <a:buNone/>
            </a:pPr>
            <a:r>
              <a:rPr lang="ko-KR" sz="7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1</a:t>
            </a:r>
            <a:r>
              <a:rPr lang="ko-KR" sz="7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6</a:t>
            </a:r>
            <a:endParaRPr lang="ko-KR" altLang="en-US" sz="700" b="1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68" name="텍스트 상자 138"/>
          <p:cNvSpPr txBox="1">
            <a:spLocks/>
          </p:cNvSpPr>
          <p:nvPr/>
        </p:nvSpPr>
        <p:spPr>
          <a:xfrm>
            <a:off x="657225" y="5857875"/>
            <a:ext cx="9278620" cy="554355"/>
          </a:xfrm>
          <a:prstGeom prst="rect"/>
          <a:noFill/>
        </p:spPr>
        <p:txBody>
          <a:bodyPr wrap="square" lIns="0" tIns="0" rIns="0" bIns="0" numCol="1" vert="horz" anchor="t">
            <a:spAutoFit/>
          </a:bodyPr>
          <a:lstStyle/>
          <a:p>
            <a:pPr marL="0" indent="0" algn="l" hangingPunct="1">
              <a:buFontTx/>
              <a:buNone/>
            </a:pPr>
            <a:r>
              <a:rPr lang="ko-KR" sz="1800" b="1">
                <a:solidFill>
                  <a:schemeClr val="accent3">
                    <a:lumMod val="75000"/>
                    <a:lumOff val="0"/>
                  </a:schemeClr>
                </a:solidFill>
                <a:latin typeface="맑은 고딕" charset="0"/>
                <a:ea typeface="맑은 고딕" charset="0"/>
              </a:rPr>
              <a:t>분석</a:t>
            </a:r>
            <a:r>
              <a:rPr lang="ko-KR" sz="1800" b="1">
                <a:solidFill>
                  <a:schemeClr val="accent3">
                    <a:lumMod val="75000"/>
                    <a:lumOff val="0"/>
                  </a:schemeClr>
                </a:solidFill>
                <a:latin typeface="맑은 고딕" charset="0"/>
                <a:ea typeface="맑은 고딕" charset="0"/>
              </a:rPr>
              <a:t> </a:t>
            </a:r>
            <a:r>
              <a:rPr lang="ko-KR" sz="1800" b="1">
                <a:solidFill>
                  <a:schemeClr val="accent3">
                    <a:lumMod val="75000"/>
                    <a:lumOff val="0"/>
                  </a:schemeClr>
                </a:solidFill>
                <a:latin typeface="맑은 고딕" charset="0"/>
                <a:ea typeface="맑은 고딕" charset="0"/>
              </a:rPr>
              <a:t>핵심 Topic</a:t>
            </a:r>
            <a:r>
              <a:rPr lang="ko-KR" sz="1800">
                <a:latin typeface="맑은 고딕" charset="0"/>
                <a:ea typeface="맑은 고딕" charset="0"/>
              </a:rPr>
              <a:t> : 0, 6, 7, 10, 16 (저작권과 법, 대기업과 소송이 직접 언급) </a:t>
            </a:r>
            <a:endParaRPr lang="ko-KR" altLang="en-US" sz="1800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800">
                <a:solidFill>
                  <a:schemeClr val="accent1">
                    <a:lumMod val="75000"/>
                    <a:lumOff val="0"/>
                  </a:schemeClr>
                </a:solidFill>
                <a:latin typeface="맑은 고딕" charset="0"/>
                <a:ea typeface="맑은 고딕" charset="0"/>
              </a:rPr>
              <a:t>분석 보조 Topic</a:t>
            </a:r>
            <a:r>
              <a:rPr lang="ko-KR" sz="1800">
                <a:latin typeface="맑은 고딕" charset="0"/>
                <a:ea typeface="맑은 고딕" charset="0"/>
              </a:rPr>
              <a:t> : 1, 8, 9 (콘텐츠 생성에 관한 토픽, 저작권 언급 확률 다소 높음)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70" name="텍스트 상자 143"/>
          <p:cNvSpPr txBox="1">
            <a:spLocks/>
          </p:cNvSpPr>
          <p:nvPr/>
        </p:nvSpPr>
        <p:spPr>
          <a:xfrm rot="0">
            <a:off x="904875" y="5391150"/>
            <a:ext cx="10344785" cy="64706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 b="1">
                <a:latin typeface="맑은 고딕" charset="0"/>
                <a:ea typeface="맑은 고딕" charset="0"/>
              </a:rPr>
              <a:t>‘</a:t>
            </a:r>
            <a:r>
              <a:rPr lang="ko-KR" sz="1800" b="1">
                <a:latin typeface="맑은 고딕" charset="0"/>
                <a:ea typeface="맑은 고딕" charset="0"/>
              </a:rPr>
              <a:t>AI </a:t>
            </a:r>
            <a:r>
              <a:rPr lang="ko-KR" sz="1800" b="1">
                <a:latin typeface="맑은 고딕" charset="0"/>
                <a:ea typeface="맑은 고딕" charset="0"/>
              </a:rPr>
              <a:t>저작권’</a:t>
            </a:r>
            <a:r>
              <a:rPr lang="ko-KR" sz="1800">
                <a:latin typeface="맑은 고딕" charset="0"/>
                <a:ea typeface="맑은 고딕" charset="0"/>
              </a:rPr>
              <a:t>에 </a:t>
            </a:r>
            <a:r>
              <a:rPr lang="ko-KR" sz="1800">
                <a:latin typeface="맑은 고딕" charset="0"/>
                <a:ea typeface="맑은 고딕" charset="0"/>
              </a:rPr>
              <a:t>관한 여론을 분석 해야하기에, </a:t>
            </a:r>
            <a:r>
              <a:rPr lang="ko-KR" sz="1800" b="1">
                <a:latin typeface="맑은 고딕" charset="0"/>
                <a:ea typeface="맑은 고딕" charset="0"/>
              </a:rPr>
              <a:t>분석 </a:t>
            </a:r>
            <a:r>
              <a:rPr lang="ko-KR" sz="1800" b="1">
                <a:latin typeface="맑은 고딕" charset="0"/>
                <a:ea typeface="맑은 고딕" charset="0"/>
              </a:rPr>
              <a:t>핵심 Topic</a:t>
            </a:r>
            <a:r>
              <a:rPr lang="ko-KR" sz="1800">
                <a:latin typeface="맑은 고딕" charset="0"/>
                <a:ea typeface="맑은 고딕" charset="0"/>
              </a:rPr>
              <a:t>과 </a:t>
            </a:r>
            <a:r>
              <a:rPr lang="ko-KR" sz="1800" b="1">
                <a:latin typeface="맑은 고딕" charset="0"/>
                <a:ea typeface="맑은 고딕" charset="0"/>
              </a:rPr>
              <a:t>분석 보조 Topic</a:t>
            </a:r>
            <a:r>
              <a:rPr lang="ko-KR" sz="1800">
                <a:latin typeface="맑은 고딕" charset="0"/>
                <a:ea typeface="맑은 고딕" charset="0"/>
              </a:rPr>
              <a:t> 그룹</a:t>
            </a:r>
            <a:r>
              <a:rPr lang="ko-KR" sz="1800">
                <a:latin typeface="맑은 고딕" charset="0"/>
                <a:ea typeface="맑은 고딕" charset="0"/>
              </a:rPr>
              <a:t>으로 구분.</a:t>
            </a:r>
            <a:endParaRPr lang="ko-KR" altLang="en-US" sz="1800">
              <a:latin typeface="맑은 고딕" charset="0"/>
              <a:ea typeface="맑은 고딕" charset="0"/>
            </a:endParaRPr>
          </a:p>
          <a:p>
            <a:pPr marL="0" indent="0" algn="l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71" name="텍스트 상자 140"/>
          <p:cNvSpPr txBox="1">
            <a:spLocks/>
          </p:cNvSpPr>
          <p:nvPr/>
        </p:nvSpPr>
        <p:spPr>
          <a:xfrm rot="0">
            <a:off x="411480" y="182880"/>
            <a:ext cx="3658870" cy="16573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06. </a:t>
            </a:r>
            <a:r>
              <a:rPr lang="ko-KR" sz="8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토픽 </a:t>
            </a:r>
            <a:r>
              <a:rPr lang="ko-KR" sz="8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모델링</a:t>
            </a:r>
            <a:endParaRPr lang="ko-KR" altLang="en-US" sz="800" b="1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AF0"/>
          </a:solidFill>
          <a:ln w="8890">
            <a:solidFill>
              <a:srgbClr val="FFFAF0"/>
            </a:solidFill>
          </a:ln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411480" y="182880"/>
            <a:ext cx="3658870" cy="1657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7. 감성분석</a:t>
            </a:r>
            <a:endParaRPr lang="ko-KR" altLang="en-US" sz="800" b="1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4" name="Line 4"/>
          <p:cNvSpPr/>
          <p:nvPr/>
        </p:nvSpPr>
        <p:spPr>
          <a:xfrm>
            <a:off x="411480" y="6510655"/>
            <a:ext cx="11384280" cy="0"/>
          </a:xfrm>
          <a:prstGeom prst="line">
            <a:avLst/>
          </a:prstGeom>
          <a:ln w="10160">
            <a:solidFill>
              <a:srgbClr val="E5DED3"/>
            </a:solidFill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548640" y="612775"/>
            <a:ext cx="2469515" cy="1466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SENTIMENT</a:t>
            </a: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 A</a:t>
            </a: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NALYSIS</a:t>
            </a:r>
            <a:endParaRPr lang="ko-KR" altLang="en-US" sz="800" b="1">
              <a:solidFill>
                <a:srgbClr val="FF6B5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30225" y="850265"/>
            <a:ext cx="7635875" cy="713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감성분석은 토픽별 갈등 강도를 수치화</a:t>
            </a: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함.</a:t>
            </a:r>
            <a:endParaRPr lang="ko-KR" altLang="en-US" sz="265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7" name="TextBox 7"/>
          <p:cNvSpPr txBox="1">
            <a:spLocks/>
          </p:cNvSpPr>
          <p:nvPr/>
        </p:nvSpPr>
        <p:spPr>
          <a:xfrm rot="0">
            <a:off x="548640" y="1315085"/>
            <a:ext cx="7178675" cy="31178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915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문서 단위 감성 결과를 최신 topic_num과 재결합해 토픽별 ABSA를 산출</a:t>
            </a:r>
            <a:r>
              <a:rPr lang="ko-KR" sz="915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함.</a:t>
            </a:r>
            <a:endParaRPr lang="ko-KR" altLang="en-US" sz="915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1247120" y="6610985"/>
            <a:ext cx="504190" cy="1295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r">
              <a:buFontTx/>
              <a:buNone/>
            </a:pPr>
            <a:r>
              <a:rPr lang="ko-KR" sz="7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1</a:t>
            </a:r>
            <a:r>
              <a:rPr lang="ko-KR" sz="7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7</a:t>
            </a:r>
            <a:endParaRPr lang="ko-KR" altLang="en-US" sz="700" b="1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5" name="텍스트 상자 142"/>
          <p:cNvSpPr txBox="1">
            <a:spLocks/>
          </p:cNvSpPr>
          <p:nvPr/>
        </p:nvSpPr>
        <p:spPr>
          <a:xfrm rot="0">
            <a:off x="6886575" y="1628775"/>
            <a:ext cx="4648835" cy="230822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sz="1800" b="1">
                <a:latin typeface="맑은 고딕" charset="0"/>
                <a:ea typeface="맑은 고딕" charset="0"/>
              </a:rPr>
              <a:t>분석 </a:t>
            </a:r>
            <a:r>
              <a:rPr sz="1800" b="1">
                <a:latin typeface="맑은 고딕" charset="0"/>
                <a:ea typeface="맑은 고딕" charset="0"/>
              </a:rPr>
              <a:t>핵심 Topic : </a:t>
            </a:r>
            <a:r>
              <a:rPr lang="ko-KR" sz="1800" b="1">
                <a:latin typeface="맑은 고딕" charset="0"/>
                <a:ea typeface="맑은 고딕" charset="0"/>
              </a:rPr>
              <a:t>0, </a:t>
            </a:r>
            <a:r>
              <a:rPr lang="ko-KR" sz="1800" b="1">
                <a:latin typeface="맑은 고딕" charset="0"/>
                <a:ea typeface="맑은 고딕" charset="0"/>
              </a:rPr>
              <a:t>6</a:t>
            </a:r>
            <a:r>
              <a:rPr lang="ko-KR" sz="1800" b="1">
                <a:latin typeface="맑은 고딕" charset="0"/>
                <a:ea typeface="맑은 고딕" charset="0"/>
              </a:rPr>
              <a:t>, 7, 10,</a:t>
            </a:r>
            <a:r>
              <a:rPr lang="ko-KR" sz="1800" b="1">
                <a:latin typeface="맑은 고딕" charset="0"/>
                <a:ea typeface="맑은 고딕" charset="0"/>
              </a:rPr>
              <a:t> </a:t>
            </a:r>
            <a:r>
              <a:rPr lang="ko-KR" sz="1800" b="1">
                <a:latin typeface="맑은 고딕" charset="0"/>
                <a:ea typeface="맑은 고딕" charset="0"/>
              </a:rPr>
              <a:t>16</a:t>
            </a:r>
            <a:r>
              <a:rPr lang="ko-KR" sz="1800" b="1">
                <a:latin typeface="맑은 고딕" charset="0"/>
                <a:ea typeface="맑은 고딕" charset="0"/>
              </a:rPr>
              <a:t> </a:t>
            </a:r>
            <a:r>
              <a:rPr lang="ko-KR" sz="1800">
                <a:latin typeface="맑은 고딕" charset="0"/>
                <a:ea typeface="맑은 고딕" charset="0"/>
              </a:rPr>
              <a:t>중</a:t>
            </a:r>
            <a:endParaRPr lang="ko-KR" altLang="en-US" sz="1800">
              <a:latin typeface="맑은 고딕" charset="0"/>
              <a:ea typeface="맑은 고딕" charset="0"/>
            </a:endParaRPr>
          </a:p>
          <a:p>
            <a:pPr marL="0" indent="0" algn="l" hangingPunct="1"/>
            <a:endParaRPr lang="ko-KR" altLang="en-US" sz="1800">
              <a:latin typeface="맑은 고딕" charset="0"/>
              <a:ea typeface="맑은 고딕" charset="0"/>
            </a:endParaRPr>
          </a:p>
          <a:p>
            <a:pPr marL="0" indent="0" algn="l" hangingPunct="1"/>
            <a:r>
              <a:rPr lang="ko-KR" sz="1800">
                <a:latin typeface="맑은 고딕" charset="0"/>
                <a:ea typeface="맑은 고딕" charset="0"/>
              </a:rPr>
              <a:t>T</a:t>
            </a:r>
            <a:r>
              <a:rPr lang="ko-KR" sz="1800">
                <a:latin typeface="맑은 고딕" charset="0"/>
                <a:ea typeface="맑은 고딕" charset="0"/>
              </a:rPr>
              <a:t>opic 0과 Topic</a:t>
            </a:r>
            <a:r>
              <a:rPr lang="ko-KR" sz="1800">
                <a:latin typeface="맑은 고딕" charset="0"/>
                <a:ea typeface="맑은 고딕" charset="0"/>
              </a:rPr>
              <a:t> </a:t>
            </a:r>
            <a:r>
              <a:rPr lang="ko-KR" sz="1800">
                <a:latin typeface="맑은 고딕" charset="0"/>
                <a:ea typeface="맑은 고딕" charset="0"/>
              </a:rPr>
              <a:t>16은 정보 전달</a:t>
            </a:r>
            <a:r>
              <a:rPr lang="ko-KR" sz="1800">
                <a:latin typeface="맑은 고딕" charset="0"/>
                <a:ea typeface="맑은 고딕" charset="0"/>
              </a:rPr>
              <a:t>의 </a:t>
            </a:r>
            <a:r>
              <a:rPr lang="ko-KR" sz="1800">
                <a:latin typeface="맑은 고딕" charset="0"/>
                <a:ea typeface="맑은 고딕" charset="0"/>
              </a:rPr>
              <a:t>글로</a:t>
            </a:r>
            <a:endParaRPr lang="ko-KR" altLang="en-US" sz="1800">
              <a:latin typeface="맑은 고딕" charset="0"/>
              <a:ea typeface="맑은 고딕" charset="0"/>
            </a:endParaRPr>
          </a:p>
          <a:p>
            <a:pPr marL="0" indent="0" algn="l" hangingPunct="1"/>
            <a:r>
              <a:rPr lang="ko-KR" sz="1800">
                <a:latin typeface="맑은 고딕" charset="0"/>
                <a:ea typeface="맑은 고딕" charset="0"/>
              </a:rPr>
              <a:t>감성</a:t>
            </a:r>
            <a:r>
              <a:rPr lang="ko-KR" sz="1800">
                <a:latin typeface="맑은 고딕" charset="0"/>
                <a:ea typeface="맑은 고딕" charset="0"/>
              </a:rPr>
              <a:t>비율이 </a:t>
            </a:r>
            <a:r>
              <a:rPr lang="ko-KR" sz="1800" b="1">
                <a:latin typeface="맑은 고딕" charset="0"/>
                <a:ea typeface="맑은 고딕" charset="0"/>
              </a:rPr>
              <a:t>중립적으로</a:t>
            </a:r>
            <a:r>
              <a:rPr lang="ko-KR" sz="1800" b="1">
                <a:latin typeface="맑은 고딕" charset="0"/>
                <a:ea typeface="맑은 고딕" charset="0"/>
              </a:rPr>
              <a:t> 희석</a:t>
            </a:r>
            <a:r>
              <a:rPr lang="ko-KR" sz="1800">
                <a:latin typeface="맑은 고딕" charset="0"/>
                <a:ea typeface="맑은 고딕" charset="0"/>
              </a:rPr>
              <a:t>됨.</a:t>
            </a:r>
            <a:endParaRPr lang="ko-KR" altLang="en-US" sz="1800">
              <a:latin typeface="맑은 고딕" charset="0"/>
              <a:ea typeface="맑은 고딕" charset="0"/>
            </a:endParaRPr>
          </a:p>
          <a:p>
            <a:pPr marL="0" indent="0" algn="l" hangingPunct="1"/>
            <a:endParaRPr lang="ko-KR" altLang="en-US" sz="1800">
              <a:latin typeface="맑은 고딕" charset="0"/>
              <a:ea typeface="맑은 고딕" charset="0"/>
            </a:endParaRPr>
          </a:p>
          <a:p>
            <a:pPr marL="0" indent="0" algn="l" hangingPunct="1"/>
            <a:r>
              <a:rPr lang="ko-KR" sz="1800">
                <a:latin typeface="맑은 고딕" charset="0"/>
                <a:ea typeface="맑은 고딕" charset="0"/>
              </a:rPr>
              <a:t>반면에 직접적으로 소송과 법이 언급된</a:t>
            </a:r>
            <a:endParaRPr lang="ko-KR" altLang="en-US" sz="1800">
              <a:latin typeface="맑은 고딕" charset="0"/>
              <a:ea typeface="맑은 고딕" charset="0"/>
            </a:endParaRPr>
          </a:p>
          <a:p>
            <a:pPr marL="0" indent="0" algn="l" hangingPunct="1"/>
            <a:r>
              <a:rPr lang="ko-KR" sz="1800">
                <a:latin typeface="맑은 고딕" charset="0"/>
                <a:ea typeface="맑은 고딕" charset="0"/>
              </a:rPr>
              <a:t>To</a:t>
            </a:r>
            <a:r>
              <a:rPr lang="ko-KR" sz="1800">
                <a:latin typeface="맑은 고딕" charset="0"/>
                <a:ea typeface="맑은 고딕" charset="0"/>
              </a:rPr>
              <a:t>p</a:t>
            </a:r>
            <a:r>
              <a:rPr lang="ko-KR" sz="1800">
                <a:latin typeface="맑은 고딕" charset="0"/>
                <a:ea typeface="맑은 고딕" charset="0"/>
              </a:rPr>
              <a:t>ic 6, </a:t>
            </a:r>
            <a:r>
              <a:rPr lang="ko-KR" sz="1800">
                <a:latin typeface="맑은 고딕" charset="0"/>
                <a:ea typeface="맑은 고딕" charset="0"/>
              </a:rPr>
              <a:t>T</a:t>
            </a:r>
            <a:r>
              <a:rPr lang="ko-KR" sz="1800">
                <a:latin typeface="맑은 고딕" charset="0"/>
                <a:ea typeface="맑은 고딕" charset="0"/>
              </a:rPr>
              <a:t>opic 7, Topic 10은 </a:t>
            </a:r>
            <a:r>
              <a:rPr lang="ko-KR" sz="1800" b="1">
                <a:solidFill>
                  <a:srgbClr val="FF0000"/>
                </a:solidFill>
                <a:latin typeface="맑은 고딕" charset="0"/>
                <a:ea typeface="맑은 고딕" charset="0"/>
              </a:rPr>
              <a:t>부정</a:t>
            </a:r>
            <a:r>
              <a:rPr lang="ko-KR" sz="1800" b="1">
                <a:solidFill>
                  <a:srgbClr val="FF0000"/>
                </a:solidFill>
                <a:latin typeface="맑은 고딕" charset="0"/>
                <a:ea typeface="맑은 고딕" charset="0"/>
              </a:rPr>
              <a:t>비율</a:t>
            </a:r>
            <a:r>
              <a:rPr lang="ko-KR" sz="1800" b="1">
                <a:latin typeface="맑은 고딕" charset="0"/>
                <a:ea typeface="맑은 고딕" charset="0"/>
              </a:rPr>
              <a:t>이</a:t>
            </a:r>
            <a:endParaRPr lang="ko-KR" altLang="en-US" sz="1800">
              <a:latin typeface="맑은 고딕" charset="0"/>
              <a:ea typeface="맑은 고딕" charset="0"/>
            </a:endParaRPr>
          </a:p>
          <a:p>
            <a:pPr marL="0" indent="0" algn="l" hangingPunct="1"/>
            <a:r>
              <a:rPr lang="ko-KR" sz="1800" b="1">
                <a:solidFill>
                  <a:srgbClr val="36B700"/>
                </a:solidFill>
                <a:latin typeface="맑은 고딕" charset="0"/>
                <a:ea typeface="맑은 고딕" charset="0"/>
              </a:rPr>
              <a:t>긍정비율</a:t>
            </a:r>
            <a:r>
              <a:rPr lang="ko-KR" sz="1800">
                <a:latin typeface="맑은 고딕" charset="0"/>
                <a:ea typeface="맑은 고딕" charset="0"/>
              </a:rPr>
              <a:t>보다 </a:t>
            </a:r>
            <a:r>
              <a:rPr lang="ko-KR" sz="1800">
                <a:latin typeface="맑은 고딕" charset="0"/>
                <a:ea typeface="맑은 고딕" charset="0"/>
              </a:rPr>
              <a:t>명확</a:t>
            </a:r>
            <a:r>
              <a:rPr lang="ko-KR" sz="1800">
                <a:latin typeface="맑은 고딕" charset="0"/>
                <a:ea typeface="맑은 고딕" charset="0"/>
              </a:rPr>
              <a:t>하게 </a:t>
            </a:r>
            <a:r>
              <a:rPr lang="ko-KR" sz="1800" b="1">
                <a:latin typeface="맑은 고딕" charset="0"/>
                <a:ea typeface="맑은 고딕" charset="0"/>
              </a:rPr>
              <a:t>높음</a:t>
            </a:r>
            <a:r>
              <a:rPr lang="ko-KR" sz="1800">
                <a:latin typeface="맑은 고딕" charset="0"/>
                <a:ea typeface="맑은 고딕" charset="0"/>
              </a:rPr>
              <a:t>을 알 </a:t>
            </a:r>
            <a:r>
              <a:rPr lang="ko-KR" sz="1800">
                <a:latin typeface="맑은 고딕" charset="0"/>
                <a:ea typeface="맑은 고딕" charset="0"/>
              </a:rPr>
              <a:t>수 </a:t>
            </a:r>
            <a:r>
              <a:rPr lang="ko-KR" sz="1800">
                <a:latin typeface="맑은 고딕" charset="0"/>
                <a:ea typeface="맑은 고딕" charset="0"/>
              </a:rPr>
              <a:t>있음.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pic>
        <p:nvPicPr>
          <p:cNvPr id="26" name="그림 6" descr="C:/Users/WHKONG/AppData/Roaming/PolarisOffice/ETemp/20104_8463808/fImage1223535179169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547370" y="1536700"/>
            <a:ext cx="6214110" cy="4594860"/>
          </a:xfrm>
          <a:prstGeom prst="rect"/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</a:ln>
          <a:effectLst>
            <a:outerShdw sx="100000" sy="100000" blurRad="50800" dist="38100" dir="0" rotWithShape="0" algn="l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/>
          </p:cNvSpPr>
          <p:nvPr/>
        </p:nvSpPr>
        <p:spPr>
          <a:xfrm rot="0">
            <a:off x="0" y="0"/>
            <a:ext cx="12192635" cy="6858635"/>
          </a:xfrm>
          <a:prstGeom prst="rect"/>
          <a:solidFill>
            <a:srgbClr val="FFFAF0"/>
          </a:solidFill>
          <a:ln w="8890" cap="flat" cmpd="sng">
            <a:solidFill>
              <a:srgbClr val="FFFAF0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>
              <a:defRPr/>
            </a:pPr>
            <a:endParaRPr lang="ko-KR" altLang="en-US"/>
          </a:p>
        </p:txBody>
      </p:sp>
      <p:cxnSp>
        <p:nvCxnSpPr>
          <p:cNvPr id="4" name="Rect 0"/>
          <p:cNvCxnSpPr/>
          <p:nvPr/>
        </p:nvCxnSpPr>
        <p:spPr>
          <a:xfrm rot="0">
            <a:off x="411480" y="6510655"/>
            <a:ext cx="11384915" cy="635"/>
          </a:xfrm>
          <a:prstGeom prst="line"/>
          <a:ln w="10160" cap="flat" cmpd="sng">
            <a:solidFill>
              <a:srgbClr val="E5DED3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 0"/>
          <p:cNvSpPr txBox="1">
            <a:spLocks/>
          </p:cNvSpPr>
          <p:nvPr/>
        </p:nvSpPr>
        <p:spPr>
          <a:xfrm rot="0">
            <a:off x="548640" y="612775"/>
            <a:ext cx="2470150" cy="14732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SENTIMENT ANALYSIS</a:t>
            </a:r>
            <a:endParaRPr lang="ko-KR" altLang="en-US" sz="800" b="1">
              <a:solidFill>
                <a:srgbClr val="FF6B5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6" name="Rect 0"/>
          <p:cNvSpPr txBox="1">
            <a:spLocks/>
          </p:cNvSpPr>
          <p:nvPr/>
        </p:nvSpPr>
        <p:spPr>
          <a:xfrm rot="0">
            <a:off x="530225" y="850265"/>
            <a:ext cx="7636510" cy="71437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감성분석은 토픽별 갈등 강도를 수치화함.</a:t>
            </a:r>
            <a:endParaRPr lang="ko-KR" altLang="en-US" sz="265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 rot="0">
            <a:off x="548640" y="1315085"/>
            <a:ext cx="7179310" cy="31242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915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문서 단위 감성 결과를 최신 topic_num과 재결합해 토픽별 ABSA를 산출함.</a:t>
            </a:r>
            <a:endParaRPr lang="ko-KR" altLang="en-US" sz="915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3" name="Rect 0"/>
          <p:cNvSpPr txBox="1">
            <a:spLocks/>
          </p:cNvSpPr>
          <p:nvPr/>
        </p:nvSpPr>
        <p:spPr>
          <a:xfrm>
            <a:off x="11247120" y="6610985"/>
            <a:ext cx="504825" cy="13017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r">
              <a:buFontTx/>
              <a:buNone/>
            </a:pPr>
            <a:r>
              <a:rPr lang="ko-KR" sz="7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1</a:t>
            </a:r>
            <a:r>
              <a:rPr lang="ko-KR" sz="7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8</a:t>
            </a:r>
            <a:endParaRPr lang="ko-KR" altLang="en-US" sz="700" b="1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pic>
        <p:nvPicPr>
          <p:cNvPr id="26" name="그림 4" descr="C:/Users/WHKONG/AppData/Roaming/PolarisOffice/ETemp/20104_8463808/fImage5368747541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548640" y="1725295"/>
            <a:ext cx="10699750" cy="4131310"/>
          </a:xfrm>
          <a:prstGeom prst="rect"/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</a:ln>
          <a:effectLst>
            <a:outerShdw sx="100000" sy="100000" blurRad="50800" dist="38100" dir="0" rotWithShape="0" algn="l">
              <a:srgbClr val="000000">
                <a:alpha val="40000"/>
              </a:srgbClr>
            </a:outerShdw>
          </a:effectLst>
        </p:spPr>
      </p:pic>
      <p:sp>
        <p:nvSpPr>
          <p:cNvPr id="27" name="텍스트 상자 141"/>
          <p:cNvSpPr txBox="1">
            <a:spLocks/>
          </p:cNvSpPr>
          <p:nvPr/>
        </p:nvSpPr>
        <p:spPr>
          <a:xfrm rot="0">
            <a:off x="411480" y="182880"/>
            <a:ext cx="3658870" cy="16573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7. 감성분석</a:t>
            </a:r>
            <a:endParaRPr lang="ko-KR" altLang="en-US" sz="800" b="1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AF0"/>
          </a:solidFill>
          <a:ln w="8890">
            <a:solidFill>
              <a:srgbClr val="FFFAF0"/>
            </a:solidFill>
          </a:ln>
        </p:spPr>
        <p:txBody>
          <a:bodyPr/>
          <a:lstStyle/>
          <a:p/>
        </p:txBody>
      </p:sp>
      <p:cxnSp>
        <p:nvCxnSpPr>
          <p:cNvPr id="4" name="Line 4"/>
          <p:cNvCxnSpPr/>
          <p:nvPr/>
        </p:nvCxnSpPr>
        <p:spPr>
          <a:xfrm rot="0">
            <a:off x="401320" y="6870700"/>
            <a:ext cx="11384915" cy="635"/>
          </a:xfrm>
          <a:prstGeom prst="line"/>
          <a:ln w="10160" cap="flat" cmpd="sng">
            <a:solidFill>
              <a:srgbClr val="E5DED3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6"/>
          <p:cNvSpPr txBox="1">
            <a:spLocks/>
          </p:cNvSpPr>
          <p:nvPr/>
        </p:nvSpPr>
        <p:spPr>
          <a:xfrm rot="0">
            <a:off x="530225" y="850265"/>
            <a:ext cx="11550650" cy="71437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갈등은 ‘</a:t>
            </a: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A</a:t>
            </a: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I</a:t>
            </a: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생성을 통한 </a:t>
            </a: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산업 </a:t>
            </a: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성장 </a:t>
            </a: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V</a:t>
            </a: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S</a:t>
            </a: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무단학습과 </a:t>
            </a: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저작권 침해’로 확인</a:t>
            </a: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됨.</a:t>
            </a:r>
            <a:endParaRPr lang="ko-KR" altLang="en-US" sz="265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7" name="TextBox 7"/>
          <p:cNvSpPr txBox="1">
            <a:spLocks/>
          </p:cNvSpPr>
          <p:nvPr/>
        </p:nvSpPr>
        <p:spPr>
          <a:xfrm rot="0">
            <a:off x="548640" y="1292225"/>
            <a:ext cx="7179310" cy="31242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000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긍정, 부정</a:t>
            </a:r>
            <a:r>
              <a:rPr lang="ko-KR" sz="1000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의 </a:t>
            </a:r>
            <a:r>
              <a:rPr lang="ko-KR" sz="1000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성격을 띄는 </a:t>
            </a:r>
            <a:r>
              <a:rPr lang="ko-KR" sz="1000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문서에서 고빈도로 언급된 긍정 단어와 부정 단어를 확인하여 원인을 파악함. </a:t>
            </a:r>
            <a:endParaRPr lang="ko-KR" altLang="en-US" sz="1000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8" name="Shape 8"/>
          <p:cNvSpPr>
            <a:spLocks/>
          </p:cNvSpPr>
          <p:nvPr/>
        </p:nvSpPr>
        <p:spPr>
          <a:xfrm rot="0">
            <a:off x="685800" y="1971675"/>
            <a:ext cx="3247390" cy="3762375"/>
          </a:xfrm>
          <a:prstGeom prst="roundRect"/>
          <a:solidFill>
            <a:srgbClr val="FF6B5A"/>
          </a:solidFill>
          <a:ln w="889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 marL="0" indent="0">
              <a:buFontTx/>
              <a:buNone/>
              <a:defRPr/>
            </a:pPr>
            <a:endParaRPr lang="ko-KR" altLang="en-US"/>
          </a:p>
        </p:txBody>
      </p:sp>
      <p:sp>
        <p:nvSpPr>
          <p:cNvPr id="9" name="TextBox 9"/>
          <p:cNvSpPr txBox="1">
            <a:spLocks/>
          </p:cNvSpPr>
          <p:nvPr/>
        </p:nvSpPr>
        <p:spPr>
          <a:xfrm>
            <a:off x="895985" y="2181225"/>
            <a:ext cx="2827020" cy="119253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ctr">
              <a:buFontTx/>
              <a:buNone/>
            </a:pPr>
            <a:r>
              <a:rPr lang="ko-KR" sz="1600" b="1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데이터 기술 토픽</a:t>
            </a:r>
            <a:endParaRPr lang="ko-KR" altLang="en-US" sz="1600" b="1">
              <a:solidFill>
                <a:schemeClr val="tx1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ctr">
              <a:buFontTx/>
              <a:buNone/>
            </a:pPr>
            <a:endParaRPr lang="ko-KR" altLang="en-US" sz="1600" b="1">
              <a:solidFill>
                <a:schemeClr val="tx1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ctr">
              <a:buFontTx/>
              <a:buNone/>
            </a:pPr>
            <a:r>
              <a:rPr lang="ko-KR" sz="1600" b="1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T</a:t>
            </a:r>
            <a:r>
              <a:rPr lang="ko-KR" sz="1600" b="1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opic 0, </a:t>
            </a:r>
            <a:r>
              <a:rPr lang="ko-KR" sz="1600" b="1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Topic 1</a:t>
            </a:r>
            <a:endParaRPr lang="ko-KR" altLang="en-US" sz="1600" b="1">
              <a:solidFill>
                <a:schemeClr val="tx1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0" name="TextBox 10"/>
          <p:cNvSpPr txBox="1">
            <a:spLocks/>
          </p:cNvSpPr>
          <p:nvPr/>
        </p:nvSpPr>
        <p:spPr>
          <a:xfrm>
            <a:off x="905510" y="3202940"/>
            <a:ext cx="2827020" cy="301180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200" b="1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데이터</a:t>
            </a:r>
            <a:r>
              <a:rPr lang="ko-KR" sz="1200" b="1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1200" b="1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기술 활용</a:t>
            </a:r>
            <a:r>
              <a:rPr lang="ko-KR" sz="12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에</a:t>
            </a:r>
            <a:r>
              <a:rPr lang="ko-KR" sz="12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12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대한</a:t>
            </a:r>
            <a:r>
              <a:rPr lang="ko-KR" sz="12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12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토픽에서는</a:t>
            </a:r>
            <a:endParaRPr lang="ko-KR" altLang="en-US" sz="1200">
              <a:solidFill>
                <a:schemeClr val="tx1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endParaRPr lang="ko-KR" altLang="en-US" sz="1200">
              <a:solidFill>
                <a:schemeClr val="tx1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ko-KR" sz="1400" b="1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생성, 모델, 활용, 서비스, 산업 , </a:t>
            </a:r>
            <a:endParaRPr lang="ko-KR" altLang="en-US" sz="1400" b="1">
              <a:solidFill>
                <a:schemeClr val="tx1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ko-KR" sz="1400" b="1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성장</a:t>
            </a:r>
            <a:endParaRPr lang="ko-KR" altLang="en-US" sz="1400" b="1">
              <a:solidFill>
                <a:schemeClr val="tx1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endParaRPr lang="ko-KR" altLang="en-US" sz="1200">
              <a:solidFill>
                <a:schemeClr val="tx1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ko-KR" sz="12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과 같은 </a:t>
            </a:r>
            <a:r>
              <a:rPr lang="ko-KR" sz="1200" b="1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서비스와 산업 성장 기대감</a:t>
            </a:r>
            <a:r>
              <a:rPr lang="ko-KR" sz="12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에 </a:t>
            </a:r>
            <a:endParaRPr lang="ko-KR" altLang="en-US" sz="1200">
              <a:solidFill>
                <a:schemeClr val="tx1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ko-KR" sz="12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대한 긍정 단어가 확인되며</a:t>
            </a:r>
            <a:endParaRPr lang="ko-KR" altLang="en-US" sz="1200">
              <a:solidFill>
                <a:schemeClr val="tx1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endParaRPr lang="ko-KR" altLang="en-US" sz="1400">
              <a:solidFill>
                <a:schemeClr val="tx1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ko-KR" sz="1400" b="1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저작, 생성, 모델, 학습, 보호</a:t>
            </a:r>
            <a:endParaRPr lang="ko-KR" altLang="en-US" sz="1400" b="1">
              <a:solidFill>
                <a:schemeClr val="tx1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endParaRPr lang="ko-KR" altLang="en-US" sz="1200">
              <a:solidFill>
                <a:schemeClr val="tx1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ko-KR" sz="12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와 같이 </a:t>
            </a:r>
            <a:r>
              <a:rPr lang="ko-KR" sz="1200" b="1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무단학습과 저작권 침해</a:t>
            </a:r>
            <a:r>
              <a:rPr lang="ko-KR" sz="12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에 대한</a:t>
            </a:r>
            <a:endParaRPr lang="ko-KR" altLang="en-US" sz="1200">
              <a:solidFill>
                <a:schemeClr val="tx1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ko-KR" sz="12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부정 단어가 확인됨</a:t>
            </a:r>
            <a:endParaRPr lang="ko-KR" altLang="en-US" sz="1200">
              <a:solidFill>
                <a:schemeClr val="tx1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2" name="Shape 12"/>
          <p:cNvSpPr>
            <a:spLocks/>
          </p:cNvSpPr>
          <p:nvPr/>
        </p:nvSpPr>
        <p:spPr>
          <a:xfrm rot="0">
            <a:off x="4453255" y="1971675"/>
            <a:ext cx="3247390" cy="3762375"/>
          </a:xfrm>
          <a:prstGeom prst="roundRect"/>
          <a:solidFill>
            <a:srgbClr val="A4D4C5"/>
          </a:solidFill>
          <a:ln w="889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 marL="0" indent="0">
              <a:buFontTx/>
              <a:buNone/>
              <a:defRPr/>
            </a:pPr>
            <a:endParaRPr lang="ko-KR" altLang="en-US"/>
          </a:p>
        </p:txBody>
      </p:sp>
      <p:sp>
        <p:nvSpPr>
          <p:cNvPr id="13" name="TextBox 13"/>
          <p:cNvSpPr txBox="1">
            <a:spLocks/>
          </p:cNvSpPr>
          <p:nvPr/>
        </p:nvSpPr>
        <p:spPr>
          <a:xfrm>
            <a:off x="4663440" y="2181225"/>
            <a:ext cx="2827020" cy="119253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ctr">
              <a:buFontTx/>
              <a:buNone/>
            </a:pPr>
            <a:r>
              <a:rPr lang="ko-KR" sz="16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법적 갈등 토픽</a:t>
            </a:r>
            <a:endParaRPr lang="ko-KR" altLang="en-US" sz="16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ctr">
              <a:buFontTx/>
              <a:buNone/>
            </a:pPr>
            <a:endParaRPr lang="ko-KR" altLang="en-US" sz="16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ctr">
              <a:buFontTx/>
              <a:buNone/>
            </a:pPr>
            <a:r>
              <a:rPr lang="ko-KR" sz="16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Topic 6,</a:t>
            </a:r>
            <a:r>
              <a:rPr lang="ko-KR" sz="16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16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Topic 7,</a:t>
            </a:r>
            <a:r>
              <a:rPr lang="ko-KR" sz="16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16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Topic 10</a:t>
            </a:r>
            <a:endParaRPr lang="ko-KR" altLang="en-US" sz="16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4" name="TextBox 14"/>
          <p:cNvSpPr txBox="1">
            <a:spLocks/>
          </p:cNvSpPr>
          <p:nvPr/>
        </p:nvSpPr>
        <p:spPr>
          <a:xfrm>
            <a:off x="4672965" y="3202940"/>
            <a:ext cx="2827020" cy="301180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2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법적 갈등 토픽</a:t>
            </a:r>
            <a:r>
              <a:rPr lang="ko-KR" sz="12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에서는 </a:t>
            </a:r>
            <a:endParaRPr lang="ko-KR" altLang="en-US" sz="1200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endParaRPr lang="ko-KR" altLang="en-US" sz="1400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ko-KR" sz="14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저작, 소송, 모델, 학습, 공정, 이용</a:t>
            </a:r>
            <a:endParaRPr lang="ko-KR" altLang="en-US" sz="14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endParaRPr lang="ko-KR" altLang="en-US" sz="1200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ko-KR" sz="12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과 같이 </a:t>
            </a:r>
            <a:r>
              <a:rPr lang="ko-KR" sz="12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모델의 학습은 공정한 데이터 </a:t>
            </a:r>
            <a:endParaRPr lang="ko-KR" altLang="en-US" sz="12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ko-KR" sz="12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이용</a:t>
            </a:r>
            <a:r>
              <a:rPr lang="ko-KR" sz="12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이라는 주장의 긍정 단어가 확인되며</a:t>
            </a:r>
            <a:endParaRPr lang="ko-KR" altLang="en-US" sz="1200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endParaRPr lang="ko-KR" altLang="en-US" sz="1200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ko-KR" sz="14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저작, 소송, 학습, 침해, 무단, 사건</a:t>
            </a:r>
            <a:endParaRPr lang="ko-KR" altLang="en-US" sz="14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endParaRPr lang="ko-KR" altLang="en-US" sz="1200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ko-KR" sz="12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과 같은 </a:t>
            </a:r>
            <a:r>
              <a:rPr lang="ko-KR" sz="12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모델의 무단학습은 저작권 침해</a:t>
            </a:r>
            <a:r>
              <a:rPr lang="ko-KR" sz="12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라는 상반된 주장과 부정 단어가 확인됨 </a:t>
            </a:r>
            <a:endParaRPr lang="ko-KR" altLang="en-US" sz="1200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6" name="Shape 16"/>
          <p:cNvSpPr>
            <a:spLocks/>
          </p:cNvSpPr>
          <p:nvPr/>
        </p:nvSpPr>
        <p:spPr>
          <a:xfrm rot="0">
            <a:off x="8220710" y="1971675"/>
            <a:ext cx="3247390" cy="3762375"/>
          </a:xfrm>
          <a:prstGeom prst="roundRect"/>
          <a:solidFill>
            <a:srgbClr val="B8A4ED"/>
          </a:solidFill>
          <a:ln w="889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 marL="0" indent="0">
              <a:buFontTx/>
              <a:buNone/>
              <a:defRPr/>
            </a:pPr>
            <a:endParaRPr lang="ko-KR" altLang="en-US"/>
          </a:p>
        </p:txBody>
      </p:sp>
      <p:sp>
        <p:nvSpPr>
          <p:cNvPr id="17" name="TextBox 17"/>
          <p:cNvSpPr txBox="1">
            <a:spLocks/>
          </p:cNvSpPr>
          <p:nvPr/>
        </p:nvSpPr>
        <p:spPr>
          <a:xfrm rot="0">
            <a:off x="8430895" y="2181225"/>
            <a:ext cx="2826385" cy="119189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ctr">
              <a:buFontTx/>
              <a:buNone/>
            </a:pPr>
            <a:r>
              <a:rPr lang="ko-KR" sz="16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콘텐츠 </a:t>
            </a:r>
            <a:r>
              <a:rPr lang="ko-KR" sz="16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생성 토픽</a:t>
            </a:r>
            <a:endParaRPr lang="ko-KR" altLang="en-US" sz="16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ctr">
              <a:buFontTx/>
              <a:buNone/>
            </a:pPr>
            <a:endParaRPr lang="ko-KR" altLang="en-US" sz="16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ctr">
              <a:buFontTx/>
              <a:buNone/>
            </a:pPr>
            <a:r>
              <a:rPr lang="ko-KR" sz="16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Topic </a:t>
            </a:r>
            <a:r>
              <a:rPr lang="ko-KR" sz="16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8</a:t>
            </a:r>
            <a:r>
              <a:rPr lang="ko-KR" sz="16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, Topic 16</a:t>
            </a:r>
            <a:endParaRPr lang="ko-KR" altLang="en-US" sz="16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8" name="TextBox 18"/>
          <p:cNvSpPr txBox="1">
            <a:spLocks/>
          </p:cNvSpPr>
          <p:nvPr/>
        </p:nvSpPr>
        <p:spPr>
          <a:xfrm>
            <a:off x="8440420" y="3202940"/>
            <a:ext cx="2827020" cy="301180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2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콘텐츠 생성 토픽</a:t>
            </a:r>
            <a:r>
              <a:rPr lang="ko-KR" sz="12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에서는</a:t>
            </a:r>
            <a:endParaRPr lang="ko-KR" altLang="en-US" sz="1200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endParaRPr lang="ko-KR" altLang="en-US" sz="1200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ko-KR" sz="14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생성, 활용, 수익, 클립, 제작</a:t>
            </a:r>
            <a:endParaRPr lang="ko-KR" altLang="en-US" sz="14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endParaRPr lang="ko-KR" altLang="en-US" sz="1200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ko-KR" sz="12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과 같은 </a:t>
            </a:r>
            <a:r>
              <a:rPr lang="ko-KR" sz="12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콘텐츠 생성과 수익 창출</a:t>
            </a:r>
            <a:r>
              <a:rPr lang="ko-KR" sz="12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에 대한 긍정 단어가 확인되며</a:t>
            </a:r>
            <a:endParaRPr lang="ko-KR" altLang="en-US" sz="1200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endParaRPr lang="ko-KR" altLang="en-US" sz="12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ko-KR" sz="14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계정, 저작, 정지, 차단, 삭제</a:t>
            </a:r>
            <a:endParaRPr lang="ko-KR" altLang="en-US" sz="14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endParaRPr lang="ko-KR" altLang="en-US" sz="1200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ko-KR" sz="12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처럼</a:t>
            </a:r>
            <a:r>
              <a:rPr lang="ko-KR" sz="12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 AI를 무분별하게 사용</a:t>
            </a:r>
            <a:r>
              <a:rPr lang="ko-KR" sz="12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, 계정정지와 같은 부정 단어도 확인됨.</a:t>
            </a:r>
            <a:endParaRPr lang="ko-KR" altLang="en-US" sz="1200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1247120" y="6610985"/>
            <a:ext cx="504190" cy="1295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r">
              <a:buFontTx/>
              <a:buNone/>
            </a:pPr>
            <a:r>
              <a:rPr lang="ko-KR" sz="7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1</a:t>
            </a:r>
            <a:r>
              <a:rPr lang="ko-KR" sz="7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9</a:t>
            </a:r>
            <a:endParaRPr lang="ko-KR" altLang="en-US" sz="700" b="1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8" name="텍스트 상자 11"/>
          <p:cNvSpPr txBox="1">
            <a:spLocks/>
          </p:cNvSpPr>
          <p:nvPr/>
        </p:nvSpPr>
        <p:spPr>
          <a:xfrm rot="0">
            <a:off x="548640" y="612775"/>
            <a:ext cx="2469515" cy="14668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SENTIMENT</a:t>
            </a: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 A</a:t>
            </a: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NALYSIS</a:t>
            </a:r>
            <a:endParaRPr lang="ko-KR" altLang="en-US" sz="800" b="1">
              <a:solidFill>
                <a:srgbClr val="FF6B5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9" name="텍스트 상자 142"/>
          <p:cNvSpPr txBox="1">
            <a:spLocks/>
          </p:cNvSpPr>
          <p:nvPr/>
        </p:nvSpPr>
        <p:spPr>
          <a:xfrm rot="0">
            <a:off x="411480" y="182880"/>
            <a:ext cx="3658870" cy="16573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7. 감성분석</a:t>
            </a:r>
            <a:endParaRPr lang="ko-KR" altLang="en-US" sz="800" b="1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AF0"/>
          </a:solidFill>
          <a:ln w="8890">
            <a:solidFill>
              <a:srgbClr val="FFFAF0"/>
            </a:solidFill>
          </a:ln>
        </p:spPr>
        <p:txBody>
          <a:bodyPr/>
          <a:lstStyle/>
          <a:p/>
        </p:txBody>
      </p:sp>
      <p:cxnSp>
        <p:nvCxnSpPr>
          <p:cNvPr id="4" name="Line 4"/>
          <p:cNvCxnSpPr/>
          <p:nvPr/>
        </p:nvCxnSpPr>
        <p:spPr>
          <a:xfrm rot="0">
            <a:off x="251460" y="6493510"/>
            <a:ext cx="11384915" cy="635"/>
          </a:xfrm>
          <a:prstGeom prst="line"/>
          <a:ln w="10160" cap="flat" cmpd="sng">
            <a:solidFill>
              <a:srgbClr val="E5DED3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6"/>
          <p:cNvSpPr txBox="1">
            <a:spLocks/>
          </p:cNvSpPr>
          <p:nvPr/>
        </p:nvSpPr>
        <p:spPr>
          <a:xfrm rot="0">
            <a:off x="530225" y="850265"/>
            <a:ext cx="8650605" cy="71374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전체 여론은 약한 부정 방향이지만, 해석은 신중해야 </a:t>
            </a: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함</a:t>
            </a:r>
            <a:endParaRPr lang="ko-KR" altLang="en-US" sz="265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7" name="TextBox 7"/>
          <p:cNvSpPr txBox="1">
            <a:spLocks/>
          </p:cNvSpPr>
          <p:nvPr/>
        </p:nvSpPr>
        <p:spPr>
          <a:xfrm rot="0">
            <a:off x="548640" y="1341755"/>
            <a:ext cx="7178675" cy="31178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915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고빈도 </a:t>
            </a:r>
            <a:r>
              <a:rPr lang="ko-KR" sz="915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단어 확인</a:t>
            </a:r>
            <a:r>
              <a:rPr lang="ko-KR" sz="915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과 </a:t>
            </a:r>
            <a:r>
              <a:rPr lang="ko-KR" sz="915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더불어, </a:t>
            </a:r>
            <a:r>
              <a:rPr lang="ko-KR" sz="915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추가적인 </a:t>
            </a:r>
            <a:r>
              <a:rPr lang="ko-KR" sz="915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근거로 시계열 분석을 진행</a:t>
            </a:r>
            <a:r>
              <a:rPr lang="ko-KR" sz="915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함.</a:t>
            </a:r>
            <a:endParaRPr lang="ko-KR" altLang="en-US" sz="915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0" name="TextBox 20"/>
          <p:cNvSpPr txBox="1">
            <a:spLocks/>
          </p:cNvSpPr>
          <p:nvPr/>
        </p:nvSpPr>
        <p:spPr>
          <a:xfrm rot="0">
            <a:off x="604520" y="5792470"/>
            <a:ext cx="961390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0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해석 문장</a:t>
            </a:r>
            <a:endParaRPr lang="ko-KR" altLang="en-US" sz="1000" b="1">
              <a:solidFill>
                <a:srgbClr val="FF6B5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1" name="TextBox 21"/>
          <p:cNvSpPr txBox="1">
            <a:spLocks/>
          </p:cNvSpPr>
          <p:nvPr/>
        </p:nvSpPr>
        <p:spPr>
          <a:xfrm rot="0">
            <a:off x="1464310" y="5737860"/>
            <a:ext cx="8962390" cy="25717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4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‘시간이 갈수록 부정화’라는 큰 방향은 일부 지지되지만, 더 정확한 결론은 ‘사건성 이슈와 저작권 충돌 토픽에서 부정 정서가 반복적으로 증폭’된다는 것이다.</a:t>
            </a:r>
            <a:endParaRPr lang="ko-KR" altLang="en-US" sz="14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2" name="TextBox 22"/>
          <p:cNvSpPr txBox="1">
            <a:spLocks/>
          </p:cNvSpPr>
          <p:nvPr/>
        </p:nvSpPr>
        <p:spPr>
          <a:xfrm rot="0">
            <a:off x="11087100" y="6593840"/>
            <a:ext cx="504190" cy="12954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r">
              <a:buFontTx/>
              <a:buNone/>
            </a:pPr>
            <a:r>
              <a:rPr lang="ko-KR" sz="7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2</a:t>
            </a:r>
            <a:r>
              <a:rPr lang="ko-KR" sz="7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0</a:t>
            </a:r>
            <a:endParaRPr lang="ko-KR" altLang="en-US" sz="700" b="1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pic>
        <p:nvPicPr>
          <p:cNvPr id="23" name="그림 7" descr="C:/Users/WHKONG/AppData/Roaming/PolarisOffice/ETemp/20104_8463808/fImage926875185724.png"/>
          <p:cNvPicPr>
            <a:picLocks noChangeAspect="1"/>
          </p:cNvPicPr>
          <p:nvPr/>
        </p:nvPicPr>
        <p:blipFill rotWithShape="1">
          <a:blip r:embed="rId1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554355" y="1564005"/>
            <a:ext cx="10897235" cy="3527425"/>
          </a:xfrm>
          <a:prstGeom prst="rect"/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</a:ln>
          <a:effectLst>
            <a:outerShdw sx="100000" sy="100000" blurRad="50800" dist="38100" dir="0" rotWithShape="0" algn="l">
              <a:srgbClr val="000000">
                <a:alpha val="40000"/>
              </a:srgbClr>
            </a:outerShdw>
          </a:effectLst>
        </p:spPr>
      </p:pic>
      <p:pic>
        <p:nvPicPr>
          <p:cNvPr id="24" name="그림 1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137920" y="5086985"/>
            <a:ext cx="10313035" cy="283845"/>
          </a:xfrm>
          <a:prstGeom prst="rect"/>
          <a:noFill/>
        </p:spPr>
      </p:pic>
      <p:pic>
        <p:nvPicPr>
          <p:cNvPr id="25" name="그림 1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45465" y="5050155"/>
            <a:ext cx="615315" cy="300355"/>
          </a:xfrm>
          <a:prstGeom prst="rect"/>
          <a:noFill/>
        </p:spPr>
      </p:pic>
      <p:sp>
        <p:nvSpPr>
          <p:cNvPr id="26" name="텍스트 상자 12"/>
          <p:cNvSpPr txBox="1">
            <a:spLocks/>
          </p:cNvSpPr>
          <p:nvPr/>
        </p:nvSpPr>
        <p:spPr>
          <a:xfrm>
            <a:off x="411480" y="182880"/>
            <a:ext cx="3658870" cy="16573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8</a:t>
            </a:r>
            <a:r>
              <a:rPr lang="ko-KR" sz="8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.</a:t>
            </a:r>
            <a:r>
              <a:rPr lang="ko-KR" sz="8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 시계열 분석</a:t>
            </a:r>
            <a:endParaRPr lang="ko-KR" altLang="en-US" sz="1000" b="1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7" name="텍스트 상자 13"/>
          <p:cNvSpPr txBox="1">
            <a:spLocks/>
          </p:cNvSpPr>
          <p:nvPr/>
        </p:nvSpPr>
        <p:spPr>
          <a:xfrm rot="0">
            <a:off x="548640" y="612775"/>
            <a:ext cx="2469515" cy="14668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T</a:t>
            </a: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I</a:t>
            </a: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M</a:t>
            </a: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E S</a:t>
            </a: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E</a:t>
            </a: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RIES ANAL</a:t>
            </a: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Y</a:t>
            </a: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SIS</a:t>
            </a:r>
            <a:endParaRPr lang="ko-KR" altLang="en-US" sz="800" b="1">
              <a:solidFill>
                <a:srgbClr val="FF6B5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/>
          </p:cNvSpPr>
          <p:nvPr/>
        </p:nvSpPr>
        <p:spPr>
          <a:xfrm rot="0">
            <a:off x="0" y="0"/>
            <a:ext cx="12192635" cy="6858635"/>
          </a:xfrm>
          <a:prstGeom prst="rect"/>
          <a:solidFill>
            <a:srgbClr val="FFFAF0"/>
          </a:solidFill>
          <a:ln w="8890" cap="flat" cmpd="sng">
            <a:solidFill>
              <a:srgbClr val="FFFAF0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>
              <a:defRPr/>
            </a:pPr>
            <a:endParaRPr lang="ko-KR" altLang="en-US"/>
          </a:p>
        </p:txBody>
      </p:sp>
      <p:cxnSp>
        <p:nvCxnSpPr>
          <p:cNvPr id="4" name="Rect 0"/>
          <p:cNvCxnSpPr/>
          <p:nvPr/>
        </p:nvCxnSpPr>
        <p:spPr>
          <a:xfrm rot="0">
            <a:off x="411480" y="6510655"/>
            <a:ext cx="11384915" cy="635"/>
          </a:xfrm>
          <a:prstGeom prst="line"/>
          <a:ln w="10160" cap="flat" cmpd="sng">
            <a:solidFill>
              <a:srgbClr val="E5DED3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 0"/>
          <p:cNvSpPr txBox="1">
            <a:spLocks/>
          </p:cNvSpPr>
          <p:nvPr/>
        </p:nvSpPr>
        <p:spPr>
          <a:xfrm rot="0">
            <a:off x="530225" y="850265"/>
            <a:ext cx="8650605" cy="71374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전체 여론은 약한 부정 방향이지만, 해석은 신중해야 </a:t>
            </a: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함</a:t>
            </a:r>
            <a:endParaRPr lang="ko-KR" altLang="en-US" sz="265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 rot="0">
            <a:off x="548640" y="1341755"/>
            <a:ext cx="7178675" cy="31178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915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고빈도 </a:t>
            </a:r>
            <a:r>
              <a:rPr lang="ko-KR" sz="915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단어 확인</a:t>
            </a:r>
            <a:r>
              <a:rPr lang="ko-KR" sz="915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과 </a:t>
            </a:r>
            <a:r>
              <a:rPr lang="ko-KR" sz="915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더불어, </a:t>
            </a:r>
            <a:r>
              <a:rPr lang="ko-KR" sz="915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추가적인 </a:t>
            </a:r>
            <a:r>
              <a:rPr lang="ko-KR" sz="915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근거로 시계열 분석을 진행</a:t>
            </a:r>
            <a:r>
              <a:rPr lang="ko-KR" sz="915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함.</a:t>
            </a:r>
            <a:endParaRPr lang="ko-KR" altLang="en-US" sz="915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0" name="Rect 0"/>
          <p:cNvSpPr txBox="1">
            <a:spLocks/>
          </p:cNvSpPr>
          <p:nvPr/>
        </p:nvSpPr>
        <p:spPr>
          <a:xfrm rot="0">
            <a:off x="554355" y="5894070"/>
            <a:ext cx="961390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0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해석 문장</a:t>
            </a:r>
            <a:endParaRPr lang="ko-KR" altLang="en-US" sz="1000" b="1">
              <a:solidFill>
                <a:srgbClr val="FF6B5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1" name="Rect 0"/>
          <p:cNvSpPr txBox="1">
            <a:spLocks/>
          </p:cNvSpPr>
          <p:nvPr/>
        </p:nvSpPr>
        <p:spPr>
          <a:xfrm rot="0">
            <a:off x="1414145" y="5839460"/>
            <a:ext cx="8962390" cy="25717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4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‘시간이 갈수록 부정화’라는 큰 방향은 일부 지지되지만, 더 정확한 결론은 ‘사건성 이슈와 저작권 충돌 토픽에서 부정 정서가 반복적으로 증폭’된다는 것이다.</a:t>
            </a:r>
            <a:endParaRPr lang="ko-KR" altLang="en-US" sz="14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2" name="Rect 0"/>
          <p:cNvSpPr txBox="1">
            <a:spLocks/>
          </p:cNvSpPr>
          <p:nvPr/>
        </p:nvSpPr>
        <p:spPr>
          <a:xfrm>
            <a:off x="11247120" y="6610985"/>
            <a:ext cx="504190" cy="12954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r">
              <a:buFontTx/>
              <a:buNone/>
            </a:pPr>
            <a:r>
              <a:rPr lang="ko-KR" sz="7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2</a:t>
            </a:r>
            <a:r>
              <a:rPr lang="ko-KR" sz="7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1</a:t>
            </a:r>
            <a:endParaRPr lang="ko-KR" altLang="en-US" sz="700" b="1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pic>
        <p:nvPicPr>
          <p:cNvPr id="23" name="그림 10" descr="C:/Users/WHKONG/AppData/Roaming/PolarisOffice/ETemp/20104_8463808/fImage1372935316962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553720" y="1640205"/>
            <a:ext cx="11087735" cy="3891280"/>
          </a:xfrm>
          <a:prstGeom prst="rect"/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</a:ln>
          <a:effectLst>
            <a:outerShdw sx="100000" sy="100000" blurRad="50800" dist="38100" dir="0" rotWithShape="0" algn="l">
              <a:srgbClr val="000000">
                <a:alpha val="40000"/>
              </a:srgbClr>
            </a:outerShdw>
          </a:effectLst>
        </p:spPr>
      </p:pic>
      <p:sp>
        <p:nvSpPr>
          <p:cNvPr id="25" name="텍스트 상자 15"/>
          <p:cNvSpPr txBox="1">
            <a:spLocks/>
          </p:cNvSpPr>
          <p:nvPr/>
        </p:nvSpPr>
        <p:spPr>
          <a:xfrm rot="0">
            <a:off x="548640" y="612775"/>
            <a:ext cx="2469515" cy="14668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T</a:t>
            </a: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I</a:t>
            </a: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M</a:t>
            </a: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E S</a:t>
            </a: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E</a:t>
            </a: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RIES ANAL</a:t>
            </a: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Y</a:t>
            </a: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SIS</a:t>
            </a:r>
            <a:endParaRPr lang="ko-KR" altLang="en-US" sz="800" b="1">
              <a:solidFill>
                <a:srgbClr val="FF6B5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6" name="텍스트 상자 144"/>
          <p:cNvSpPr txBox="1">
            <a:spLocks/>
          </p:cNvSpPr>
          <p:nvPr/>
        </p:nvSpPr>
        <p:spPr>
          <a:xfrm rot="0">
            <a:off x="411480" y="182880"/>
            <a:ext cx="3658870" cy="16573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8</a:t>
            </a:r>
            <a:r>
              <a:rPr lang="ko-KR" sz="8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.</a:t>
            </a:r>
            <a:r>
              <a:rPr lang="ko-KR" sz="8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 시계열 분석</a:t>
            </a:r>
            <a:endParaRPr lang="ko-KR" altLang="en-US" sz="1000" b="1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AF0"/>
          </a:solidFill>
          <a:ln w="8890">
            <a:solidFill>
              <a:srgbClr val="FFFAF0"/>
            </a:solidFill>
          </a:ln>
        </p:spPr>
        <p:txBody>
          <a:bodyPr/>
          <a:lstStyle/>
          <a:p/>
        </p:txBody>
      </p:sp>
      <p:sp>
        <p:nvSpPr>
          <p:cNvPr id="4" name="Line 4"/>
          <p:cNvSpPr/>
          <p:nvPr/>
        </p:nvSpPr>
        <p:spPr>
          <a:xfrm>
            <a:off x="411480" y="6510655"/>
            <a:ext cx="11384280" cy="0"/>
          </a:xfrm>
          <a:prstGeom prst="line">
            <a:avLst/>
          </a:prstGeom>
          <a:ln w="10160">
            <a:solidFill>
              <a:srgbClr val="E5DED3"/>
            </a:solidFill>
          </a:ln>
        </p:spPr>
        <p:txBody>
          <a:bodyPr/>
          <a:lstStyle/>
          <a:p/>
        </p:txBody>
      </p:sp>
      <p:sp>
        <p:nvSpPr>
          <p:cNvPr id="6" name="TextBox 6"/>
          <p:cNvSpPr txBox="1">
            <a:spLocks/>
          </p:cNvSpPr>
          <p:nvPr/>
        </p:nvSpPr>
        <p:spPr>
          <a:xfrm rot="0">
            <a:off x="530225" y="850265"/>
            <a:ext cx="9190355" cy="71374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시계열 감성지수 변동 </a:t>
            </a: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원인 </a:t>
            </a: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사건</a:t>
            </a:r>
            <a:endParaRPr lang="ko-KR" altLang="en-US" sz="265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7" name="TextBox 7"/>
          <p:cNvSpPr txBox="1">
            <a:spLocks/>
          </p:cNvSpPr>
          <p:nvPr/>
        </p:nvSpPr>
        <p:spPr>
          <a:xfrm rot="0">
            <a:off x="548640" y="1371600"/>
            <a:ext cx="7178675" cy="31178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915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감성지수에 영향을 </a:t>
            </a:r>
            <a:r>
              <a:rPr lang="ko-KR" sz="915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미쳤던 큼직한 사건들에 대해 </a:t>
            </a:r>
            <a:r>
              <a:rPr lang="ko-KR" sz="915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조사함.</a:t>
            </a:r>
            <a:endParaRPr lang="ko-KR" altLang="en-US" sz="915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1247120" y="6610985"/>
            <a:ext cx="504190" cy="1295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r">
              <a:buFontTx/>
              <a:buNone/>
            </a:pPr>
            <a:r>
              <a:rPr lang="ko-KR" sz="7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2</a:t>
            </a:r>
            <a:r>
              <a:rPr lang="ko-KR" sz="7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2</a:t>
            </a:r>
            <a:endParaRPr lang="ko-KR" altLang="en-US" sz="700" b="1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pic>
        <p:nvPicPr>
          <p:cNvPr id="24" name="그림 13" descr="C:/Users/WHKONG/AppData/Roaming/PolarisOffice/ETemp/20104_8463808/fImage283275344464.png"/>
          <p:cNvPicPr>
            <a:picLocks noChangeAspect="1"/>
          </p:cNvPicPr>
          <p:nvPr/>
        </p:nvPicPr>
        <p:blipFill rotWithShape="1">
          <a:blip r:embed="rId1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732915" y="1622425"/>
            <a:ext cx="3949700" cy="4061460"/>
          </a:xfrm>
          <a:prstGeom prst="rect"/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</a:ln>
          <a:effectLst>
            <a:outerShdw sx="100000" sy="100000" blurRad="50800" dist="38100" dir="0" rotWithShape="0" algn="l">
              <a:srgbClr val="000000">
                <a:alpha val="40000"/>
              </a:srgbClr>
            </a:outerShdw>
          </a:effectLst>
        </p:spPr>
      </p:pic>
      <p:pic>
        <p:nvPicPr>
          <p:cNvPr id="25" name="그림 22" descr="C:/Users/WHKONG/AppData/Roaming/PolarisOffice/ETemp/20104_8463808/fImage4230575435705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5843905" y="1622425"/>
            <a:ext cx="4948555" cy="3961130"/>
          </a:xfrm>
          <a:prstGeom prst="rect"/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</a:ln>
          <a:effectLst>
            <a:outerShdw sx="100000" sy="100000" blurRad="50800" dist="38100" dir="0" rotWithShape="0" algn="l">
              <a:srgbClr val="000000">
                <a:alpha val="40000"/>
              </a:srgbClr>
            </a:outerShdw>
          </a:effectLst>
        </p:spPr>
      </p:pic>
      <p:pic>
        <p:nvPicPr>
          <p:cNvPr id="27" name="그림 24" descr="C:/Users/WHKONG/AppData/Roaming/PolarisOffice/ETemp/20104_8463808/fImage1575458145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730375" y="5212715"/>
            <a:ext cx="671195" cy="330835"/>
          </a:xfrm>
          <a:prstGeom prst="rect"/>
          <a:noFill/>
        </p:spPr>
      </p:pic>
      <p:sp>
        <p:nvSpPr>
          <p:cNvPr id="28" name="텍스트 상자 25"/>
          <p:cNvSpPr txBox="1">
            <a:spLocks/>
          </p:cNvSpPr>
          <p:nvPr/>
        </p:nvSpPr>
        <p:spPr>
          <a:xfrm rot="0">
            <a:off x="1729740" y="5680075"/>
            <a:ext cx="9232265" cy="73977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numCol="1" vert="horz" anchor="t">
            <a:spAutoFit/>
          </a:bodyPr>
          <a:lstStyle/>
          <a:p>
            <a:pPr marL="0" indent="0" algn="l" hangingPunct="1">
              <a:buFontTx/>
              <a:buNone/>
            </a:pPr>
            <a:r>
              <a:rPr lang="ko-KR" sz="1400" b="1">
                <a:latin typeface="맑은 고딕" charset="0"/>
                <a:ea typeface="맑은 고딕" charset="0"/>
              </a:rPr>
              <a:t>2025년 5월</a:t>
            </a:r>
            <a:r>
              <a:rPr lang="ko-KR" sz="1400">
                <a:latin typeface="맑은 고딕" charset="0"/>
                <a:ea typeface="맑은 고딕" charset="0"/>
              </a:rPr>
              <a:t>,</a:t>
            </a:r>
            <a:r>
              <a:rPr lang="ko-KR" sz="1400">
                <a:latin typeface="맑은 고딕" charset="0"/>
                <a:ea typeface="맑은 고딕" charset="0"/>
              </a:rPr>
              <a:t> </a:t>
            </a:r>
            <a:r>
              <a:rPr lang="ko-KR" sz="1400">
                <a:latin typeface="맑은 고딕" charset="0"/>
                <a:ea typeface="맑은 고딕" charset="0"/>
              </a:rPr>
              <a:t>지브리</a:t>
            </a:r>
            <a:r>
              <a:rPr lang="ko-KR" sz="1400">
                <a:latin typeface="맑은 고딕" charset="0"/>
                <a:ea typeface="맑은 고딕" charset="0"/>
              </a:rPr>
              <a:t> </a:t>
            </a:r>
            <a:r>
              <a:rPr lang="ko-KR" sz="1400">
                <a:latin typeface="맑은 고딕" charset="0"/>
                <a:ea typeface="맑은 고딕" charset="0"/>
              </a:rPr>
              <a:t>사진</a:t>
            </a:r>
            <a:r>
              <a:rPr lang="ko-KR" sz="1400">
                <a:latin typeface="맑은 고딕" charset="0"/>
                <a:ea typeface="맑은 고딕" charset="0"/>
              </a:rPr>
              <a:t> </a:t>
            </a:r>
            <a:r>
              <a:rPr lang="ko-KR" sz="1400">
                <a:latin typeface="맑은 고딕" charset="0"/>
                <a:ea typeface="맑은 고딕" charset="0"/>
              </a:rPr>
              <a:t>변환이</a:t>
            </a:r>
            <a:r>
              <a:rPr lang="ko-KR" sz="1400">
                <a:latin typeface="맑은 고딕" charset="0"/>
                <a:ea typeface="맑은 고딕" charset="0"/>
              </a:rPr>
              <a:t> </a:t>
            </a:r>
            <a:r>
              <a:rPr lang="ko-KR" sz="1400">
                <a:latin typeface="맑은 고딕" charset="0"/>
                <a:ea typeface="맑은 고딕" charset="0"/>
              </a:rPr>
              <a:t>언론과</a:t>
            </a:r>
            <a:r>
              <a:rPr lang="ko-KR" sz="1400">
                <a:latin typeface="맑은 고딕" charset="0"/>
                <a:ea typeface="맑은 고딕" charset="0"/>
              </a:rPr>
              <a:t> </a:t>
            </a:r>
            <a:r>
              <a:rPr lang="ko-KR" sz="1400">
                <a:latin typeface="맑은 고딕" charset="0"/>
                <a:ea typeface="맑은 고딕" charset="0"/>
              </a:rPr>
              <a:t>창작자</a:t>
            </a:r>
            <a:r>
              <a:rPr lang="ko-KR" sz="1400">
                <a:latin typeface="맑은 고딕" charset="0"/>
                <a:ea typeface="맑은 고딕" charset="0"/>
              </a:rPr>
              <a:t> </a:t>
            </a:r>
            <a:r>
              <a:rPr lang="ko-KR" sz="1400">
                <a:latin typeface="맑은 고딕" charset="0"/>
                <a:ea typeface="맑은 고딕" charset="0"/>
              </a:rPr>
              <a:t>커뮤니티를</a:t>
            </a:r>
            <a:r>
              <a:rPr lang="ko-KR" sz="1400">
                <a:latin typeface="맑은 고딕" charset="0"/>
                <a:ea typeface="맑은 고딕" charset="0"/>
              </a:rPr>
              <a:t> </a:t>
            </a:r>
            <a:r>
              <a:rPr lang="ko-KR" sz="1400">
                <a:latin typeface="맑은 고딕" charset="0"/>
                <a:ea typeface="맑은 고딕" charset="0"/>
              </a:rPr>
              <a:t>통해</a:t>
            </a:r>
            <a:r>
              <a:rPr lang="ko-KR" sz="1400">
                <a:latin typeface="맑은 고딕" charset="0"/>
                <a:ea typeface="맑은 고딕" charset="0"/>
              </a:rPr>
              <a:t> </a:t>
            </a:r>
            <a:r>
              <a:rPr lang="ko-KR" sz="1400">
                <a:latin typeface="맑은 고딕" charset="0"/>
                <a:ea typeface="맑은 고딕" charset="0"/>
              </a:rPr>
              <a:t>확산하며</a:t>
            </a:r>
            <a:r>
              <a:rPr lang="ko-KR" sz="1400">
                <a:latin typeface="맑은 고딕" charset="0"/>
                <a:ea typeface="맑은 고딕" charset="0"/>
              </a:rPr>
              <a:t> </a:t>
            </a:r>
            <a:r>
              <a:rPr lang="ko-KR" sz="1400" b="1">
                <a:latin typeface="맑은 고딕" charset="0"/>
                <a:ea typeface="맑은 고딕" charset="0"/>
              </a:rPr>
              <a:t>AI의 무단학습과 활용에 대한 경고</a:t>
            </a:r>
            <a:r>
              <a:rPr lang="ko-KR" sz="1400">
                <a:latin typeface="맑은 고딕" charset="0"/>
                <a:ea typeface="맑은 고딕" charset="0"/>
              </a:rPr>
              <a:t>와 더불어 할리우드 작가들과 국내 작가들의 연이은 </a:t>
            </a:r>
            <a:r>
              <a:rPr lang="ko-KR" sz="1400" b="1">
                <a:latin typeface="맑은 고딕" charset="0"/>
                <a:ea typeface="맑은 고딕" charset="0"/>
              </a:rPr>
              <a:t>집단 소송</a:t>
            </a:r>
            <a:r>
              <a:rPr lang="ko-KR" sz="1400">
                <a:latin typeface="맑은 고딕" charset="0"/>
                <a:ea typeface="맑은 고딕" charset="0"/>
              </a:rPr>
              <a:t> 등으로 인해 여론이 </a:t>
            </a:r>
            <a:r>
              <a:rPr lang="ko-KR" sz="1400" b="1">
                <a:latin typeface="맑은 고딕" charset="0"/>
                <a:ea typeface="맑은 고딕" charset="0"/>
              </a:rPr>
              <a:t>동요하는 모습</a:t>
            </a:r>
            <a:r>
              <a:rPr lang="ko-KR" sz="1400">
                <a:latin typeface="맑은 고딕" charset="0"/>
                <a:ea typeface="맑은 고딕" charset="0"/>
              </a:rPr>
              <a:t>을 보인다고 분석함. </a:t>
            </a:r>
            <a:endParaRPr lang="ko-KR" altLang="en-US" sz="1400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400" b="1">
                <a:latin typeface="맑은 고딕" charset="0"/>
                <a:ea typeface="맑은 고딕" charset="0"/>
              </a:rPr>
              <a:t>6</a:t>
            </a:r>
            <a:r>
              <a:rPr lang="ko-KR" sz="1400">
                <a:latin typeface="맑은 고딕" charset="0"/>
                <a:ea typeface="맑은 고딕" charset="0"/>
              </a:rPr>
              <a:t>월, 일부 AI 기업들이 제도적 대응안을 내놓으며 점진적 완화가 이루어진다고 예측함. </a:t>
            </a:r>
            <a:endParaRPr lang="ko-KR" altLang="en-US" sz="1400">
              <a:latin typeface="맑은 고딕" charset="0"/>
              <a:ea typeface="맑은 고딕" charset="0"/>
            </a:endParaRPr>
          </a:p>
        </p:txBody>
      </p:sp>
      <p:sp>
        <p:nvSpPr>
          <p:cNvPr id="30" name="텍스트 상자 17"/>
          <p:cNvSpPr txBox="1">
            <a:spLocks/>
          </p:cNvSpPr>
          <p:nvPr/>
        </p:nvSpPr>
        <p:spPr>
          <a:xfrm rot="0">
            <a:off x="548640" y="612775"/>
            <a:ext cx="2469515" cy="14668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T</a:t>
            </a: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I</a:t>
            </a: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M</a:t>
            </a: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E S</a:t>
            </a: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E</a:t>
            </a: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RIES ANAL</a:t>
            </a: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Y</a:t>
            </a: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SIS</a:t>
            </a:r>
            <a:endParaRPr lang="ko-KR" altLang="en-US" sz="800" b="1">
              <a:solidFill>
                <a:srgbClr val="FF6B5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1" name="텍스트 상자 145"/>
          <p:cNvSpPr txBox="1">
            <a:spLocks/>
          </p:cNvSpPr>
          <p:nvPr/>
        </p:nvSpPr>
        <p:spPr>
          <a:xfrm rot="0">
            <a:off x="411480" y="182880"/>
            <a:ext cx="3658870" cy="16573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8</a:t>
            </a:r>
            <a:r>
              <a:rPr lang="ko-KR" sz="8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.</a:t>
            </a:r>
            <a:r>
              <a:rPr lang="ko-KR" sz="8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 시계열 분석</a:t>
            </a:r>
            <a:endParaRPr lang="ko-KR" altLang="en-US" sz="1000" b="1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2" name="텍스트 상자 176"/>
          <p:cNvSpPr txBox="1">
            <a:spLocks/>
          </p:cNvSpPr>
          <p:nvPr/>
        </p:nvSpPr>
        <p:spPr>
          <a:xfrm rot="0">
            <a:off x="534670" y="5794375"/>
            <a:ext cx="961390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0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해석 문장</a:t>
            </a:r>
            <a:endParaRPr lang="ko-KR" altLang="en-US" sz="1000" b="1">
              <a:solidFill>
                <a:srgbClr val="FF6B5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/>
          </p:cNvSpPr>
          <p:nvPr/>
        </p:nvSpPr>
        <p:spPr>
          <a:xfrm rot="0">
            <a:off x="0" y="0"/>
            <a:ext cx="12192635" cy="6858635"/>
          </a:xfrm>
          <a:prstGeom prst="rect"/>
          <a:solidFill>
            <a:srgbClr val="FFFAF0"/>
          </a:solidFill>
          <a:ln w="8890" cap="flat" cmpd="sng">
            <a:solidFill>
              <a:srgbClr val="FFFAF0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>
              <a:defRPr/>
            </a:pPr>
            <a:endParaRPr lang="ko-KR" altLang="en-US"/>
          </a:p>
        </p:txBody>
      </p:sp>
      <p:cxnSp>
        <p:nvCxnSpPr>
          <p:cNvPr id="4" name="Rect 0"/>
          <p:cNvCxnSpPr/>
          <p:nvPr/>
        </p:nvCxnSpPr>
        <p:spPr>
          <a:xfrm rot="0">
            <a:off x="411480" y="6510655"/>
            <a:ext cx="11384915" cy="635"/>
          </a:xfrm>
          <a:prstGeom prst="line"/>
          <a:ln w="10160" cap="flat" cmpd="sng">
            <a:solidFill>
              <a:srgbClr val="E5DED3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 0"/>
          <p:cNvSpPr txBox="1">
            <a:spLocks/>
          </p:cNvSpPr>
          <p:nvPr/>
        </p:nvSpPr>
        <p:spPr>
          <a:xfrm rot="0">
            <a:off x="530225" y="850265"/>
            <a:ext cx="9190355" cy="71374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시계열 감성지수 변동 </a:t>
            </a: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원인 </a:t>
            </a: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사건</a:t>
            </a:r>
            <a:endParaRPr lang="ko-KR" altLang="en-US" sz="265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 rot="0">
            <a:off x="548640" y="1371600"/>
            <a:ext cx="7178675" cy="31178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915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감성지수에 영향을 </a:t>
            </a:r>
            <a:r>
              <a:rPr lang="ko-KR" sz="915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미쳤던 큼직한 사건들에 대해 </a:t>
            </a:r>
            <a:r>
              <a:rPr lang="ko-KR" sz="915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조사함.</a:t>
            </a:r>
            <a:endParaRPr lang="ko-KR" altLang="en-US" sz="915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3" name="Rect 0"/>
          <p:cNvSpPr txBox="1">
            <a:spLocks/>
          </p:cNvSpPr>
          <p:nvPr/>
        </p:nvSpPr>
        <p:spPr>
          <a:xfrm>
            <a:off x="11247120" y="6610985"/>
            <a:ext cx="504190" cy="12954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r">
              <a:buFontTx/>
              <a:buNone/>
            </a:pPr>
            <a:r>
              <a:rPr lang="ko-KR" sz="7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2</a:t>
            </a:r>
            <a:r>
              <a:rPr lang="ko-KR" sz="7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3</a:t>
            </a:r>
            <a:endParaRPr lang="ko-KR" altLang="en-US" sz="700" b="1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8" name="Rect 0"/>
          <p:cNvSpPr txBox="1">
            <a:spLocks/>
          </p:cNvSpPr>
          <p:nvPr/>
        </p:nvSpPr>
        <p:spPr>
          <a:xfrm rot="0">
            <a:off x="1739900" y="5720080"/>
            <a:ext cx="9032240" cy="101663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numCol="1" vert="horz" anchor="t">
            <a:spAutoFit/>
          </a:bodyPr>
          <a:lstStyle/>
          <a:p>
            <a:pPr marL="0" indent="0" algn="l" hangingPunct="1">
              <a:buFontTx/>
              <a:buNone/>
            </a:pPr>
            <a:r>
              <a:rPr lang="ko-KR" sz="1400" b="0">
                <a:latin typeface="맑은 고딕" charset="0"/>
                <a:ea typeface="맑은 고딕" charset="0"/>
              </a:rPr>
              <a:t>이후 </a:t>
            </a:r>
            <a:r>
              <a:rPr lang="ko-KR" sz="1400" b="1">
                <a:latin typeface="맑은 고딕" charset="0"/>
                <a:ea typeface="맑은 고딕" charset="0"/>
              </a:rPr>
              <a:t>8월</a:t>
            </a:r>
            <a:r>
              <a:rPr lang="ko-KR" sz="1400" b="0">
                <a:latin typeface="맑은 고딕" charset="0"/>
                <a:ea typeface="맑은 고딕" charset="0"/>
              </a:rPr>
              <a:t>, 오픈 AI기업이 무작정 무단 학습을 하는 것이 아니라 </a:t>
            </a:r>
            <a:r>
              <a:rPr lang="ko-KR" sz="1400" b="1">
                <a:latin typeface="맑은 고딕" charset="0"/>
                <a:ea typeface="맑은 고딕" charset="0"/>
              </a:rPr>
              <a:t>라이센스 제휴계약</a:t>
            </a:r>
            <a:r>
              <a:rPr lang="ko-KR" sz="1400" b="0">
                <a:latin typeface="맑은 고딕" charset="0"/>
                <a:ea typeface="맑은 고딕" charset="0"/>
              </a:rPr>
              <a:t>을 맺는 모습을 보임과 더불어 클로드 AI 회사인 앤트로픽이 작가들에게 </a:t>
            </a:r>
            <a:r>
              <a:rPr lang="ko-KR" sz="1400" b="1">
                <a:latin typeface="맑은 고딕" charset="0"/>
                <a:ea typeface="맑은 고딕" charset="0"/>
              </a:rPr>
              <a:t>저작권 침해 손해배상</a:t>
            </a:r>
            <a:r>
              <a:rPr lang="ko-KR" sz="1400" b="0">
                <a:latin typeface="맑은 고딕" charset="0"/>
                <a:ea typeface="맑은 고딕" charset="0"/>
              </a:rPr>
              <a:t> 합의를 함에 있어서 긍정비율이 비약적 상승한 것으로 분석함.</a:t>
            </a:r>
            <a:r>
              <a:rPr lang="ko-KR" sz="1400" b="1">
                <a:latin typeface="맑은 고딕" charset="0"/>
                <a:ea typeface="맑은 고딕" charset="0"/>
              </a:rPr>
              <a:t> 9월</a:t>
            </a:r>
            <a:r>
              <a:rPr lang="ko-KR" sz="1400" b="0">
                <a:latin typeface="맑은 고딕" charset="0"/>
                <a:ea typeface="맑은 고딕" charset="0"/>
              </a:rPr>
              <a:t>에는 </a:t>
            </a:r>
            <a:r>
              <a:rPr lang="ko-KR" sz="1400" b="1">
                <a:latin typeface="맑은 고딕" charset="0"/>
                <a:ea typeface="맑은 고딕" charset="0"/>
              </a:rPr>
              <a:t>AI 기본법 초안이 공개</a:t>
            </a:r>
            <a:r>
              <a:rPr lang="ko-KR" sz="1400" b="0">
                <a:latin typeface="맑은 고딕" charset="0"/>
                <a:ea typeface="맑은 고딕" charset="0"/>
              </a:rPr>
              <a:t>되고 일시적으로 긍정비율이 급상승한것으로 예측.</a:t>
            </a:r>
            <a:endParaRPr lang="ko-KR" altLang="en-US" sz="1400" b="0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pic>
        <p:nvPicPr>
          <p:cNvPr id="29" name="그림 26" descr="C:/Users/WHKONG/AppData/Roaming/PolarisOffice/ETemp/20104_8463808/fImage235705593281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718310" y="1619885"/>
            <a:ext cx="4013200" cy="4091305"/>
          </a:xfrm>
          <a:prstGeom prst="rect"/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</a:ln>
          <a:effectLst>
            <a:outerShdw sx="100000" sy="100000" blurRad="50800" dist="38100" dir="0" rotWithShape="0" algn="l">
              <a:srgbClr val="000000">
                <a:alpha val="40000"/>
              </a:srgbClr>
            </a:outerShdw>
          </a:effectLst>
        </p:spPr>
      </p:pic>
      <p:pic>
        <p:nvPicPr>
          <p:cNvPr id="30" name="그림 27" descr="C:/Users/WHKONG/AppData/Roaming/PolarisOffice/ETemp/20104_8463808/fImage701915606827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5944870" y="1619885"/>
            <a:ext cx="5806440" cy="1661795"/>
          </a:xfrm>
          <a:prstGeom prst="rect"/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</a:ln>
          <a:effectLst>
            <a:outerShdw sx="100000" sy="100000" blurRad="50800" dist="38100" dir="0" rotWithShape="0" algn="l">
              <a:srgbClr val="000000">
                <a:alpha val="40000"/>
              </a:srgbClr>
            </a:outerShdw>
          </a:effectLst>
        </p:spPr>
      </p:pic>
      <p:pic>
        <p:nvPicPr>
          <p:cNvPr id="31" name="그림 28" descr="C:/Users/WHKONG/AppData/Roaming/PolarisOffice/ETemp/20104_8463808/fImage267315619961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5944235" y="3500120"/>
            <a:ext cx="5807075" cy="1431290"/>
          </a:xfrm>
          <a:prstGeom prst="rect"/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</a:ln>
          <a:effectLst>
            <a:outerShdw sx="100000" sy="100000" blurRad="50800" dist="38100" dir="0" rotWithShape="0" algn="l">
              <a:srgbClr val="000000">
                <a:alpha val="40000"/>
              </a:srgbClr>
            </a:outerShdw>
          </a:effectLst>
        </p:spPr>
      </p:pic>
      <p:sp>
        <p:nvSpPr>
          <p:cNvPr id="32" name="텍스트 상자 18"/>
          <p:cNvSpPr txBox="1">
            <a:spLocks/>
          </p:cNvSpPr>
          <p:nvPr/>
        </p:nvSpPr>
        <p:spPr>
          <a:xfrm>
            <a:off x="411480" y="182880"/>
            <a:ext cx="3658870" cy="16573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8 시계열 분석</a:t>
            </a:r>
            <a:endParaRPr lang="ko-KR" altLang="en-US" sz="800" b="1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3" name="텍스트 상자 19"/>
          <p:cNvSpPr txBox="1">
            <a:spLocks/>
          </p:cNvSpPr>
          <p:nvPr/>
        </p:nvSpPr>
        <p:spPr>
          <a:xfrm rot="0">
            <a:off x="548640" y="612775"/>
            <a:ext cx="2469515" cy="14668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T</a:t>
            </a: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I</a:t>
            </a: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M</a:t>
            </a: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E S</a:t>
            </a: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E</a:t>
            </a: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RIES ANAL</a:t>
            </a: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Y</a:t>
            </a: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SIS</a:t>
            </a:r>
            <a:endParaRPr lang="ko-KR" altLang="en-US" sz="800" b="1">
              <a:solidFill>
                <a:srgbClr val="FF6B5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4" name="텍스트 상자 177"/>
          <p:cNvSpPr txBox="1">
            <a:spLocks/>
          </p:cNvSpPr>
          <p:nvPr/>
        </p:nvSpPr>
        <p:spPr>
          <a:xfrm rot="0">
            <a:off x="554355" y="5784215"/>
            <a:ext cx="961390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0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해석 문장</a:t>
            </a:r>
            <a:endParaRPr lang="ko-KR" altLang="en-US" sz="1000" b="1">
              <a:solidFill>
                <a:srgbClr val="FF6B5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/>
          </p:cNvSpPr>
          <p:nvPr/>
        </p:nvSpPr>
        <p:spPr>
          <a:xfrm rot="0">
            <a:off x="0" y="0"/>
            <a:ext cx="12192635" cy="6858635"/>
          </a:xfrm>
          <a:prstGeom prst="rect"/>
          <a:solidFill>
            <a:srgbClr val="FFFAF0"/>
          </a:solidFill>
          <a:ln w="8890" cap="flat" cmpd="sng">
            <a:solidFill>
              <a:srgbClr val="FFFAF0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>
              <a:defRPr/>
            </a:pPr>
            <a:endParaRPr lang="ko-KR" altLang="en-US"/>
          </a:p>
        </p:txBody>
      </p:sp>
      <p:cxnSp>
        <p:nvCxnSpPr>
          <p:cNvPr id="4" name="Rect 0"/>
          <p:cNvCxnSpPr/>
          <p:nvPr/>
        </p:nvCxnSpPr>
        <p:spPr>
          <a:xfrm rot="0">
            <a:off x="411480" y="6510655"/>
            <a:ext cx="11384915" cy="635"/>
          </a:xfrm>
          <a:prstGeom prst="line"/>
          <a:ln w="10160" cap="flat" cmpd="sng">
            <a:solidFill>
              <a:srgbClr val="E5DED3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 0"/>
          <p:cNvSpPr txBox="1">
            <a:spLocks/>
          </p:cNvSpPr>
          <p:nvPr/>
        </p:nvSpPr>
        <p:spPr>
          <a:xfrm rot="0">
            <a:off x="530225" y="850265"/>
            <a:ext cx="9190355" cy="71374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시계열 감성지수 변동 </a:t>
            </a: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원인 </a:t>
            </a: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사건</a:t>
            </a:r>
            <a:endParaRPr lang="ko-KR" altLang="en-US" sz="265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 rot="0">
            <a:off x="548640" y="1371600"/>
            <a:ext cx="7178675" cy="31178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915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감성지수에 영향을 </a:t>
            </a:r>
            <a:r>
              <a:rPr lang="ko-KR" sz="915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미쳤던 큼직한 사건들에 대해 </a:t>
            </a:r>
            <a:r>
              <a:rPr lang="ko-KR" sz="915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조사함.</a:t>
            </a:r>
            <a:endParaRPr lang="ko-KR" altLang="en-US" sz="915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3" name="Rect 0"/>
          <p:cNvSpPr txBox="1">
            <a:spLocks/>
          </p:cNvSpPr>
          <p:nvPr/>
        </p:nvSpPr>
        <p:spPr>
          <a:xfrm rot="0">
            <a:off x="11247120" y="6610985"/>
            <a:ext cx="494030" cy="10033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r">
              <a:buFontTx/>
              <a:buNone/>
            </a:pPr>
            <a:r>
              <a:rPr lang="ko-KR" sz="7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2</a:t>
            </a:r>
            <a:r>
              <a:rPr lang="ko-KR" sz="7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4</a:t>
            </a:r>
            <a:endParaRPr lang="ko-KR" altLang="en-US" sz="700" b="1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8" name="Rect 0"/>
          <p:cNvSpPr txBox="1">
            <a:spLocks/>
          </p:cNvSpPr>
          <p:nvPr/>
        </p:nvSpPr>
        <p:spPr>
          <a:xfrm rot="0">
            <a:off x="1779905" y="5309870"/>
            <a:ext cx="9031605" cy="739140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numCol="1" vert="horz" anchor="t">
            <a:spAutoFit/>
          </a:bodyPr>
          <a:lstStyle/>
          <a:p>
            <a:pPr marL="0" indent="0" algn="l" hangingPunct="1">
              <a:buFontTx/>
              <a:buNone/>
            </a:pPr>
            <a:r>
              <a:rPr lang="ko-KR" sz="1400" b="0">
                <a:latin typeface="맑은 고딕" charset="0"/>
                <a:ea typeface="맑은 고딕" charset="0"/>
              </a:rPr>
              <a:t>이후 연말에는 생성형 AI 콘텐츠가 AI 기능 발전으로 인해 숏폼, 릴스 등으로 넓어지며 </a:t>
            </a:r>
            <a:r>
              <a:rPr lang="ko-KR" sz="1400" b="1">
                <a:latin typeface="맑은 고딕" charset="0"/>
                <a:ea typeface="맑은 고딕" charset="0"/>
              </a:rPr>
              <a:t>창작자 권리와 플랫폼 책임 문제가 다시 부각</a:t>
            </a:r>
            <a:r>
              <a:rPr lang="ko-KR" sz="1400" b="0">
                <a:latin typeface="맑은 고딕" charset="0"/>
                <a:ea typeface="맑은 고딕" charset="0"/>
              </a:rPr>
              <a:t>된 것으로 볼 수 있다. </a:t>
            </a:r>
            <a:r>
              <a:rPr lang="ko-KR" sz="1400" b="1">
                <a:latin typeface="맑은 고딕" charset="0"/>
                <a:ea typeface="맑은 고딕" charset="0"/>
              </a:rPr>
              <a:t>1월에 AI 기본법 시행</a:t>
            </a:r>
            <a:r>
              <a:rPr lang="ko-KR" sz="1400" b="0">
                <a:latin typeface="맑은 고딕" charset="0"/>
                <a:ea typeface="맑은 고딕" charset="0"/>
              </a:rPr>
              <a:t>으로 </a:t>
            </a:r>
            <a:r>
              <a:rPr lang="ko-KR" sz="1400" b="1">
                <a:latin typeface="맑은 고딕" charset="0"/>
                <a:ea typeface="맑은 고딕" charset="0"/>
              </a:rPr>
              <a:t>비약적인 상승</a:t>
            </a:r>
            <a:r>
              <a:rPr lang="ko-KR" sz="1400" b="0">
                <a:latin typeface="맑은 고딕" charset="0"/>
                <a:ea typeface="맑은 고딕" charset="0"/>
              </a:rPr>
              <a:t>을 하였으나 이후에도 </a:t>
            </a:r>
            <a:r>
              <a:rPr lang="ko-KR" sz="1400" b="1">
                <a:latin typeface="맑은 고딕" charset="0"/>
                <a:ea typeface="맑은 고딕" charset="0"/>
              </a:rPr>
              <a:t>저작권 침해 논란 지속</a:t>
            </a:r>
            <a:r>
              <a:rPr lang="ko-KR" sz="1400" b="0">
                <a:latin typeface="맑은 고딕" charset="0"/>
                <a:ea typeface="맑은 고딕" charset="0"/>
              </a:rPr>
              <a:t>, 기업간의 소송이 이루어지며 </a:t>
            </a:r>
            <a:r>
              <a:rPr lang="ko-KR" sz="1400" b="1">
                <a:latin typeface="맑은 고딕" charset="0"/>
                <a:ea typeface="맑은 고딕" charset="0"/>
              </a:rPr>
              <a:t>여론이 다시 동요</a:t>
            </a:r>
            <a:r>
              <a:rPr lang="ko-KR" sz="1400" b="0">
                <a:latin typeface="맑은 고딕" charset="0"/>
                <a:ea typeface="맑은 고딕" charset="0"/>
              </a:rPr>
              <a:t>하는 모습을 보이는것으로 분석함.</a:t>
            </a:r>
            <a:endParaRPr lang="ko-KR" altLang="en-US" sz="1400" b="0">
              <a:latin typeface="맑은 고딕" charset="0"/>
              <a:ea typeface="맑은 고딕" charset="0"/>
            </a:endParaRPr>
          </a:p>
        </p:txBody>
      </p:sp>
      <p:pic>
        <p:nvPicPr>
          <p:cNvPr id="32" name="그림 36" descr="C:/Users/WHKONG/AppData/Roaming/PolarisOffice/ETemp/20104_8463808/fImage299145791942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779270" y="1645285"/>
            <a:ext cx="3802380" cy="3286125"/>
          </a:xfrm>
          <a:prstGeom prst="rect"/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</a:ln>
          <a:effectLst>
            <a:outerShdw sx="100000" sy="100000" blurRad="50800" dist="38100" dir="0" rotWithShape="0" algn="l">
              <a:srgbClr val="000000">
                <a:alpha val="40000"/>
              </a:srgbClr>
            </a:outerShdw>
          </a:effectLst>
        </p:spPr>
      </p:pic>
      <p:sp>
        <p:nvSpPr>
          <p:cNvPr id="34" name="텍스트 상자 21"/>
          <p:cNvSpPr txBox="1">
            <a:spLocks/>
          </p:cNvSpPr>
          <p:nvPr/>
        </p:nvSpPr>
        <p:spPr>
          <a:xfrm rot="0">
            <a:off x="548640" y="612775"/>
            <a:ext cx="2469515" cy="14668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T</a:t>
            </a: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I</a:t>
            </a: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M</a:t>
            </a: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E S</a:t>
            </a: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E</a:t>
            </a: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RIES ANAL</a:t>
            </a: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Y</a:t>
            </a: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SIS</a:t>
            </a:r>
            <a:endParaRPr lang="ko-KR" altLang="en-US" sz="800" b="1">
              <a:solidFill>
                <a:srgbClr val="FF6B5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pic>
        <p:nvPicPr>
          <p:cNvPr id="36" name="그림 3" descr="C:/Users/WHKONG/AppData/Roaming/PolarisOffice/ETemp/20104_8463808/fImage8114848341.png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5908675" y="1680210"/>
            <a:ext cx="4472940" cy="1503680"/>
          </a:xfrm>
          <a:prstGeom prst="rect"/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</a:ln>
          <a:effectLst>
            <a:outerShdw sx="100000" sy="100000" blurRad="50800" dist="38100" dir="0" rotWithShape="0" algn="l">
              <a:srgbClr val="000000">
                <a:alpha val="40000"/>
              </a:srgbClr>
            </a:outerShdw>
          </a:effectLst>
        </p:spPr>
      </p:pic>
      <p:pic>
        <p:nvPicPr>
          <p:cNvPr id="37" name="그림 4" descr="C:/Users/WHKONG/AppData/Roaming/PolarisOffice/ETemp/20104_8463808/fImage774054848467.png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5910580" y="3374390"/>
            <a:ext cx="4480560" cy="1494790"/>
          </a:xfrm>
          <a:prstGeom prst="rect"/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</a:ln>
          <a:effectLst>
            <a:outerShdw sx="100000" sy="100000" blurRad="50800" dist="38100" dir="0" rotWithShape="0" algn="l">
              <a:srgbClr val="000000">
                <a:alpha val="40000"/>
              </a:srgbClr>
            </a:outerShdw>
          </a:effectLst>
        </p:spPr>
      </p:pic>
      <p:sp>
        <p:nvSpPr>
          <p:cNvPr id="38" name="텍스트 상자 166"/>
          <p:cNvSpPr txBox="1">
            <a:spLocks/>
          </p:cNvSpPr>
          <p:nvPr/>
        </p:nvSpPr>
        <p:spPr>
          <a:xfrm rot="0">
            <a:off x="411480" y="182880"/>
            <a:ext cx="3658870" cy="16573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8</a:t>
            </a:r>
            <a:r>
              <a:rPr lang="ko-KR" sz="8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.</a:t>
            </a:r>
            <a:r>
              <a:rPr lang="ko-KR" sz="8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 시계열 분석</a:t>
            </a:r>
            <a:endParaRPr lang="ko-KR" altLang="en-US" sz="1000" b="1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9" name="텍스트 상자 178"/>
          <p:cNvSpPr txBox="1">
            <a:spLocks/>
          </p:cNvSpPr>
          <p:nvPr/>
        </p:nvSpPr>
        <p:spPr>
          <a:xfrm rot="0">
            <a:off x="534670" y="5424170"/>
            <a:ext cx="961390" cy="12001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0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해석 문장</a:t>
            </a:r>
            <a:endParaRPr lang="ko-KR" altLang="en-US" sz="1000" b="1">
              <a:solidFill>
                <a:srgbClr val="FF6B5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AF0"/>
          </a:solidFill>
          <a:ln w="8890">
            <a:solidFill>
              <a:srgbClr val="FFFAF0"/>
            </a:solidFill>
          </a:ln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411480" y="182880"/>
            <a:ext cx="3658870" cy="1657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9. 결론</a:t>
            </a:r>
            <a:endParaRPr lang="ko-KR" altLang="en-US" sz="800" b="1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4" name="Line 4"/>
          <p:cNvSpPr/>
          <p:nvPr/>
        </p:nvSpPr>
        <p:spPr>
          <a:xfrm>
            <a:off x="411480" y="6510655"/>
            <a:ext cx="11384280" cy="0"/>
          </a:xfrm>
          <a:prstGeom prst="line">
            <a:avLst/>
          </a:prstGeom>
          <a:ln w="10160">
            <a:solidFill>
              <a:srgbClr val="E5DED3"/>
            </a:solidFill>
          </a:ln>
        </p:spPr>
        <p:txBody>
          <a:bodyPr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548640" y="612775"/>
            <a:ext cx="2469515" cy="1466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INSIGHT</a:t>
            </a:r>
            <a:endParaRPr lang="ko-KR" altLang="en-US" sz="800" b="1">
              <a:solidFill>
                <a:srgbClr val="FF6B5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6" name="TextBox 6"/>
          <p:cNvSpPr txBox="1">
            <a:spLocks/>
          </p:cNvSpPr>
          <p:nvPr/>
        </p:nvSpPr>
        <p:spPr>
          <a:xfrm rot="0">
            <a:off x="530225" y="850265"/>
            <a:ext cx="10690225" cy="71437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여론에서의 문제는</a:t>
            </a: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 AI 활용 자체가 아니라 권리 처리 체계의 부재임.</a:t>
            </a:r>
            <a:endParaRPr lang="ko-KR" altLang="en-US" sz="265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7" name="TextBox 7"/>
          <p:cNvSpPr txBox="1">
            <a:spLocks/>
          </p:cNvSpPr>
          <p:nvPr/>
        </p:nvSpPr>
        <p:spPr>
          <a:xfrm rot="0">
            <a:off x="548640" y="1271905"/>
            <a:ext cx="7178675" cy="31178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915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여론의 부정성은 기술 거부가 아니라 공정성·투명성·책임성의 결핍에서 발생한다.</a:t>
            </a:r>
            <a:endParaRPr lang="ko-KR" altLang="en-US" sz="915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8" name="Shape 8"/>
          <p:cNvSpPr>
            <a:spLocks/>
          </p:cNvSpPr>
          <p:nvPr/>
        </p:nvSpPr>
        <p:spPr>
          <a:xfrm rot="0">
            <a:off x="713105" y="1920240"/>
            <a:ext cx="4893310" cy="1208405"/>
          </a:xfrm>
          <a:prstGeom prst="roundRect"/>
          <a:solidFill>
            <a:srgbClr val="FF6B5A"/>
          </a:solidFill>
          <a:ln w="889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 marL="0" indent="0">
              <a:buFontTx/>
              <a:buNone/>
              <a:defRPr/>
            </a:pPr>
            <a:endParaRPr lang="ko-KR" altLang="en-US"/>
          </a:p>
        </p:txBody>
      </p:sp>
      <p:sp>
        <p:nvSpPr>
          <p:cNvPr id="9" name="TextBox 9"/>
          <p:cNvSpPr txBox="1">
            <a:spLocks/>
          </p:cNvSpPr>
          <p:nvPr/>
        </p:nvSpPr>
        <p:spPr>
          <a:xfrm rot="0">
            <a:off x="923290" y="2130425"/>
            <a:ext cx="4472305" cy="22034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600" b="1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출처 불투명성</a:t>
            </a:r>
            <a:endParaRPr lang="ko-KR" altLang="en-US" sz="1600" b="1">
              <a:solidFill>
                <a:schemeClr val="tx1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0" name="TextBox 10"/>
          <p:cNvSpPr txBox="1">
            <a:spLocks/>
          </p:cNvSpPr>
          <p:nvPr/>
        </p:nvSpPr>
        <p:spPr>
          <a:xfrm>
            <a:off x="923290" y="2551430"/>
            <a:ext cx="4472940" cy="45847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4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학습</a:t>
            </a:r>
            <a:r>
              <a:rPr lang="ko-KR" sz="14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14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데이터와</a:t>
            </a:r>
            <a:r>
              <a:rPr lang="ko-KR" sz="14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14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생성</a:t>
            </a:r>
            <a:r>
              <a:rPr lang="ko-KR" sz="14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14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결과의</a:t>
            </a:r>
            <a:r>
              <a:rPr lang="ko-KR" sz="14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14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원천을</a:t>
            </a:r>
            <a:r>
              <a:rPr lang="ko-KR" sz="14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14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확인하기</a:t>
            </a:r>
            <a:r>
              <a:rPr lang="ko-KR" sz="14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14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어려워</a:t>
            </a:r>
            <a:r>
              <a:rPr lang="ko-KR" sz="14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endParaRPr lang="ko-KR" altLang="en-US" sz="1400">
              <a:solidFill>
                <a:schemeClr val="tx1"/>
              </a:solidFill>
              <a:latin typeface="Pretendard" charset="0"/>
              <a:ea typeface="Pretendard" charset="0"/>
              <a:cs typeface="Pretendard" charset="0"/>
            </a:endParaRPr>
          </a:p>
          <a:p>
            <a:pPr marL="0" indent="0" algn="l">
              <a:buFontTx/>
              <a:buNone/>
            </a:pPr>
            <a:r>
              <a:rPr lang="ko-KR" sz="14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권리</a:t>
            </a:r>
            <a:r>
              <a:rPr lang="ko-KR" sz="14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14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침해</a:t>
            </a:r>
            <a:r>
              <a:rPr lang="ko-KR" sz="14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14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의심이</a:t>
            </a:r>
            <a:r>
              <a:rPr lang="ko-KR" sz="14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 </a:t>
            </a:r>
            <a:r>
              <a:rPr lang="ko-KR" sz="1400">
                <a:solidFill>
                  <a:schemeClr val="tx1"/>
                </a:solidFill>
                <a:latin typeface="Pretendard" charset="0"/>
                <a:ea typeface="Pretendard" charset="0"/>
                <a:cs typeface="Pretendard" charset="0"/>
              </a:rPr>
              <a:t>커짐</a:t>
            </a:r>
            <a:endParaRPr lang="ko-KR" altLang="en-US" sz="1400">
              <a:solidFill>
                <a:schemeClr val="tx1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1" name="Shape 11"/>
          <p:cNvSpPr>
            <a:spLocks/>
          </p:cNvSpPr>
          <p:nvPr/>
        </p:nvSpPr>
        <p:spPr>
          <a:xfrm rot="0">
            <a:off x="6254750" y="1920240"/>
            <a:ext cx="4892675" cy="1207770"/>
          </a:xfrm>
          <a:prstGeom prst="roundRect"/>
          <a:solidFill>
            <a:srgbClr val="E8B94A"/>
          </a:solidFill>
          <a:ln w="889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6464935" y="2130425"/>
            <a:ext cx="4472305" cy="2203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6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보상 구조 부재</a:t>
            </a:r>
            <a:endParaRPr lang="ko-KR" altLang="en-US" sz="16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464935" y="2551430"/>
            <a:ext cx="4472305" cy="4578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4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창작자의 기여가 AI 모델 성능으로 전환돼도 수익 배분 체계가 부족</a:t>
            </a:r>
            <a:endParaRPr lang="ko-KR" altLang="en-US" sz="1400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4" name="Shape 14"/>
          <p:cNvSpPr>
            <a:spLocks/>
          </p:cNvSpPr>
          <p:nvPr/>
        </p:nvSpPr>
        <p:spPr>
          <a:xfrm rot="0">
            <a:off x="713105" y="3639185"/>
            <a:ext cx="4892675" cy="1207770"/>
          </a:xfrm>
          <a:prstGeom prst="roundRect"/>
          <a:solidFill>
            <a:srgbClr val="B8A4ED"/>
          </a:solidFill>
          <a:ln w="889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923290" y="3849370"/>
            <a:ext cx="4472305" cy="2203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6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플랫폼 책임 공백</a:t>
            </a:r>
            <a:endParaRPr lang="ko-KR" altLang="en-US" sz="16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23290" y="4270375"/>
            <a:ext cx="4472305" cy="4578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4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양산형 콘텐츠가 확산되는 플랫폼에서 표시·검수·분쟁 대응 기준이 불명확</a:t>
            </a:r>
            <a:endParaRPr lang="ko-KR" altLang="en-US" sz="1400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7" name="Shape 17"/>
          <p:cNvSpPr>
            <a:spLocks/>
          </p:cNvSpPr>
          <p:nvPr/>
        </p:nvSpPr>
        <p:spPr>
          <a:xfrm rot="0">
            <a:off x="6254750" y="3639185"/>
            <a:ext cx="4892675" cy="1207770"/>
          </a:xfrm>
          <a:prstGeom prst="roundRect"/>
          <a:solidFill>
            <a:srgbClr val="A4D4C5"/>
          </a:solidFill>
          <a:ln w="889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18" name="TextBox 18"/>
          <p:cNvSpPr txBox="1"/>
          <p:nvPr/>
        </p:nvSpPr>
        <p:spPr>
          <a:xfrm>
            <a:off x="6464935" y="3849370"/>
            <a:ext cx="4472305" cy="2203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6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사용자 가이드 부족</a:t>
            </a:r>
            <a:endParaRPr lang="ko-KR" altLang="en-US" sz="16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464935" y="4270375"/>
            <a:ext cx="4472305" cy="4578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4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교육·콘텐츠 제작 현장에서 허용 범위와 표기 방식이 구체화되지 </a:t>
            </a:r>
            <a:r>
              <a:rPr lang="ko-KR" sz="1600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않음</a:t>
            </a:r>
            <a:endParaRPr lang="ko-KR" altLang="en-US" sz="1600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1247120" y="6610985"/>
            <a:ext cx="504190" cy="1295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r">
              <a:buFontTx/>
              <a:buNone/>
            </a:pPr>
            <a:r>
              <a:rPr lang="ko-KR" sz="7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2</a:t>
            </a:r>
            <a:r>
              <a:rPr lang="ko-KR" sz="7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5</a:t>
            </a:r>
            <a:endParaRPr lang="ko-KR" altLang="en-US" sz="700" b="1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7" name="도형 38"/>
          <p:cNvSpPr>
            <a:spLocks/>
          </p:cNvSpPr>
          <p:nvPr/>
        </p:nvSpPr>
        <p:spPr>
          <a:xfrm rot="0">
            <a:off x="710565" y="5170170"/>
            <a:ext cx="10581005" cy="1010920"/>
          </a:xfrm>
          <a:prstGeom prst="roundRect"/>
          <a:solidFill>
            <a:srgbClr val="FFFFFF"/>
          </a:solidFill>
          <a:ln w="8890" cap="flat" cmpd="sng">
            <a:solidFill>
              <a:srgbClr val="FF6B5A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 marL="0" indent="0">
              <a:buFontTx/>
              <a:buNone/>
              <a:defRPr/>
            </a:pPr>
            <a:endParaRPr lang="ko-KR" altLang="en-US"/>
          </a:p>
        </p:txBody>
      </p:sp>
      <p:sp>
        <p:nvSpPr>
          <p:cNvPr id="28" name="텍스트 상자 39"/>
          <p:cNvSpPr txBox="1">
            <a:spLocks/>
          </p:cNvSpPr>
          <p:nvPr/>
        </p:nvSpPr>
        <p:spPr>
          <a:xfrm>
            <a:off x="806450" y="5166360"/>
            <a:ext cx="9905365" cy="92392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numCol="1" vert="horz" anchor="t">
            <a:spAutoFit/>
          </a:bodyPr>
          <a:lstStyle/>
          <a:p>
            <a:pPr marL="0" indent="0" algn="l" hangingPunct="1">
              <a:lnSpc>
                <a:spcPct val="150000"/>
              </a:lnSpc>
              <a:buFontTx/>
              <a:buNone/>
            </a:pPr>
            <a:r>
              <a:rPr lang="ko-KR" sz="1800" b="1">
                <a:latin typeface="맑은 고딕" charset="0"/>
                <a:ea typeface="맑은 고딕" charset="0"/>
              </a:rPr>
              <a:t>결론</a:t>
            </a:r>
            <a:r>
              <a:rPr lang="ko-KR" sz="1800" b="1">
                <a:latin typeface="맑은 고딕" charset="0"/>
                <a:ea typeface="맑은 고딕" charset="0"/>
              </a:rPr>
              <a:t>:</a:t>
            </a:r>
            <a:r>
              <a:rPr lang="ko-KR" sz="1800" b="1">
                <a:latin typeface="맑은 고딕" charset="0"/>
                <a:ea typeface="맑은 고딕" charset="0"/>
              </a:rPr>
              <a:t> 시간이 지남에 따라 부정수치가 상승하는것은 지속적인 권리 처리 체계 부재 문제로 발생하는것이라고 할 수 있으며 </a:t>
            </a:r>
            <a:r>
              <a:rPr lang="ko-KR" sz="1800" b="1">
                <a:latin typeface="맑은 고딕" charset="0"/>
                <a:ea typeface="맑은 고딕" charset="0"/>
              </a:rPr>
              <a:t>저작권법</a:t>
            </a:r>
            <a:r>
              <a:rPr lang="ko-KR" sz="1800" b="1">
                <a:latin typeface="맑은 고딕" charset="0"/>
                <a:ea typeface="맑은 고딕" charset="0"/>
              </a:rPr>
              <a:t> 개선과 명확한 학습범위 명시가 필요</a:t>
            </a:r>
            <a:r>
              <a:rPr lang="ko-KR" sz="1800" b="1">
                <a:latin typeface="맑은 고딕" charset="0"/>
                <a:ea typeface="맑은 고딕" charset="0"/>
              </a:rPr>
              <a:t>하다고 분석함</a:t>
            </a:r>
            <a:r>
              <a:rPr lang="ko-KR" sz="1800" b="1">
                <a:latin typeface="맑은 고딕" charset="0"/>
                <a:ea typeface="맑은 고딕" charset="0"/>
              </a:rPr>
              <a:t>.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/>
          </p:cNvSpPr>
          <p:nvPr/>
        </p:nvSpPr>
        <p:spPr>
          <a:xfrm rot="0">
            <a:off x="0" y="0"/>
            <a:ext cx="12192635" cy="6858635"/>
          </a:xfrm>
          <a:prstGeom prst="rect"/>
          <a:solidFill>
            <a:srgbClr val="FFFAF0"/>
          </a:solidFill>
          <a:ln w="8890" cap="flat" cmpd="sng">
            <a:solidFill>
              <a:srgbClr val="FFFAF0">
                <a:alpha val="100000"/>
              </a:srgbClr>
            </a:solidFill>
            <a:prstDash val="solid"/>
          </a:ln>
        </p:spPr>
        <p:txBody>
          <a:bodyPr wrap="none" lIns="89535" tIns="46355" rIns="89535" bIns="46355" vert="horz" anchor="ctr">
            <a:noAutofit/>
          </a:bodyPr>
          <a:lstStyle/>
          <a:p>
            <a:pPr>
              <a:defRPr/>
            </a:pPr>
            <a:endParaRPr lang="ko-KR" altLang="en-US"/>
          </a:p>
        </p:txBody>
      </p:sp>
      <p:cxnSp>
        <p:nvCxnSpPr>
          <p:cNvPr id="4" name="Rect 0"/>
          <p:cNvCxnSpPr/>
          <p:nvPr/>
        </p:nvCxnSpPr>
        <p:spPr>
          <a:xfrm rot="0">
            <a:off x="411480" y="6510655"/>
            <a:ext cx="11384915" cy="635"/>
          </a:xfrm>
          <a:prstGeom prst="line"/>
          <a:ln w="10160" cap="flat" cmpd="sng">
            <a:solidFill>
              <a:srgbClr val="E5DED3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 0"/>
          <p:cNvSpPr txBox="1">
            <a:spLocks/>
          </p:cNvSpPr>
          <p:nvPr/>
        </p:nvSpPr>
        <p:spPr>
          <a:xfrm rot="0">
            <a:off x="530225" y="850265"/>
            <a:ext cx="8491220" cy="714375"/>
          </a:xfrm>
          <a:prstGeom prst="rect"/>
          <a:noFill/>
          <a:ln>
            <a:noFill/>
            <a:prstDash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algn="l">
              <a:buFontTx/>
              <a:buNone/>
            </a:pPr>
            <a:r>
              <a:rPr sz="2650" b="1">
                <a:solidFill>
                  <a:srgbClr val="0A0A0A"/>
                </a:solidFill>
                <a:latin typeface="Pretendard" charset="0"/>
                <a:ea typeface="Pretendard" charset="0"/>
                <a:sym typeface="맑은 고딕" charset="0"/>
              </a:rPr>
              <a:t>전문가적 </a:t>
            </a:r>
            <a:r>
              <a:rPr sz="2650" b="1">
                <a:solidFill>
                  <a:srgbClr val="0A0A0A"/>
                </a:solidFill>
                <a:latin typeface="Pretendard" charset="0"/>
                <a:ea typeface="Pretendard" charset="0"/>
                <a:sym typeface="맑은 고딕" charset="0"/>
              </a:rPr>
              <a:t>관점</a:t>
            </a:r>
            <a:r>
              <a:rPr sz="2650" b="1">
                <a:solidFill>
                  <a:srgbClr val="0A0A0A"/>
                </a:solidFill>
                <a:latin typeface="Pretendard" charset="0"/>
                <a:ea typeface="Pretendard" charset="0"/>
                <a:sym typeface="맑은 고딕" charset="0"/>
              </a:rPr>
              <a:t>에서의</a:t>
            </a:r>
            <a:r>
              <a:rPr sz="2650" b="1">
                <a:solidFill>
                  <a:srgbClr val="0A0A0A"/>
                </a:solidFill>
                <a:latin typeface="Pretendard" charset="0"/>
                <a:ea typeface="Pretendard" charset="0"/>
                <a:sym typeface="맑은 고딕" charset="0"/>
              </a:rPr>
              <a:t> </a:t>
            </a:r>
            <a:r>
              <a:rPr sz="2650" b="1">
                <a:solidFill>
                  <a:srgbClr val="0A0A0A"/>
                </a:solidFill>
                <a:latin typeface="Pretendard" charset="0"/>
                <a:ea typeface="Pretendard" charset="0"/>
                <a:sym typeface="맑은 고딕" charset="0"/>
              </a:rPr>
              <a:t>의견</a:t>
            </a:r>
            <a:endParaRPr lang="ko-KR" altLang="en-US" sz="2650" b="1">
              <a:solidFill>
                <a:srgbClr val="0A0A0A"/>
              </a:solidFill>
              <a:latin typeface="Pretendard" charset="0"/>
              <a:ea typeface="Pretendard" charset="0"/>
              <a:sym typeface="맑은 고딕" charset="0"/>
            </a:endParaRPr>
          </a:p>
        </p:txBody>
      </p:sp>
      <p:sp>
        <p:nvSpPr>
          <p:cNvPr id="26" name="Rect 0"/>
          <p:cNvSpPr txBox="1">
            <a:spLocks/>
          </p:cNvSpPr>
          <p:nvPr/>
        </p:nvSpPr>
        <p:spPr>
          <a:xfrm rot="0">
            <a:off x="11266805" y="6649720"/>
            <a:ext cx="504825" cy="9144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r">
              <a:buFontTx/>
              <a:buNone/>
            </a:pPr>
            <a:r>
              <a:rPr sz="700" b="1">
                <a:solidFill>
                  <a:srgbClr val="6A6A6A"/>
                </a:solidFill>
                <a:latin typeface="Pretendard" charset="0"/>
                <a:ea typeface="Pretendard" charset="0"/>
              </a:rPr>
              <a:t>2</a:t>
            </a:r>
            <a:r>
              <a:rPr sz="700" b="1">
                <a:solidFill>
                  <a:srgbClr val="6A6A6A"/>
                </a:solidFill>
                <a:latin typeface="Pretendard" charset="0"/>
                <a:ea typeface="Pretendard" charset="0"/>
              </a:rPr>
              <a:t>6</a:t>
            </a:r>
            <a:endParaRPr lang="ko-KR" altLang="en-US" sz="700" b="1">
              <a:solidFill>
                <a:srgbClr val="6A6A6A"/>
              </a:solidFill>
              <a:latin typeface="Pretendard" charset="0"/>
              <a:ea typeface="Pretendard" charset="0"/>
            </a:endParaRPr>
          </a:p>
        </p:txBody>
      </p:sp>
      <p:sp>
        <p:nvSpPr>
          <p:cNvPr id="27" name="Rect 0"/>
          <p:cNvSpPr txBox="1">
            <a:spLocks/>
          </p:cNvSpPr>
          <p:nvPr/>
        </p:nvSpPr>
        <p:spPr>
          <a:xfrm rot="0">
            <a:off x="409575" y="1659890"/>
            <a:ext cx="11001375" cy="4523105"/>
          </a:xfrm>
          <a:prstGeom prst="rect"/>
          <a:solidFill>
            <a:schemeClr val="bg1"/>
          </a:solidFill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wrap="square" lIns="89535" tIns="46355" rIns="89535" bIns="46355" numCol="1" vert="horz" anchor="t">
            <a:spAutoFit/>
          </a:bodyPr>
          <a:lstStyle/>
          <a:p>
            <a:pPr marL="0" indent="0" algn="l" hangingPunct="1">
              <a:buFontTx/>
              <a:buNone/>
            </a:pPr>
            <a:r>
              <a:rPr sz="1800" b="1">
                <a:latin typeface="맑은 고딕" charset="0"/>
                <a:ea typeface="맑은 고딕" charset="0"/>
              </a:rPr>
              <a:t>U</a:t>
            </a:r>
            <a:r>
              <a:rPr sz="1800" b="1">
                <a:latin typeface="맑은 고딕" charset="0"/>
                <a:ea typeface="맑은 고딕" charset="0"/>
              </a:rPr>
              <a:t>.S Copyright Office (USCO), </a:t>
            </a:r>
            <a:r>
              <a:rPr sz="1800" b="1">
                <a:latin typeface="맑은 고딕" charset="0"/>
                <a:ea typeface="맑은 고딕" charset="0"/>
              </a:rPr>
              <a:t>C</a:t>
            </a:r>
            <a:r>
              <a:rPr lang="ko-KR" sz="1800" b="1">
                <a:latin typeface="맑은 고딕" charset="0"/>
                <a:ea typeface="맑은 고딕" charset="0"/>
              </a:rPr>
              <a:t>o</a:t>
            </a:r>
            <a:r>
              <a:rPr lang="ko-KR" sz="1800" b="1">
                <a:latin typeface="맑은 고딕" charset="0"/>
                <a:ea typeface="맑은 고딕" charset="0"/>
              </a:rPr>
              <a:t>pyRight </a:t>
            </a:r>
            <a:r>
              <a:rPr lang="ko-KR" sz="1800" b="1">
                <a:latin typeface="맑은 고딕" charset="0"/>
                <a:ea typeface="맑은 고딕" charset="0"/>
              </a:rPr>
              <a:t>a</a:t>
            </a:r>
            <a:r>
              <a:rPr lang="ko-KR" sz="1800" b="1">
                <a:latin typeface="맑은 고딕" charset="0"/>
                <a:ea typeface="맑은 고딕" charset="0"/>
              </a:rPr>
              <a:t>nd Arti</a:t>
            </a:r>
            <a:r>
              <a:rPr lang="ko-KR" sz="1800" b="1">
                <a:latin typeface="맑은 고딕" charset="0"/>
                <a:ea typeface="맑은 고딕" charset="0"/>
              </a:rPr>
              <a:t>f</a:t>
            </a:r>
            <a:r>
              <a:rPr lang="ko-KR" sz="1800" b="1">
                <a:latin typeface="맑은 고딕" charset="0"/>
                <a:ea typeface="맑은 고딕" charset="0"/>
              </a:rPr>
              <a:t>ic</a:t>
            </a:r>
            <a:r>
              <a:rPr lang="ko-KR" sz="1800" b="1">
                <a:latin typeface="맑은 고딕" charset="0"/>
                <a:ea typeface="맑은 고딕" charset="0"/>
              </a:rPr>
              <a:t>i</a:t>
            </a:r>
            <a:r>
              <a:rPr lang="ko-KR" sz="1800" b="1">
                <a:latin typeface="맑은 고딕" charset="0"/>
                <a:ea typeface="맑은 고딕" charset="0"/>
              </a:rPr>
              <a:t>al </a:t>
            </a:r>
            <a:r>
              <a:rPr lang="ko-KR" sz="1800" b="1">
                <a:latin typeface="맑은 고딕" charset="0"/>
                <a:ea typeface="맑은 고딕" charset="0"/>
              </a:rPr>
              <a:t>I</a:t>
            </a:r>
            <a:r>
              <a:rPr lang="ko-KR" sz="1800" b="1">
                <a:latin typeface="맑은 고딕" charset="0"/>
                <a:ea typeface="맑은 고딕" charset="0"/>
              </a:rPr>
              <a:t>ntelligen</a:t>
            </a:r>
            <a:r>
              <a:rPr lang="ko-KR" sz="1800" b="1">
                <a:latin typeface="맑은 고딕" charset="0"/>
                <a:ea typeface="맑은 고딕" charset="0"/>
              </a:rPr>
              <a:t>c</a:t>
            </a:r>
            <a:r>
              <a:rPr lang="ko-KR" sz="1800" b="1">
                <a:latin typeface="맑은 고딕" charset="0"/>
                <a:ea typeface="맑은 고딕" charset="0"/>
              </a:rPr>
              <a:t>e </a:t>
            </a:r>
            <a:r>
              <a:rPr sz="1800" b="1">
                <a:latin typeface="맑은 고딕" charset="0"/>
                <a:ea typeface="맑은 고딕" charset="0"/>
              </a:rPr>
              <a:t>Part 1 : Digital Replicas 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sz="1800" b="1">
                <a:latin typeface="맑은 고딕" charset="0"/>
                <a:ea typeface="맑은 고딕" charset="0"/>
              </a:rPr>
              <a:t> 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sz="1800">
                <a:latin typeface="맑은 고딕" charset="0"/>
                <a:ea typeface="맑은 고딕" charset="0"/>
              </a:rPr>
              <a:t>AI 디지털 복제물에 관한 내용</a:t>
            </a:r>
            <a:r>
              <a:rPr sz="1800">
                <a:latin typeface="맑은 고딕" charset="0"/>
                <a:ea typeface="맑은 고딕" charset="0"/>
              </a:rPr>
              <a:t>을 다룸. 미국 저작권청은 기존의 저작권법으로는 이런 디지털 문제를 해결하기 어렵다고 본다. 이유는 AI 복제물은 전통적인 저작권 보호 대상과 완전 일치하지 않기 때문임. </a:t>
            </a:r>
            <a:endParaRPr lang="ko-KR" altLang="en-US" sz="1800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sz="1800">
                <a:latin typeface="맑은 고딕" charset="0"/>
                <a:ea typeface="맑은 고딕" charset="0"/>
              </a:rPr>
              <a:t>그래서 새로운 연방 차원의 보호 장치가 필요하다고 제안함.</a:t>
            </a:r>
            <a:endParaRPr lang="ko-KR" altLang="en-US" sz="1800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sz="1800">
                <a:latin typeface="맑은 고딕" charset="0"/>
                <a:ea typeface="맑은 고딕" charset="0"/>
              </a:rPr>
              <a:t>중점은 유명인 뿐만이 아닌, 일반인에게도 발생하며 보호 범위를 넓혀야 한다는 것임.</a:t>
            </a:r>
            <a:endParaRPr lang="ko-KR" altLang="en-US" sz="1800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sz="1800">
                <a:latin typeface="맑은 고딕" charset="0"/>
                <a:ea typeface="맑은 고딕" charset="0"/>
              </a:rPr>
              <a:t>이는 토픽분석 결과에서 음성,영상,디즈니,트레이싱 관련 토픽이 부정적으로 나타난 이유를</a:t>
            </a:r>
            <a:endParaRPr lang="ko-KR" altLang="en-US" sz="1800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sz="1800">
                <a:latin typeface="맑은 고딕" charset="0"/>
                <a:ea typeface="맑은 고딕" charset="0"/>
              </a:rPr>
              <a:t>뒷받침하는 전문가적 근거라고 볼 수 있음.</a:t>
            </a:r>
            <a:endParaRPr lang="ko-KR" altLang="en-US" sz="1800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sz="1800" b="1">
                <a:latin typeface="맑은 고딕" charset="0"/>
                <a:ea typeface="맑은 고딕" charset="0"/>
              </a:rPr>
              <a:t>U.S Copyright Office (USCO), </a:t>
            </a:r>
            <a:r>
              <a:rPr sz="1800" b="1">
                <a:latin typeface="맑은 고딕" charset="0"/>
                <a:ea typeface="맑은 고딕" charset="0"/>
              </a:rPr>
              <a:t>C</a:t>
            </a:r>
            <a:r>
              <a:rPr lang="ko-KR" sz="1800" b="1">
                <a:latin typeface="맑은 고딕" charset="0"/>
                <a:ea typeface="맑은 고딕" charset="0"/>
              </a:rPr>
              <a:t>o</a:t>
            </a:r>
            <a:r>
              <a:rPr lang="ko-KR" sz="1800" b="1">
                <a:latin typeface="맑은 고딕" charset="0"/>
                <a:ea typeface="맑은 고딕" charset="0"/>
              </a:rPr>
              <a:t>pyRight </a:t>
            </a:r>
            <a:r>
              <a:rPr lang="ko-KR" sz="1800" b="1">
                <a:latin typeface="맑은 고딕" charset="0"/>
                <a:ea typeface="맑은 고딕" charset="0"/>
              </a:rPr>
              <a:t>a</a:t>
            </a:r>
            <a:r>
              <a:rPr lang="ko-KR" sz="1800" b="1">
                <a:latin typeface="맑은 고딕" charset="0"/>
                <a:ea typeface="맑은 고딕" charset="0"/>
              </a:rPr>
              <a:t>nd Arti</a:t>
            </a:r>
            <a:r>
              <a:rPr lang="ko-KR" sz="1800" b="1">
                <a:latin typeface="맑은 고딕" charset="0"/>
                <a:ea typeface="맑은 고딕" charset="0"/>
              </a:rPr>
              <a:t>f</a:t>
            </a:r>
            <a:r>
              <a:rPr lang="ko-KR" sz="1800" b="1">
                <a:latin typeface="맑은 고딕" charset="0"/>
                <a:ea typeface="맑은 고딕" charset="0"/>
              </a:rPr>
              <a:t>ic</a:t>
            </a:r>
            <a:r>
              <a:rPr lang="ko-KR" sz="1800" b="1">
                <a:latin typeface="맑은 고딕" charset="0"/>
                <a:ea typeface="맑은 고딕" charset="0"/>
              </a:rPr>
              <a:t>i</a:t>
            </a:r>
            <a:r>
              <a:rPr lang="ko-KR" sz="1800" b="1">
                <a:latin typeface="맑은 고딕" charset="0"/>
                <a:ea typeface="맑은 고딕" charset="0"/>
              </a:rPr>
              <a:t>al </a:t>
            </a:r>
            <a:r>
              <a:rPr lang="ko-KR" sz="1800" b="1">
                <a:latin typeface="맑은 고딕" charset="0"/>
                <a:ea typeface="맑은 고딕" charset="0"/>
              </a:rPr>
              <a:t>I</a:t>
            </a:r>
            <a:r>
              <a:rPr lang="ko-KR" sz="1800" b="1">
                <a:latin typeface="맑은 고딕" charset="0"/>
                <a:ea typeface="맑은 고딕" charset="0"/>
              </a:rPr>
              <a:t>ntelligen</a:t>
            </a:r>
            <a:r>
              <a:rPr lang="ko-KR" sz="1800" b="1">
                <a:latin typeface="맑은 고딕" charset="0"/>
                <a:ea typeface="맑은 고딕" charset="0"/>
              </a:rPr>
              <a:t>c</a:t>
            </a:r>
            <a:r>
              <a:rPr lang="ko-KR" sz="1800" b="1">
                <a:latin typeface="맑은 고딕" charset="0"/>
                <a:ea typeface="맑은 고딕" charset="0"/>
              </a:rPr>
              <a:t>e</a:t>
            </a:r>
            <a:r>
              <a:rPr lang="ko-KR" sz="1800" b="1">
                <a:latin typeface="맑은 고딕" charset="0"/>
                <a:ea typeface="맑은 고딕" charset="0"/>
              </a:rPr>
              <a:t> </a:t>
            </a:r>
            <a:r>
              <a:rPr sz="1800" b="1">
                <a:latin typeface="맑은 고딕" charset="0"/>
                <a:ea typeface="맑은 고딕" charset="0"/>
              </a:rPr>
              <a:t>Part 2 : Copyrightability 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sz="1800">
                <a:latin typeface="맑은 고딕" charset="0"/>
                <a:ea typeface="맑은 고딕" charset="0"/>
              </a:rPr>
              <a:t>AI 생성물이 포함된 작품의 저작권 등록 기준을 설명한 문서이며 저작권 보호의 핵심은 인간 저작자성</a:t>
            </a:r>
            <a:r>
              <a:rPr sz="1800">
                <a:latin typeface="맑은 고딕" charset="0"/>
                <a:ea typeface="맑은 고딕" charset="0"/>
              </a:rPr>
              <a:t>임</a:t>
            </a:r>
            <a:r>
              <a:rPr sz="1800">
                <a:latin typeface="맑은 고딕" charset="0"/>
                <a:ea typeface="맑은 고딕" charset="0"/>
              </a:rPr>
              <a:t>. 단순 프롬프트 입력은 결과물의 표현요소의 모든 부분을 사람이 통제했다고 보기 어</a:t>
            </a:r>
            <a:r>
              <a:rPr sz="1800">
                <a:latin typeface="맑은 고딕" charset="0"/>
                <a:ea typeface="맑은 고딕" charset="0"/>
              </a:rPr>
              <a:t>려움</a:t>
            </a:r>
            <a:r>
              <a:rPr sz="1800">
                <a:latin typeface="맑은 고딕" charset="0"/>
                <a:ea typeface="맑은 고딕" charset="0"/>
              </a:rPr>
              <a:t>.  AI 생성물에 대하여 사람이 2차 수정을 가했을 경우, 사람이 기여한 부분은 보호될 수 </a:t>
            </a:r>
            <a:r>
              <a:rPr sz="1800">
                <a:latin typeface="맑은 고딕" charset="0"/>
                <a:ea typeface="맑은 고딕" charset="0"/>
              </a:rPr>
              <a:t>있음</a:t>
            </a:r>
            <a:r>
              <a:rPr sz="1800">
                <a:latin typeface="맑은 고딕" charset="0"/>
                <a:ea typeface="맑은 고딕" charset="0"/>
              </a:rPr>
              <a:t>. 즉, AI 생성물 자체에는 저작권이 없으며 사람이 2차 수정한 부분에 한해서만 저작권이 인정</a:t>
            </a:r>
            <a:r>
              <a:rPr sz="1800">
                <a:latin typeface="맑은 고딕" charset="0"/>
                <a:ea typeface="맑은 고딕" charset="0"/>
              </a:rPr>
              <a:t>됨</a:t>
            </a:r>
            <a:r>
              <a:rPr sz="1800">
                <a:latin typeface="맑은 고딕" charset="0"/>
                <a:ea typeface="맑은 고딕" charset="0"/>
              </a:rPr>
              <a:t>.</a:t>
            </a:r>
            <a:endParaRPr lang="ko-KR" altLang="en-US" sz="1800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28" name="텍스트 상자 183"/>
          <p:cNvSpPr txBox="1">
            <a:spLocks/>
          </p:cNvSpPr>
          <p:nvPr/>
        </p:nvSpPr>
        <p:spPr>
          <a:xfrm rot="0">
            <a:off x="411480" y="182880"/>
            <a:ext cx="3658870" cy="16573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9. 결론</a:t>
            </a:r>
            <a:endParaRPr lang="ko-KR" altLang="en-US" sz="800" b="1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29" name="텍스트 상자 184"/>
          <p:cNvSpPr txBox="1">
            <a:spLocks/>
          </p:cNvSpPr>
          <p:nvPr/>
        </p:nvSpPr>
        <p:spPr>
          <a:xfrm rot="0">
            <a:off x="548640" y="612775"/>
            <a:ext cx="2470150" cy="14732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INSIGHT</a:t>
            </a:r>
            <a:endParaRPr lang="ko-KR" altLang="en-US" sz="800" b="1">
              <a:solidFill>
                <a:srgbClr val="FF6B5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/>
          </p:cNvSpPr>
          <p:nvPr/>
        </p:nvSpPr>
        <p:spPr>
          <a:xfrm rot="0">
            <a:off x="0" y="0"/>
            <a:ext cx="12192635" cy="6858635"/>
          </a:xfrm>
          <a:prstGeom prst="rect"/>
          <a:solidFill>
            <a:srgbClr val="FFFAF0"/>
          </a:solidFill>
          <a:ln w="8890" cap="flat" cmpd="sng">
            <a:solidFill>
              <a:srgbClr val="FFFAF0">
                <a:alpha val="100000"/>
              </a:srgbClr>
            </a:solidFill>
            <a:prstDash val="solid"/>
          </a:ln>
        </p:spPr>
        <p:txBody>
          <a:bodyPr wrap="none" lIns="89535" tIns="46355" rIns="89535" bIns="46355" vert="horz" anchor="ctr">
            <a:noAutofit/>
          </a:bodyPr>
          <a:lstStyle/>
          <a:p>
            <a:pPr>
              <a:defRPr/>
            </a:pPr>
            <a:endParaRPr lang="ko-KR" altLang="en-US"/>
          </a:p>
        </p:txBody>
      </p:sp>
      <p:cxnSp>
        <p:nvCxnSpPr>
          <p:cNvPr id="4" name="Rect 0"/>
          <p:cNvCxnSpPr/>
          <p:nvPr/>
        </p:nvCxnSpPr>
        <p:spPr>
          <a:xfrm rot="0">
            <a:off x="411480" y="6510655"/>
            <a:ext cx="11384915" cy="635"/>
          </a:xfrm>
          <a:prstGeom prst="line"/>
          <a:ln w="10160" cap="flat" cmpd="sng">
            <a:solidFill>
              <a:srgbClr val="E5DED3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 0"/>
          <p:cNvSpPr txBox="1">
            <a:spLocks/>
          </p:cNvSpPr>
          <p:nvPr/>
        </p:nvSpPr>
        <p:spPr>
          <a:xfrm rot="0">
            <a:off x="530225" y="850265"/>
            <a:ext cx="8491220" cy="714375"/>
          </a:xfrm>
          <a:prstGeom prst="rect"/>
          <a:noFill/>
          <a:ln>
            <a:noFill/>
            <a:prstDash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algn="l">
              <a:buFontTx/>
              <a:buNone/>
            </a:pPr>
            <a:r>
              <a:rPr sz="2650" b="1">
                <a:solidFill>
                  <a:srgbClr val="0A0A0A"/>
                </a:solidFill>
                <a:latin typeface="Pretendard" charset="0"/>
                <a:ea typeface="Pretendard" charset="0"/>
                <a:sym typeface="맑은 고딕" charset="0"/>
              </a:rPr>
              <a:t>전문가적 </a:t>
            </a:r>
            <a:r>
              <a:rPr sz="2650" b="1">
                <a:solidFill>
                  <a:srgbClr val="0A0A0A"/>
                </a:solidFill>
                <a:latin typeface="Pretendard" charset="0"/>
                <a:ea typeface="Pretendard" charset="0"/>
                <a:sym typeface="맑은 고딕" charset="0"/>
              </a:rPr>
              <a:t>관점</a:t>
            </a:r>
            <a:r>
              <a:rPr sz="2650" b="1">
                <a:solidFill>
                  <a:srgbClr val="0A0A0A"/>
                </a:solidFill>
                <a:latin typeface="Pretendard" charset="0"/>
                <a:ea typeface="Pretendard" charset="0"/>
                <a:sym typeface="맑은 고딕" charset="0"/>
              </a:rPr>
              <a:t>에서의</a:t>
            </a:r>
            <a:r>
              <a:rPr sz="2650" b="1">
                <a:solidFill>
                  <a:srgbClr val="0A0A0A"/>
                </a:solidFill>
                <a:latin typeface="Pretendard" charset="0"/>
                <a:ea typeface="Pretendard" charset="0"/>
                <a:sym typeface="맑은 고딕" charset="0"/>
              </a:rPr>
              <a:t> </a:t>
            </a:r>
            <a:r>
              <a:rPr sz="2650" b="1">
                <a:solidFill>
                  <a:srgbClr val="0A0A0A"/>
                </a:solidFill>
                <a:latin typeface="Pretendard" charset="0"/>
                <a:ea typeface="Pretendard" charset="0"/>
                <a:sym typeface="맑은 고딕" charset="0"/>
              </a:rPr>
              <a:t>의견</a:t>
            </a:r>
            <a:endParaRPr lang="ko-KR" altLang="en-US" sz="2650" b="1">
              <a:solidFill>
                <a:srgbClr val="0A0A0A"/>
              </a:solidFill>
              <a:latin typeface="Pretendard" charset="0"/>
              <a:ea typeface="Pretendard" charset="0"/>
              <a:sym typeface="맑은 고딕" charset="0"/>
            </a:endParaRPr>
          </a:p>
        </p:txBody>
      </p:sp>
      <p:sp>
        <p:nvSpPr>
          <p:cNvPr id="26" name="Rect 0"/>
          <p:cNvSpPr txBox="1">
            <a:spLocks/>
          </p:cNvSpPr>
          <p:nvPr/>
        </p:nvSpPr>
        <p:spPr>
          <a:xfrm rot="0">
            <a:off x="11247120" y="6610985"/>
            <a:ext cx="504825" cy="13017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r">
              <a:buFontTx/>
              <a:buNone/>
            </a:pPr>
            <a:r>
              <a:rPr sz="700" b="1">
                <a:solidFill>
                  <a:srgbClr val="6A6A6A"/>
                </a:solidFill>
                <a:latin typeface="Pretendard" charset="0"/>
                <a:ea typeface="Pretendard" charset="0"/>
              </a:rPr>
              <a:t>2</a:t>
            </a:r>
            <a:r>
              <a:rPr sz="700" b="1">
                <a:solidFill>
                  <a:srgbClr val="6A6A6A"/>
                </a:solidFill>
                <a:latin typeface="Pretendard" charset="0"/>
                <a:ea typeface="Pretendard" charset="0"/>
              </a:rPr>
              <a:t>7</a:t>
            </a:r>
            <a:endParaRPr lang="ko-KR" altLang="en-US" sz="700" b="1">
              <a:solidFill>
                <a:srgbClr val="6A6A6A"/>
              </a:solidFill>
              <a:latin typeface="Pretendard" charset="0"/>
              <a:ea typeface="Pretendard" charset="0"/>
            </a:endParaRPr>
          </a:p>
        </p:txBody>
      </p:sp>
      <p:sp>
        <p:nvSpPr>
          <p:cNvPr id="29" name="Rect 0"/>
          <p:cNvSpPr txBox="1">
            <a:spLocks/>
          </p:cNvSpPr>
          <p:nvPr/>
        </p:nvSpPr>
        <p:spPr>
          <a:xfrm rot="0">
            <a:off x="530225" y="1479550"/>
            <a:ext cx="11001375" cy="5046345"/>
          </a:xfrm>
          <a:prstGeom prst="rect"/>
          <a:solidFill>
            <a:schemeClr val="bg1"/>
          </a:solidFill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wrap="square" lIns="89535" tIns="46355" rIns="89535" bIns="46355" numCol="1" vert="horz" anchor="t">
            <a:spAutoFit/>
          </a:bodyPr>
          <a:lstStyle/>
          <a:p>
            <a:pPr marL="0" indent="0" algn="l" hangingPunct="1">
              <a:buFontTx/>
              <a:buNone/>
            </a:pPr>
            <a:r>
              <a:rPr sz="1800" b="1">
                <a:latin typeface="맑은 고딕" charset="0"/>
                <a:ea typeface="맑은 고딕" charset="0"/>
              </a:rPr>
              <a:t>U.S Copyright Office (USCO), </a:t>
            </a:r>
            <a:r>
              <a:rPr sz="1800" b="1">
                <a:latin typeface="맑은 고딕" charset="0"/>
                <a:ea typeface="맑은 고딕" charset="0"/>
              </a:rPr>
              <a:t>C</a:t>
            </a:r>
            <a:r>
              <a:rPr lang="ko-KR" sz="1800" b="1">
                <a:latin typeface="맑은 고딕" charset="0"/>
                <a:ea typeface="맑은 고딕" charset="0"/>
              </a:rPr>
              <a:t>o</a:t>
            </a:r>
            <a:r>
              <a:rPr lang="ko-KR" sz="1800" b="1">
                <a:latin typeface="맑은 고딕" charset="0"/>
                <a:ea typeface="맑은 고딕" charset="0"/>
              </a:rPr>
              <a:t>pyRight </a:t>
            </a:r>
            <a:r>
              <a:rPr lang="ko-KR" sz="1800" b="1">
                <a:latin typeface="맑은 고딕" charset="0"/>
                <a:ea typeface="맑은 고딕" charset="0"/>
              </a:rPr>
              <a:t>a</a:t>
            </a:r>
            <a:r>
              <a:rPr lang="ko-KR" sz="1800" b="1">
                <a:latin typeface="맑은 고딕" charset="0"/>
                <a:ea typeface="맑은 고딕" charset="0"/>
              </a:rPr>
              <a:t>nd Arti</a:t>
            </a:r>
            <a:r>
              <a:rPr lang="ko-KR" sz="1800" b="1">
                <a:latin typeface="맑은 고딕" charset="0"/>
                <a:ea typeface="맑은 고딕" charset="0"/>
              </a:rPr>
              <a:t>f</a:t>
            </a:r>
            <a:r>
              <a:rPr lang="ko-KR" sz="1800" b="1">
                <a:latin typeface="맑은 고딕" charset="0"/>
                <a:ea typeface="맑은 고딕" charset="0"/>
              </a:rPr>
              <a:t>ic</a:t>
            </a:r>
            <a:r>
              <a:rPr lang="ko-KR" sz="1800" b="1">
                <a:latin typeface="맑은 고딕" charset="0"/>
                <a:ea typeface="맑은 고딕" charset="0"/>
              </a:rPr>
              <a:t>i</a:t>
            </a:r>
            <a:r>
              <a:rPr lang="ko-KR" sz="1800" b="1">
                <a:latin typeface="맑은 고딕" charset="0"/>
                <a:ea typeface="맑은 고딕" charset="0"/>
              </a:rPr>
              <a:t>al </a:t>
            </a:r>
            <a:r>
              <a:rPr lang="ko-KR" sz="1800" b="1">
                <a:latin typeface="맑은 고딕" charset="0"/>
                <a:ea typeface="맑은 고딕" charset="0"/>
              </a:rPr>
              <a:t>I</a:t>
            </a:r>
            <a:r>
              <a:rPr lang="ko-KR" sz="1800" b="1">
                <a:latin typeface="맑은 고딕" charset="0"/>
                <a:ea typeface="맑은 고딕" charset="0"/>
              </a:rPr>
              <a:t>ntelligen</a:t>
            </a:r>
            <a:r>
              <a:rPr lang="ko-KR" sz="1800" b="1">
                <a:latin typeface="맑은 고딕" charset="0"/>
                <a:ea typeface="맑은 고딕" charset="0"/>
              </a:rPr>
              <a:t>c</a:t>
            </a:r>
            <a:r>
              <a:rPr lang="ko-KR" sz="1800" b="1">
                <a:latin typeface="맑은 고딕" charset="0"/>
                <a:ea typeface="맑은 고딕" charset="0"/>
              </a:rPr>
              <a:t>e</a:t>
            </a:r>
            <a:r>
              <a:rPr lang="ko-KR" sz="1800" b="1">
                <a:latin typeface="맑은 고딕" charset="0"/>
                <a:ea typeface="맑은 고딕" charset="0"/>
              </a:rPr>
              <a:t> </a:t>
            </a:r>
            <a:r>
              <a:rPr sz="1800" b="1">
                <a:latin typeface="맑은 고딕" charset="0"/>
                <a:ea typeface="맑은 고딕" charset="0"/>
              </a:rPr>
              <a:t>Part 3 : Generative AI Training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800" b="0">
                <a:latin typeface="맑은 고딕" charset="0"/>
                <a:ea typeface="맑은 고딕" charset="0"/>
              </a:rPr>
              <a:t>모델 </a:t>
            </a:r>
            <a:r>
              <a:rPr lang="ko-KR" sz="1800" b="0">
                <a:latin typeface="맑은 고딕" charset="0"/>
                <a:ea typeface="맑은 고딕" charset="0"/>
              </a:rPr>
              <a:t>학습</a:t>
            </a:r>
            <a:r>
              <a:rPr lang="ko-KR" sz="1800" b="0">
                <a:latin typeface="맑은 고딕" charset="0"/>
                <a:ea typeface="맑은 고딕" charset="0"/>
              </a:rPr>
              <a:t>의 </a:t>
            </a:r>
            <a:r>
              <a:rPr lang="ko-KR" sz="1800" b="0">
                <a:latin typeface="맑은 고딕" charset="0"/>
                <a:ea typeface="맑은 고딕" charset="0"/>
              </a:rPr>
              <a:t>공정 이용은 획일적 판단이 아닌 사례별 분석이 필요하다고 주장함.</a:t>
            </a:r>
            <a:r>
              <a:rPr lang="ko-KR" sz="1800" b="0">
                <a:latin typeface="맑은 고딕" charset="0"/>
                <a:ea typeface="맑은 고딕" charset="0"/>
              </a:rPr>
              <a:t> </a:t>
            </a:r>
            <a:endParaRPr lang="ko-KR" altLang="en-US" sz="1800" b="0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800" b="0">
                <a:latin typeface="맑은 고딕" charset="0"/>
                <a:ea typeface="맑은 고딕" charset="0"/>
              </a:rPr>
              <a:t>초기 사전학</a:t>
            </a:r>
            <a:r>
              <a:rPr lang="ko-KR" sz="1800" b="0">
                <a:latin typeface="맑은 고딕" charset="0"/>
                <a:ea typeface="맑은 고딕" charset="0"/>
              </a:rPr>
              <a:t>습과 </a:t>
            </a:r>
            <a:r>
              <a:rPr lang="ko-KR" sz="1800" b="0">
                <a:latin typeface="맑은 고딕" charset="0"/>
                <a:ea typeface="맑은 고딕" charset="0"/>
              </a:rPr>
              <a:t>후속</a:t>
            </a:r>
            <a:r>
              <a:rPr lang="ko-KR" sz="1800" b="0">
                <a:latin typeface="맑은 고딕" charset="0"/>
                <a:ea typeface="맑은 고딕" charset="0"/>
              </a:rPr>
              <a:t> 학습,</a:t>
            </a:r>
            <a:r>
              <a:rPr lang="ko-KR" sz="1800" b="0">
                <a:latin typeface="맑은 고딕" charset="0"/>
                <a:ea typeface="맑은 고딕" charset="0"/>
              </a:rPr>
              <a:t> RAG </a:t>
            </a:r>
            <a:r>
              <a:rPr lang="ko-KR" sz="1800" b="0">
                <a:latin typeface="맑은 고딕" charset="0"/>
                <a:ea typeface="맑은 고딕" charset="0"/>
              </a:rPr>
              <a:t>등 </a:t>
            </a:r>
            <a:r>
              <a:rPr lang="ko-KR" sz="1800" b="0">
                <a:latin typeface="맑은 고딕" charset="0"/>
                <a:ea typeface="맑은 고딕" charset="0"/>
              </a:rPr>
              <a:t>서로 다른 사용</a:t>
            </a:r>
            <a:r>
              <a:rPr lang="ko-KR" sz="1800" b="0">
                <a:latin typeface="맑은 고딕" charset="0"/>
                <a:ea typeface="맑은 고딕" charset="0"/>
              </a:rPr>
              <a:t>은 </a:t>
            </a:r>
            <a:r>
              <a:rPr lang="ko-KR" sz="1800" b="0">
                <a:latin typeface="맑은 고딕" charset="0"/>
                <a:ea typeface="맑은 고딕" charset="0"/>
              </a:rPr>
              <a:t>별도 고려사항으로 </a:t>
            </a:r>
            <a:r>
              <a:rPr lang="ko-KR" sz="1800" b="0">
                <a:latin typeface="맑은 고딕" charset="0"/>
                <a:ea typeface="맑은 고딕" charset="0"/>
              </a:rPr>
              <a:t>봄.</a:t>
            </a:r>
            <a:r>
              <a:rPr lang="ko-KR" sz="1800" b="0">
                <a:latin typeface="맑은 고딕" charset="0"/>
                <a:ea typeface="맑은 고딕" charset="0"/>
              </a:rPr>
              <a:t> </a:t>
            </a:r>
            <a:endParaRPr lang="ko-KR" altLang="en-US" sz="1800" b="0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800" b="0">
                <a:latin typeface="맑은 고딕" charset="0"/>
                <a:ea typeface="맑은 고딕" charset="0"/>
              </a:rPr>
              <a:t>해적판 또는 불법 접근 데이터셋</a:t>
            </a:r>
            <a:r>
              <a:rPr lang="ko-KR" sz="1800" b="0">
                <a:latin typeface="맑은 고딕" charset="0"/>
                <a:ea typeface="맑은 고딕" charset="0"/>
              </a:rPr>
              <a:t>임을 </a:t>
            </a:r>
            <a:r>
              <a:rPr lang="ko-KR" sz="1800" b="0">
                <a:latin typeface="맑은 고딕" charset="0"/>
                <a:ea typeface="맑은 고딕" charset="0"/>
              </a:rPr>
              <a:t>알고 사용한 경우 공정이용 판단에 불리하게 작용한다고 설명함. </a:t>
            </a:r>
            <a:endParaRPr lang="ko-KR" altLang="en-US" sz="1800" b="0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800" b="0">
                <a:latin typeface="맑은 고딕" charset="0"/>
                <a:ea typeface="맑은 고딕" charset="0"/>
              </a:rPr>
              <a:t>또한 </a:t>
            </a:r>
            <a:r>
              <a:rPr lang="ko-KR" sz="1800" b="0">
                <a:latin typeface="맑은 고딕" charset="0"/>
                <a:ea typeface="맑은 고딕" charset="0"/>
              </a:rPr>
              <a:t>소설이나 </a:t>
            </a:r>
            <a:r>
              <a:rPr lang="ko-KR" sz="1800" b="0">
                <a:latin typeface="맑은 고딕" charset="0"/>
                <a:ea typeface="맑은 고딕" charset="0"/>
              </a:rPr>
              <a:t>영화,</a:t>
            </a:r>
            <a:r>
              <a:rPr lang="ko-KR" sz="1800" b="0">
                <a:latin typeface="맑은 고딕" charset="0"/>
                <a:ea typeface="맑은 고딕" charset="0"/>
              </a:rPr>
              <a:t> 음악과 같이 표현성이 강</a:t>
            </a:r>
            <a:r>
              <a:rPr lang="ko-KR" sz="1800" b="0">
                <a:latin typeface="맑은 고딕" charset="0"/>
                <a:ea typeface="맑은 고딕" charset="0"/>
              </a:rPr>
              <a:t>한 </a:t>
            </a:r>
            <a:r>
              <a:rPr lang="ko-KR" sz="1800" b="0">
                <a:latin typeface="맑은 고딕" charset="0"/>
                <a:ea typeface="맑은 고딕" charset="0"/>
              </a:rPr>
              <a:t>저작물은 공정이용 판단에 불리하게 작용한다고 말함. </a:t>
            </a:r>
            <a:endParaRPr lang="ko-KR" altLang="en-US" sz="1800" b="0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800" b="0">
                <a:latin typeface="맑은 고딕" charset="0"/>
                <a:ea typeface="맑은 고딕" charset="0"/>
              </a:rPr>
              <a:t>A</a:t>
            </a:r>
            <a:r>
              <a:rPr lang="ko-KR" sz="1800" b="0">
                <a:latin typeface="맑은 고딕" charset="0"/>
                <a:ea typeface="맑은 고딕" charset="0"/>
              </a:rPr>
              <a:t>I 학습은 라이센스 시장에도 피해를 끼친다고 설명</a:t>
            </a:r>
            <a:r>
              <a:rPr lang="ko-KR" sz="1800" b="0">
                <a:latin typeface="맑은 고딕" charset="0"/>
                <a:ea typeface="맑은 고딕" charset="0"/>
              </a:rPr>
              <a:t>,</a:t>
            </a:r>
            <a:r>
              <a:rPr lang="ko-KR" sz="1800" b="0">
                <a:latin typeface="맑은 고딕" charset="0"/>
                <a:ea typeface="맑은 고딕" charset="0"/>
              </a:rPr>
              <a:t> </a:t>
            </a:r>
            <a:r>
              <a:rPr lang="ko-KR" sz="1800" b="0">
                <a:latin typeface="맑은 고딕" charset="0"/>
                <a:ea typeface="맑은 고딕" charset="0"/>
              </a:rPr>
              <a:t>일부 </a:t>
            </a:r>
            <a:r>
              <a:rPr lang="ko-KR" sz="1800" b="0">
                <a:latin typeface="맑은 고딕" charset="0"/>
                <a:ea typeface="맑은 고딕" charset="0"/>
              </a:rPr>
              <a:t>분야에서는 AI 학습용 라이센스 시장이 형성되고 있</a:t>
            </a:r>
            <a:r>
              <a:rPr lang="ko-KR" sz="1800" b="0">
                <a:latin typeface="맑은 고딕" charset="0"/>
                <a:ea typeface="맑은 고딕" charset="0"/>
              </a:rPr>
              <a:t>음을 말함. </a:t>
            </a:r>
            <a:r>
              <a:rPr lang="ko-KR" sz="1800" b="0">
                <a:latin typeface="맑은 고딕" charset="0"/>
                <a:ea typeface="맑은 고딕" charset="0"/>
              </a:rPr>
              <a:t>자발적 라이센스는 중요하지만 </a:t>
            </a:r>
            <a:r>
              <a:rPr lang="ko-KR" sz="1800" b="0">
                <a:latin typeface="맑은 고딕" charset="0"/>
                <a:ea typeface="맑은 고딕" charset="0"/>
              </a:rPr>
              <a:t>A</a:t>
            </a:r>
            <a:r>
              <a:rPr lang="ko-KR" sz="1800" b="0">
                <a:latin typeface="맑은 고딕" charset="0"/>
                <a:ea typeface="맑은 고딕" charset="0"/>
              </a:rPr>
              <a:t>I 학습에 바로 적용되기는 어렵다고 봄.</a:t>
            </a:r>
            <a:endParaRPr lang="ko-KR" altLang="en-US" sz="1800" b="0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800" b="0">
                <a:latin typeface="맑은 고딕" charset="0"/>
                <a:ea typeface="맑은 고딕" charset="0"/>
              </a:rPr>
              <a:t>즉, 전문가의 관점에서도 AI 저작권의 갈등은 생성물보다는 학습 데이터의 적</a:t>
            </a:r>
            <a:r>
              <a:rPr lang="ko-KR" sz="1800" b="0">
                <a:latin typeface="맑은 고딕" charset="0"/>
                <a:ea typeface="맑은 고딕" charset="0"/>
              </a:rPr>
              <a:t>법성,</a:t>
            </a:r>
            <a:r>
              <a:rPr lang="ko-KR" sz="1800" b="0">
                <a:latin typeface="맑은 고딕" charset="0"/>
                <a:ea typeface="맑은 고딕" charset="0"/>
              </a:rPr>
              <a:t> 라이센스, 권리자 보상 문제에 있다고 </a:t>
            </a:r>
            <a:r>
              <a:rPr lang="ko-KR" sz="1800" b="0">
                <a:latin typeface="맑은 고딕" charset="0"/>
                <a:ea typeface="맑은 고딕" charset="0"/>
              </a:rPr>
              <a:t>주장</a:t>
            </a:r>
            <a:r>
              <a:rPr lang="ko-KR" sz="1800" b="0">
                <a:latin typeface="맑은 고딕" charset="0"/>
                <a:ea typeface="맑은 고딕" charset="0"/>
              </a:rPr>
              <a:t>.</a:t>
            </a:r>
            <a:endParaRPr lang="ko-KR" altLang="en-US" sz="1800" b="0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endParaRPr lang="ko-KR" altLang="en-US" sz="1800" b="0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sz="1600" i="0" b="1">
                <a:solidFill>
                  <a:schemeClr val="tx1"/>
                </a:solidFill>
                <a:latin typeface="Segoe UI" charset="0"/>
                <a:ea typeface="-apple-system" charset="0"/>
              </a:rPr>
              <a:t>WIPO</a:t>
            </a:r>
            <a:r>
              <a:rPr lang="ko-KR" sz="1600" i="0" b="1">
                <a:solidFill>
                  <a:schemeClr val="tx1"/>
                </a:solidFill>
                <a:latin typeface="Segoe UI" charset="0"/>
                <a:ea typeface="-apple-system" charset="0"/>
              </a:rPr>
              <a:t> </a:t>
            </a:r>
            <a:r>
              <a:rPr lang="ko-KR" sz="1600" i="0" b="1">
                <a:solidFill>
                  <a:schemeClr val="tx1"/>
                </a:solidFill>
                <a:latin typeface="Segoe UI" charset="0"/>
                <a:ea typeface="-apple-system" charset="0"/>
              </a:rPr>
              <a:t>(</a:t>
            </a:r>
            <a:r>
              <a:rPr b="1"/>
              <a:t>World Intellectual Property Organization</a:t>
            </a:r>
            <a:r>
              <a:rPr sz="1600" i="0" b="1">
                <a:solidFill>
                  <a:schemeClr val="tx1"/>
                </a:solidFill>
                <a:latin typeface="Segoe UI" charset="0"/>
                <a:ea typeface="-apple-system" charset="0"/>
              </a:rPr>
              <a:t>)</a:t>
            </a:r>
            <a:r>
              <a:rPr sz="1600" i="0" b="1">
                <a:solidFill>
                  <a:schemeClr val="tx1"/>
                </a:solidFill>
                <a:latin typeface="Segoe UI" charset="0"/>
                <a:ea typeface="-apple-system" charset="0"/>
              </a:rPr>
              <a:t>, Getting the Innovation Ecosystem Ready for AI</a:t>
            </a:r>
            <a:endParaRPr lang="ko-KR" altLang="en-US" sz="1600" i="0" b="1">
              <a:solidFill>
                <a:schemeClr val="tx1"/>
              </a:solidFill>
              <a:latin typeface="Segoe UI" charset="0"/>
              <a:ea typeface="-apple-system" charset="0"/>
            </a:endParaRPr>
          </a:p>
          <a:p>
            <a:pPr marL="0" indent="0" algn="l" hangingPunct="1">
              <a:buFontTx/>
              <a:buNone/>
            </a:pPr>
            <a:endParaRPr lang="ko-KR" altLang="en-US" sz="1600" i="0" b="1">
              <a:solidFill>
                <a:schemeClr val="tx1"/>
              </a:solidFill>
              <a:latin typeface="Segoe UI" charset="0"/>
              <a:ea typeface="-apple-system" charset="0"/>
            </a:endParaRPr>
          </a:p>
          <a:p>
            <a:pPr marL="0" indent="0" algn="l" hangingPunct="1">
              <a:buFontTx/>
              <a:buNone/>
            </a:pPr>
            <a:r>
              <a:rPr lang="ko-KR" sz="1800" i="0" b="0">
                <a:solidFill>
                  <a:schemeClr val="tx1"/>
                </a:solidFill>
                <a:latin typeface="Segoe UI" charset="0"/>
                <a:ea typeface="-apple-system" charset="0"/>
              </a:rPr>
              <a:t>A</a:t>
            </a:r>
            <a:r>
              <a:rPr lang="ko-KR" sz="1800" i="0" b="0">
                <a:solidFill>
                  <a:schemeClr val="tx1"/>
                </a:solidFill>
                <a:latin typeface="Segoe UI" charset="0"/>
                <a:ea typeface="-apple-system" charset="0"/>
              </a:rPr>
              <a:t>I</a:t>
            </a:r>
            <a:r>
              <a:rPr lang="ko-KR" sz="1800" i="0" b="0">
                <a:solidFill>
                  <a:schemeClr val="tx1"/>
                </a:solidFill>
                <a:latin typeface="Segoe UI" charset="0"/>
                <a:ea typeface="-apple-system" charset="0"/>
              </a:rPr>
              <a:t>와 </a:t>
            </a:r>
            <a:r>
              <a:rPr lang="ko-KR" sz="1800" i="0" b="0">
                <a:solidFill>
                  <a:schemeClr val="tx1"/>
                </a:solidFill>
                <a:latin typeface="Segoe UI" charset="0"/>
                <a:ea typeface="-apple-system" charset="0"/>
              </a:rPr>
              <a:t>IP 문제는 혁신과 권리 보호의 균형 문제</a:t>
            </a:r>
            <a:r>
              <a:rPr lang="ko-KR" sz="1800" i="0" b="0">
                <a:solidFill>
                  <a:schemeClr val="tx1"/>
                </a:solidFill>
                <a:latin typeface="Segoe UI" charset="0"/>
                <a:ea typeface="-apple-system" charset="0"/>
              </a:rPr>
              <a:t>임.</a:t>
            </a:r>
            <a:endParaRPr lang="ko-KR" altLang="en-US" sz="1800" i="0" b="0">
              <a:solidFill>
                <a:schemeClr val="tx1"/>
              </a:solidFill>
              <a:latin typeface="Segoe UI" charset="0"/>
              <a:ea typeface="-apple-system" charset="0"/>
            </a:endParaRPr>
          </a:p>
          <a:p>
            <a:pPr marL="0" indent="0" algn="l" hangingPunct="1">
              <a:buFontTx/>
              <a:buNone/>
            </a:pPr>
            <a:r>
              <a:rPr lang="ko-KR" sz="1800" i="0" b="0">
                <a:solidFill>
                  <a:schemeClr val="tx1"/>
                </a:solidFill>
                <a:latin typeface="Segoe UI" charset="0"/>
                <a:ea typeface="-apple-system" charset="0"/>
              </a:rPr>
              <a:t>대량의 학습 데이터에는 저작권 보호 저작물이 포함될 수 있음.</a:t>
            </a:r>
            <a:endParaRPr lang="ko-KR" altLang="en-US" sz="1800" i="0" b="0">
              <a:solidFill>
                <a:schemeClr val="tx1"/>
              </a:solidFill>
              <a:latin typeface="Segoe UI" charset="0"/>
              <a:ea typeface="-apple-system" charset="0"/>
            </a:endParaRPr>
          </a:p>
          <a:p>
            <a:pPr marL="0" indent="0" algn="l" hangingPunct="1">
              <a:buFontTx/>
              <a:buNone/>
            </a:pPr>
            <a:r>
              <a:rPr lang="ko-KR" sz="1800" i="0" b="0">
                <a:solidFill>
                  <a:schemeClr val="tx1"/>
                </a:solidFill>
                <a:latin typeface="Segoe UI" charset="0"/>
                <a:ea typeface="-apple-system" charset="0"/>
              </a:rPr>
              <a:t>정책 목표는 AI 금지가 아니라 데이터 접근과 권리 보호의 균형임.</a:t>
            </a:r>
            <a:endParaRPr lang="ko-KR" altLang="en-US" sz="1800" i="0" b="0">
              <a:solidFill>
                <a:schemeClr val="tx1"/>
              </a:solidFill>
              <a:latin typeface="Segoe UI" charset="0"/>
              <a:ea typeface="-apple-system" charset="0"/>
            </a:endParaRPr>
          </a:p>
          <a:p>
            <a:pPr marL="0" indent="0" algn="l" hangingPunct="1">
              <a:buFontTx/>
              <a:buNone/>
            </a:pPr>
            <a:r>
              <a:rPr lang="ko-KR" sz="1800" i="0" b="0">
                <a:solidFill>
                  <a:schemeClr val="tx1"/>
                </a:solidFill>
                <a:latin typeface="Segoe UI" charset="0"/>
                <a:ea typeface="-apple-system" charset="0"/>
              </a:rPr>
              <a:t>각국은 </a:t>
            </a:r>
            <a:r>
              <a:rPr lang="ko-KR" sz="1800" i="0" b="0">
                <a:solidFill>
                  <a:schemeClr val="tx1"/>
                </a:solidFill>
                <a:latin typeface="Segoe UI" charset="0"/>
                <a:ea typeface="-apple-system" charset="0"/>
              </a:rPr>
              <a:t>자국 </a:t>
            </a:r>
            <a:r>
              <a:rPr lang="ko-KR" sz="1800" i="0" b="0">
                <a:solidFill>
                  <a:schemeClr val="tx1"/>
                </a:solidFill>
                <a:latin typeface="Segoe UI" charset="0"/>
                <a:ea typeface="-apple-system" charset="0"/>
              </a:rPr>
              <a:t>IP에 맞게 정책 선정을 해야할 필요 있음.</a:t>
            </a:r>
            <a:endParaRPr lang="ko-KR" altLang="en-US" sz="1800" i="0" b="0">
              <a:solidFill>
                <a:schemeClr val="tx1"/>
              </a:solidFill>
              <a:latin typeface="Segoe UI" charset="0"/>
              <a:ea typeface="-apple-system" charset="0"/>
            </a:endParaRPr>
          </a:p>
          <a:p>
            <a:pPr marL="0" indent="0" algn="l" hangingPunct="1">
              <a:buFontTx/>
              <a:buNone/>
            </a:pPr>
            <a:r>
              <a:rPr lang="ko-KR" sz="1800" i="0" b="0">
                <a:solidFill>
                  <a:schemeClr val="tx1"/>
                </a:solidFill>
                <a:latin typeface="Segoe UI" charset="0"/>
                <a:ea typeface="-apple-system" charset="0"/>
              </a:rPr>
              <a:t>이해관계자</a:t>
            </a:r>
            <a:r>
              <a:rPr lang="ko-KR" sz="1800" i="0" b="0">
                <a:solidFill>
                  <a:schemeClr val="tx1"/>
                </a:solidFill>
                <a:latin typeface="Segoe UI" charset="0"/>
                <a:ea typeface="-apple-system" charset="0"/>
              </a:rPr>
              <a:t> </a:t>
            </a:r>
            <a:r>
              <a:rPr lang="ko-KR" sz="1800" i="0" b="0">
                <a:solidFill>
                  <a:schemeClr val="tx1"/>
                </a:solidFill>
                <a:latin typeface="Segoe UI" charset="0"/>
                <a:ea typeface="-apple-system" charset="0"/>
              </a:rPr>
              <a:t>(기업, 개발자, 기존 </a:t>
            </a:r>
            <a:r>
              <a:rPr lang="ko-KR" sz="1800" i="0" b="0">
                <a:solidFill>
                  <a:schemeClr val="tx1"/>
                </a:solidFill>
                <a:latin typeface="Segoe UI" charset="0"/>
                <a:ea typeface="-apple-system" charset="0"/>
              </a:rPr>
              <a:t>I</a:t>
            </a:r>
            <a:r>
              <a:rPr lang="ko-KR" sz="1800" i="0" b="0">
                <a:solidFill>
                  <a:schemeClr val="tx1"/>
                </a:solidFill>
                <a:latin typeface="Segoe UI" charset="0"/>
                <a:ea typeface="-apple-system" charset="0"/>
              </a:rPr>
              <a:t>P 권리자, 소비자, 전문가 </a:t>
            </a:r>
            <a:r>
              <a:rPr lang="ko-KR" sz="1800" i="0" b="0">
                <a:solidFill>
                  <a:schemeClr val="tx1"/>
                </a:solidFill>
                <a:latin typeface="Segoe UI" charset="0"/>
                <a:ea typeface="-apple-system" charset="0"/>
              </a:rPr>
              <a:t>등)</a:t>
            </a:r>
            <a:r>
              <a:rPr lang="ko-KR" sz="1800" i="0" b="0">
                <a:solidFill>
                  <a:schemeClr val="tx1"/>
                </a:solidFill>
                <a:latin typeface="Segoe UI" charset="0"/>
                <a:ea typeface="-apple-system" charset="0"/>
              </a:rPr>
              <a:t>이 함께 참</a:t>
            </a:r>
            <a:r>
              <a:rPr lang="ko-KR" sz="1800" i="0" b="0">
                <a:solidFill>
                  <a:schemeClr val="tx1"/>
                </a:solidFill>
                <a:latin typeface="Segoe UI" charset="0"/>
                <a:ea typeface="-apple-system" charset="0"/>
              </a:rPr>
              <a:t>여하는 </a:t>
            </a:r>
            <a:r>
              <a:rPr lang="ko-KR" sz="1800" i="0" b="0">
                <a:solidFill>
                  <a:schemeClr val="tx1"/>
                </a:solidFill>
                <a:latin typeface="Segoe UI" charset="0"/>
                <a:ea typeface="-apple-system" charset="0"/>
              </a:rPr>
              <a:t>통합적 </a:t>
            </a:r>
            <a:r>
              <a:rPr lang="ko-KR" sz="1800" i="0" b="0">
                <a:solidFill>
                  <a:schemeClr val="tx1"/>
                </a:solidFill>
                <a:latin typeface="Segoe UI" charset="0"/>
                <a:ea typeface="-apple-system" charset="0"/>
              </a:rPr>
              <a:t>접근 </a:t>
            </a:r>
            <a:r>
              <a:rPr lang="ko-KR" sz="1800" i="0" b="0">
                <a:solidFill>
                  <a:schemeClr val="tx1"/>
                </a:solidFill>
                <a:latin typeface="Segoe UI" charset="0"/>
                <a:ea typeface="-apple-system" charset="0"/>
              </a:rPr>
              <a:t>필요.</a:t>
            </a:r>
            <a:endParaRPr lang="ko-KR" altLang="en-US" sz="1800" i="0" b="0">
              <a:solidFill>
                <a:schemeClr val="tx1"/>
              </a:solidFill>
              <a:latin typeface="Segoe UI" charset="0"/>
              <a:ea typeface="-apple-system" charset="0"/>
            </a:endParaRPr>
          </a:p>
        </p:txBody>
      </p:sp>
      <p:sp>
        <p:nvSpPr>
          <p:cNvPr id="30" name="텍스트 상자 185"/>
          <p:cNvSpPr txBox="1">
            <a:spLocks/>
          </p:cNvSpPr>
          <p:nvPr/>
        </p:nvSpPr>
        <p:spPr>
          <a:xfrm rot="0">
            <a:off x="411480" y="182880"/>
            <a:ext cx="3658870" cy="16573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9. 결론</a:t>
            </a:r>
            <a:endParaRPr lang="ko-KR" altLang="en-US" sz="800" b="1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1" name="텍스트 상자 186"/>
          <p:cNvSpPr txBox="1">
            <a:spLocks/>
          </p:cNvSpPr>
          <p:nvPr/>
        </p:nvSpPr>
        <p:spPr>
          <a:xfrm rot="0">
            <a:off x="548640" y="612775"/>
            <a:ext cx="2470150" cy="14732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INSIGHT</a:t>
            </a:r>
            <a:endParaRPr lang="ko-KR" altLang="en-US" sz="800" b="1">
              <a:solidFill>
                <a:srgbClr val="FF6B5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/>
          </p:cNvSpPr>
          <p:nvPr/>
        </p:nvSpPr>
        <p:spPr>
          <a:xfrm rot="0">
            <a:off x="0" y="0"/>
            <a:ext cx="12192635" cy="6858635"/>
          </a:xfrm>
          <a:prstGeom prst="rect"/>
          <a:solidFill>
            <a:srgbClr val="FFFAF0"/>
          </a:solidFill>
          <a:ln w="8890" cap="flat" cmpd="sng">
            <a:solidFill>
              <a:srgbClr val="FFFAF0">
                <a:alpha val="100000"/>
              </a:srgbClr>
            </a:solidFill>
            <a:prstDash val="solid"/>
          </a:ln>
        </p:spPr>
        <p:txBody>
          <a:bodyPr wrap="none" lIns="89535" tIns="46355" rIns="89535" bIns="46355" vert="horz" anchor="ctr">
            <a:noAutofit/>
          </a:bodyPr>
          <a:lstStyle/>
          <a:p>
            <a:pPr>
              <a:defRPr/>
            </a:pPr>
            <a:endParaRPr lang="ko-KR" altLang="en-US"/>
          </a:p>
        </p:txBody>
      </p:sp>
      <p:cxnSp>
        <p:nvCxnSpPr>
          <p:cNvPr id="4" name="Rect 0"/>
          <p:cNvCxnSpPr/>
          <p:nvPr/>
        </p:nvCxnSpPr>
        <p:spPr>
          <a:xfrm rot="0">
            <a:off x="411480" y="6510655"/>
            <a:ext cx="11384915" cy="635"/>
          </a:xfrm>
          <a:prstGeom prst="line"/>
          <a:ln w="10160" cap="flat" cmpd="sng">
            <a:solidFill>
              <a:srgbClr val="E5DED3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 0"/>
          <p:cNvSpPr txBox="1">
            <a:spLocks/>
          </p:cNvSpPr>
          <p:nvPr/>
        </p:nvSpPr>
        <p:spPr>
          <a:xfrm>
            <a:off x="530225" y="850265"/>
            <a:ext cx="8491855" cy="71501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sz="2650" b="1">
                <a:solidFill>
                  <a:srgbClr val="0A0A0A"/>
                </a:solidFill>
                <a:latin typeface="Pretendard" charset="0"/>
                <a:ea typeface="Pretendard" charset="0"/>
              </a:rPr>
              <a:t>전문가적 관점에서 바라본 AI 저작권의 향방</a:t>
            </a:r>
            <a:r>
              <a:rPr sz="2650" b="1">
                <a:solidFill>
                  <a:srgbClr val="0A0A0A"/>
                </a:solidFill>
                <a:latin typeface="Pretendard" charset="0"/>
                <a:ea typeface="Pretendard" charset="0"/>
              </a:rPr>
              <a:t> </a:t>
            </a:r>
            <a:r>
              <a:rPr sz="2650" b="1">
                <a:solidFill>
                  <a:srgbClr val="0A0A0A"/>
                </a:solidFill>
                <a:latin typeface="Pretendard" charset="0"/>
                <a:ea typeface="Pretendard" charset="0"/>
              </a:rPr>
              <a:t>요약</a:t>
            </a:r>
            <a:endParaRPr lang="ko-KR" altLang="en-US" sz="2650" b="1">
              <a:solidFill>
                <a:srgbClr val="0A0A0A"/>
              </a:solidFill>
              <a:latin typeface="Pretendard" charset="0"/>
              <a:ea typeface="Pretendard" charset="0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 rot="0">
            <a:off x="548640" y="1271905"/>
            <a:ext cx="7179310" cy="312420"/>
          </a:xfrm>
          <a:prstGeom prst="rect"/>
          <a:noFill/>
          <a:ln>
            <a:noFill/>
            <a:prstDash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algn="l">
              <a:buFontTx/>
              <a:buNone/>
            </a:pPr>
            <a:r>
              <a:rPr sz="915">
                <a:solidFill>
                  <a:srgbClr val="6A6A6A"/>
                </a:solidFill>
                <a:latin typeface="Pretendard" charset="0"/>
                <a:ea typeface="Pretendard" charset="0"/>
                <a:sym typeface="맑은 고딕" charset="0"/>
              </a:rPr>
              <a:t>해외 </a:t>
            </a:r>
            <a:r>
              <a:rPr sz="915">
                <a:solidFill>
                  <a:srgbClr val="6A6A6A"/>
                </a:solidFill>
                <a:latin typeface="Pretendard" charset="0"/>
                <a:ea typeface="Pretendard" charset="0"/>
                <a:sym typeface="맑은 고딕" charset="0"/>
              </a:rPr>
              <a:t>레포트</a:t>
            </a:r>
            <a:r>
              <a:rPr sz="915">
                <a:solidFill>
                  <a:srgbClr val="6A6A6A"/>
                </a:solidFill>
                <a:latin typeface="Pretendard" charset="0"/>
                <a:ea typeface="Pretendard" charset="0"/>
                <a:sym typeface="맑은 고딕" charset="0"/>
              </a:rPr>
              <a:t>와 </a:t>
            </a:r>
            <a:r>
              <a:rPr sz="915">
                <a:solidFill>
                  <a:srgbClr val="6A6A6A"/>
                </a:solidFill>
                <a:latin typeface="Pretendard" charset="0"/>
                <a:ea typeface="Pretendard" charset="0"/>
                <a:sym typeface="맑은 고딕" charset="0"/>
              </a:rPr>
              <a:t>국내 레포트를 기반으로 전문가들은 </a:t>
            </a:r>
            <a:r>
              <a:rPr sz="915">
                <a:solidFill>
                  <a:srgbClr val="6A6A6A"/>
                </a:solidFill>
                <a:latin typeface="Pretendard" charset="0"/>
                <a:ea typeface="Pretendard" charset="0"/>
                <a:sym typeface="맑은 고딕" charset="0"/>
              </a:rPr>
              <a:t>A</a:t>
            </a:r>
            <a:r>
              <a:rPr sz="915">
                <a:solidFill>
                  <a:srgbClr val="6A6A6A"/>
                </a:solidFill>
                <a:latin typeface="Pretendard" charset="0"/>
                <a:ea typeface="Pretendard" charset="0"/>
                <a:sym typeface="맑은 고딕" charset="0"/>
              </a:rPr>
              <a:t>I 저작권이 앞으로 </a:t>
            </a:r>
            <a:r>
              <a:rPr sz="915">
                <a:solidFill>
                  <a:srgbClr val="6A6A6A"/>
                </a:solidFill>
                <a:latin typeface="Pretendard" charset="0"/>
                <a:ea typeface="Pretendard" charset="0"/>
                <a:sym typeface="맑은 고딕" charset="0"/>
              </a:rPr>
              <a:t>어떤 </a:t>
            </a:r>
            <a:r>
              <a:rPr sz="915">
                <a:solidFill>
                  <a:srgbClr val="6A6A6A"/>
                </a:solidFill>
                <a:latin typeface="Pretendard" charset="0"/>
                <a:ea typeface="Pretendard" charset="0"/>
                <a:sym typeface="맑은 고딕" charset="0"/>
              </a:rPr>
              <a:t>방향으로 흘러갈것</a:t>
            </a:r>
            <a:r>
              <a:rPr sz="915">
                <a:solidFill>
                  <a:srgbClr val="6A6A6A"/>
                </a:solidFill>
                <a:latin typeface="Pretendard" charset="0"/>
                <a:ea typeface="Pretendard" charset="0"/>
                <a:sym typeface="맑은 고딕" charset="0"/>
              </a:rPr>
              <a:t>으로 </a:t>
            </a:r>
            <a:r>
              <a:rPr sz="915">
                <a:solidFill>
                  <a:srgbClr val="6A6A6A"/>
                </a:solidFill>
                <a:latin typeface="Pretendard" charset="0"/>
                <a:ea typeface="Pretendard" charset="0"/>
                <a:sym typeface="맑은 고딕" charset="0"/>
              </a:rPr>
              <a:t>보는지 분석함.</a:t>
            </a:r>
            <a:endParaRPr lang="ko-KR" altLang="en-US" sz="915">
              <a:solidFill>
                <a:srgbClr val="6A6A6A"/>
              </a:solidFill>
              <a:latin typeface="Pretendard" charset="0"/>
              <a:ea typeface="Pretendard" charset="0"/>
              <a:sym typeface="맑은 고딕" charset="0"/>
            </a:endParaRPr>
          </a:p>
        </p:txBody>
      </p:sp>
      <p:sp>
        <p:nvSpPr>
          <p:cNvPr id="26" name="Rect 0"/>
          <p:cNvSpPr txBox="1">
            <a:spLocks/>
          </p:cNvSpPr>
          <p:nvPr/>
        </p:nvSpPr>
        <p:spPr>
          <a:xfrm>
            <a:off x="11247120" y="6610985"/>
            <a:ext cx="574040" cy="19050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r">
              <a:buFontTx/>
              <a:buNone/>
            </a:pPr>
            <a:r>
              <a:rPr sz="700" b="1">
                <a:solidFill>
                  <a:srgbClr val="6A6A6A"/>
                </a:solidFill>
                <a:latin typeface="Pretendard" charset="0"/>
                <a:ea typeface="Pretendard" charset="0"/>
              </a:rPr>
              <a:t>2</a:t>
            </a:r>
            <a:r>
              <a:rPr sz="700" b="1">
                <a:solidFill>
                  <a:srgbClr val="6A6A6A"/>
                </a:solidFill>
                <a:latin typeface="Pretendard" charset="0"/>
                <a:ea typeface="Pretendard" charset="0"/>
              </a:rPr>
              <a:t>8</a:t>
            </a:r>
            <a:endParaRPr lang="ko-KR" altLang="en-US" sz="700" b="1">
              <a:solidFill>
                <a:srgbClr val="6A6A6A"/>
              </a:solidFill>
              <a:latin typeface="Pretendard" charset="0"/>
              <a:ea typeface="Pretendard" charset="0"/>
            </a:endParaRPr>
          </a:p>
        </p:txBody>
      </p:sp>
      <p:sp>
        <p:nvSpPr>
          <p:cNvPr id="29" name="Rect 0"/>
          <p:cNvSpPr txBox="1">
            <a:spLocks/>
          </p:cNvSpPr>
          <p:nvPr/>
        </p:nvSpPr>
        <p:spPr>
          <a:xfrm rot="0">
            <a:off x="480060" y="1579880"/>
            <a:ext cx="11001375" cy="4523105"/>
          </a:xfrm>
          <a:prstGeom prst="rect"/>
          <a:noFill/>
          <a:ln w="9525" cap="flat" cmpd="sng">
            <a:noFill/>
            <a:prstDash/>
            <a:round/>
          </a:ln>
        </p:spPr>
        <p:txBody>
          <a:bodyPr wrap="square" lIns="89535" tIns="46355" rIns="89535" bIns="46355" numCol="1" vert="horz" anchor="t">
            <a:spAutoFit/>
          </a:bodyPr>
          <a:lstStyle/>
          <a:p>
            <a:pPr marL="0" indent="0" algn="l" hangingPunct="1">
              <a:buFontTx/>
              <a:buNone/>
            </a:pPr>
            <a:r>
              <a:rPr sz="1800" b="1">
                <a:latin typeface="맑은 고딕" charset="0"/>
                <a:ea typeface="맑은 고딕" charset="0"/>
              </a:rPr>
              <a:t>1. AI 활용 자체를 금지해야 한다는 결론은 아님.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sz="1800" b="1">
                <a:latin typeface="맑은 고딕" charset="0"/>
                <a:ea typeface="맑은 고딕" charset="0"/>
              </a:rPr>
              <a:t>2. 문제의 핵심은 인간 창작 기여, 학습 데이터의 적법성, 권리자 보상, 투명성 부족임.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sz="1800" b="1">
                <a:latin typeface="맑은 고딕" charset="0"/>
                <a:ea typeface="맑은 고딕" charset="0"/>
              </a:rPr>
              <a:t>3. 단순 프롬프트 기반 생성물은 인간 저작물과 동일하게 보기 어렵다는 입장이 강함.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sz="1800" b="1">
                <a:latin typeface="맑은 고딕" charset="0"/>
                <a:ea typeface="맑은 고딕" charset="0"/>
              </a:rPr>
              <a:t>4. 학습 데이터 문제는 공정이용, 라이선스, 투명성 공개가 충돌하는 핵심 쟁점임.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sz="1800" b="1">
                <a:latin typeface="맑은 고딕" charset="0"/>
                <a:ea typeface="맑은 고딕" charset="0"/>
              </a:rPr>
              <a:t>5. 해외 정책기관은 학습 데이터 요약 공개, 저작권 준수 정책, 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sz="1800" b="1">
                <a:latin typeface="맑은 고딕" charset="0"/>
                <a:ea typeface="맑은 고딕" charset="0"/>
              </a:rPr>
              <a:t>라이선스 시장 조성, 권리자 확인권을 중요하게 봄.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sz="1800" b="1">
                <a:latin typeface="맑은 고딕" charset="0"/>
                <a:ea typeface="맑은 고딕" charset="0"/>
              </a:rPr>
              <a:t>6. </a:t>
            </a:r>
            <a:r>
              <a:rPr lang="ko-KR" sz="1800" b="1">
                <a:latin typeface="맑은 고딕" charset="0"/>
                <a:ea typeface="맑은 고딕" charset="0"/>
              </a:rPr>
              <a:t>위에서는 </a:t>
            </a:r>
            <a:r>
              <a:rPr lang="ko-KR" sz="1800" b="1">
                <a:latin typeface="맑은 고딕" charset="0"/>
                <a:ea typeface="맑은 고딕" charset="0"/>
              </a:rPr>
              <a:t>언급하지 않은 EU</a:t>
            </a:r>
            <a:r>
              <a:rPr lang="ko-KR" sz="1800" b="1">
                <a:latin typeface="맑은 고딕" charset="0"/>
                <a:ea typeface="맑은 고딕" charset="0"/>
              </a:rPr>
              <a:t> </a:t>
            </a:r>
            <a:r>
              <a:rPr lang="ko-KR" sz="1800" b="1">
                <a:latin typeface="맑은 고딕" charset="0"/>
                <a:ea typeface="맑은 고딕" charset="0"/>
              </a:rPr>
              <a:t>General</a:t>
            </a:r>
            <a:r>
              <a:rPr lang="ko-KR" sz="1800" b="1">
                <a:latin typeface="맑은 고딕" charset="0"/>
                <a:ea typeface="맑은 고딕" charset="0"/>
              </a:rPr>
              <a:t>-</a:t>
            </a:r>
            <a:r>
              <a:rPr lang="ko-KR" sz="1800" b="1">
                <a:latin typeface="맑은 고딕" charset="0"/>
                <a:ea typeface="맑은 고딕" charset="0"/>
              </a:rPr>
              <a:t>Purpose AI </a:t>
            </a:r>
            <a:r>
              <a:rPr lang="ko-KR" sz="1800" b="1">
                <a:latin typeface="맑은 고딕" charset="0"/>
                <a:ea typeface="맑은 고딕" charset="0"/>
              </a:rPr>
              <a:t>C</a:t>
            </a:r>
            <a:r>
              <a:rPr lang="ko-KR" sz="1800" b="1">
                <a:latin typeface="맑은 고딕" charset="0"/>
                <a:ea typeface="맑은 고딕" charset="0"/>
              </a:rPr>
              <a:t>od</a:t>
            </a:r>
            <a:r>
              <a:rPr lang="ko-KR" sz="1800" b="1">
                <a:latin typeface="맑은 고딕" charset="0"/>
                <a:ea typeface="맑은 고딕" charset="0"/>
              </a:rPr>
              <a:t>e</a:t>
            </a:r>
            <a:r>
              <a:rPr lang="ko-KR" sz="1800" b="1">
                <a:latin typeface="맑은 고딕" charset="0"/>
                <a:ea typeface="맑은 고딕" charset="0"/>
              </a:rPr>
              <a:t> of Pr</a:t>
            </a:r>
            <a:r>
              <a:rPr lang="ko-KR" sz="1800" b="1">
                <a:latin typeface="맑은 고딕" charset="0"/>
                <a:ea typeface="맑은 고딕" charset="0"/>
              </a:rPr>
              <a:t>a</a:t>
            </a:r>
            <a:r>
              <a:rPr lang="ko-KR" sz="1800" b="1">
                <a:latin typeface="맑은 고딕" charset="0"/>
                <a:ea typeface="맑은 고딕" charset="0"/>
              </a:rPr>
              <a:t>ctice에 따르면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800" b="1">
                <a:latin typeface="맑은 고딕" charset="0"/>
                <a:ea typeface="맑은 고딕" charset="0"/>
              </a:rPr>
              <a:t>모델정보를 문서화 하고</a:t>
            </a:r>
            <a:r>
              <a:rPr lang="ko-KR" sz="1800" b="1">
                <a:latin typeface="맑은 고딕" charset="0"/>
                <a:ea typeface="맑은 고딕" charset="0"/>
              </a:rPr>
              <a:t>,</a:t>
            </a:r>
            <a:r>
              <a:rPr lang="ko-KR" sz="1800" b="1">
                <a:latin typeface="맑은 고딕" charset="0"/>
                <a:ea typeface="맑은 고딕" charset="0"/>
              </a:rPr>
              <a:t> 고성능 모델은 위험평가</a:t>
            </a:r>
            <a:r>
              <a:rPr lang="ko-KR" sz="1800" b="1">
                <a:latin typeface="맑은 고딕" charset="0"/>
                <a:ea typeface="맑은 고딕" charset="0"/>
              </a:rPr>
              <a:t> </a:t>
            </a:r>
            <a:r>
              <a:rPr lang="ko-KR" sz="1800" b="1">
                <a:latin typeface="맑은 고딕" charset="0"/>
                <a:ea typeface="맑은 고딕" charset="0"/>
              </a:rPr>
              <a:t>절차를 거치는 등 </a:t>
            </a:r>
            <a:r>
              <a:rPr lang="ko-KR" sz="1800" b="1">
                <a:latin typeface="맑은 고딕" charset="0"/>
                <a:ea typeface="맑은 고딕" charset="0"/>
              </a:rPr>
              <a:t>학습 </a:t>
            </a:r>
            <a:r>
              <a:rPr lang="ko-KR" sz="1800" b="1">
                <a:latin typeface="맑은 고딕" charset="0"/>
                <a:ea typeface="맑은 고딕" charset="0"/>
              </a:rPr>
              <a:t>투명성에 관한 법이 강조</a:t>
            </a:r>
            <a:r>
              <a:rPr lang="ko-KR" sz="1800" b="1">
                <a:latin typeface="맑은 고딕" charset="0"/>
                <a:ea typeface="맑은 고딕" charset="0"/>
              </a:rPr>
              <a:t>됨.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800" b="1">
                <a:latin typeface="맑은 고딕" charset="0"/>
                <a:ea typeface="맑은 고딕" charset="0"/>
              </a:rPr>
              <a:t>학습 </a:t>
            </a:r>
            <a:r>
              <a:rPr lang="ko-KR" sz="1800" b="1">
                <a:latin typeface="맑은 고딕" charset="0"/>
                <a:ea typeface="맑은 고딕" charset="0"/>
              </a:rPr>
              <a:t>콘텐츠 </a:t>
            </a:r>
            <a:r>
              <a:rPr lang="ko-KR" sz="1800" b="1">
                <a:latin typeface="맑은 고딕" charset="0"/>
                <a:ea typeface="맑은 고딕" charset="0"/>
              </a:rPr>
              <a:t>요약 </a:t>
            </a:r>
            <a:r>
              <a:rPr lang="ko-KR" sz="1800" b="1">
                <a:latin typeface="맑은 고딕" charset="0"/>
                <a:ea typeface="맑은 고딕" charset="0"/>
              </a:rPr>
              <a:t>공개</a:t>
            </a:r>
            <a:r>
              <a:rPr lang="ko-KR" sz="1800" b="1">
                <a:latin typeface="맑은 고딕" charset="0"/>
                <a:ea typeface="맑은 고딕" charset="0"/>
              </a:rPr>
              <a:t>,</a:t>
            </a:r>
            <a:r>
              <a:rPr lang="ko-KR" sz="1800" b="1">
                <a:latin typeface="맑은 고딕" charset="0"/>
                <a:ea typeface="맑은 고딕" charset="0"/>
              </a:rPr>
              <a:t> 모델 정보 문서화 등의 이야기도 언급되어 </a:t>
            </a:r>
            <a:r>
              <a:rPr lang="ko-KR" sz="1800" b="1">
                <a:latin typeface="맑은 고딕" charset="0"/>
                <a:ea typeface="맑은 고딕" charset="0"/>
              </a:rPr>
              <a:t>있음.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30" name="텍스트 상자 187"/>
          <p:cNvSpPr txBox="1">
            <a:spLocks/>
          </p:cNvSpPr>
          <p:nvPr/>
        </p:nvSpPr>
        <p:spPr>
          <a:xfrm rot="0">
            <a:off x="411480" y="182880"/>
            <a:ext cx="3658870" cy="16573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9. 결론</a:t>
            </a:r>
            <a:endParaRPr lang="ko-KR" altLang="en-US" sz="800" b="1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1" name="텍스트 상자 188"/>
          <p:cNvSpPr txBox="1">
            <a:spLocks/>
          </p:cNvSpPr>
          <p:nvPr/>
        </p:nvSpPr>
        <p:spPr>
          <a:xfrm rot="0">
            <a:off x="548640" y="612775"/>
            <a:ext cx="2470150" cy="14732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INSIGHT</a:t>
            </a:r>
            <a:endParaRPr lang="ko-KR" altLang="en-US" sz="800" b="1">
              <a:solidFill>
                <a:srgbClr val="FF6B5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/>
          </p:cNvSpPr>
          <p:nvPr/>
        </p:nvSpPr>
        <p:spPr>
          <a:xfrm rot="0">
            <a:off x="0" y="0"/>
            <a:ext cx="12193270" cy="6859270"/>
          </a:xfrm>
          <a:prstGeom prst="rect"/>
          <a:solidFill>
            <a:srgbClr val="FFFAF0"/>
          </a:solidFill>
          <a:ln w="8890" cap="flat" cmpd="sng">
            <a:solidFill>
              <a:srgbClr val="FFFAF0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 marL="0" indent="0">
              <a:buFontTx/>
              <a:buNone/>
              <a:defRPr/>
            </a:pPr>
            <a:endParaRPr lang="ko-KR" altLang="en-US"/>
          </a:p>
        </p:txBody>
      </p:sp>
      <p:cxnSp>
        <p:nvCxnSpPr>
          <p:cNvPr id="4" name="Rect 0"/>
          <p:cNvCxnSpPr/>
          <p:nvPr/>
        </p:nvCxnSpPr>
        <p:spPr>
          <a:xfrm rot="0">
            <a:off x="411480" y="6510655"/>
            <a:ext cx="11385550" cy="1270"/>
          </a:xfrm>
          <a:prstGeom prst="line"/>
          <a:ln w="10160" cap="flat" cmpd="sng">
            <a:solidFill>
              <a:srgbClr val="E5DED3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 0"/>
          <p:cNvSpPr txBox="1">
            <a:spLocks/>
          </p:cNvSpPr>
          <p:nvPr/>
        </p:nvSpPr>
        <p:spPr>
          <a:xfrm rot="0">
            <a:off x="530225" y="850265"/>
            <a:ext cx="8491855" cy="71501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</a:rPr>
              <a:t>결론</a:t>
            </a:r>
            <a:endParaRPr lang="ko-KR" altLang="en-US" sz="2650" b="1">
              <a:solidFill>
                <a:srgbClr val="0A0A0A"/>
              </a:solidFill>
              <a:latin typeface="Pretendard" charset="0"/>
              <a:ea typeface="Pretendard" charset="0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 rot="0">
            <a:off x="548640" y="1271905"/>
            <a:ext cx="7179945" cy="31305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sz="915">
                <a:solidFill>
                  <a:srgbClr val="6A6A6A"/>
                </a:solidFill>
                <a:latin typeface="Pretendard" charset="0"/>
                <a:ea typeface="Pretendard" charset="0"/>
              </a:rPr>
              <a:t>해외 </a:t>
            </a:r>
            <a:r>
              <a:rPr sz="915">
                <a:solidFill>
                  <a:srgbClr val="6A6A6A"/>
                </a:solidFill>
                <a:latin typeface="Pretendard" charset="0"/>
                <a:ea typeface="Pretendard" charset="0"/>
              </a:rPr>
              <a:t>레포트와 국내 레포트를 기반으로 전문가들은 AI 저작권이 앞으로 어떤 방향으로 흘러갈것으로 보는지 분석함.</a:t>
            </a:r>
            <a:endParaRPr lang="ko-KR" altLang="en-US" sz="915">
              <a:solidFill>
                <a:srgbClr val="6A6A6A"/>
              </a:solidFill>
              <a:latin typeface="Pretendard" charset="0"/>
              <a:ea typeface="Pretendard" charset="0"/>
            </a:endParaRPr>
          </a:p>
        </p:txBody>
      </p:sp>
      <p:sp>
        <p:nvSpPr>
          <p:cNvPr id="26" name="Rect 0"/>
          <p:cNvSpPr txBox="1">
            <a:spLocks/>
          </p:cNvSpPr>
          <p:nvPr/>
        </p:nvSpPr>
        <p:spPr>
          <a:xfrm rot="0">
            <a:off x="11247120" y="6610985"/>
            <a:ext cx="574040" cy="19050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r">
              <a:buFontTx/>
              <a:buNone/>
            </a:pPr>
            <a:r>
              <a:rPr sz="700" b="1">
                <a:solidFill>
                  <a:srgbClr val="6A6A6A"/>
                </a:solidFill>
                <a:latin typeface="Pretendard" charset="0"/>
                <a:ea typeface="Pretendard" charset="0"/>
              </a:rPr>
              <a:t>2</a:t>
            </a:r>
            <a:r>
              <a:rPr sz="700" b="1">
                <a:solidFill>
                  <a:srgbClr val="6A6A6A"/>
                </a:solidFill>
                <a:latin typeface="Pretendard" charset="0"/>
                <a:ea typeface="Pretendard" charset="0"/>
              </a:rPr>
              <a:t>9</a:t>
            </a:r>
            <a:endParaRPr lang="ko-KR" altLang="en-US" sz="700" b="1">
              <a:solidFill>
                <a:srgbClr val="6A6A6A"/>
              </a:solidFill>
              <a:latin typeface="Pretendard" charset="0"/>
              <a:ea typeface="Pretendard" charset="0"/>
            </a:endParaRPr>
          </a:p>
        </p:txBody>
      </p:sp>
      <p:sp>
        <p:nvSpPr>
          <p:cNvPr id="30" name="Rect 0"/>
          <p:cNvSpPr txBox="1">
            <a:spLocks/>
          </p:cNvSpPr>
          <p:nvPr/>
        </p:nvSpPr>
        <p:spPr>
          <a:xfrm rot="0">
            <a:off x="411480" y="182880"/>
            <a:ext cx="3658870" cy="16573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9. 결론</a:t>
            </a:r>
            <a:endParaRPr lang="ko-KR" altLang="en-US" sz="800" b="1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1" name="Rect 0"/>
          <p:cNvSpPr txBox="1">
            <a:spLocks/>
          </p:cNvSpPr>
          <p:nvPr/>
        </p:nvSpPr>
        <p:spPr>
          <a:xfrm rot="0">
            <a:off x="548640" y="612775"/>
            <a:ext cx="2470150" cy="14732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INSIGHT</a:t>
            </a:r>
            <a:endParaRPr lang="ko-KR" altLang="en-US" sz="800" b="1">
              <a:solidFill>
                <a:srgbClr val="FF6B5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2" name="Rect 0"/>
          <p:cNvSpPr txBox="1">
            <a:spLocks/>
          </p:cNvSpPr>
          <p:nvPr/>
        </p:nvSpPr>
        <p:spPr>
          <a:xfrm rot="0">
            <a:off x="3810000" y="2286000"/>
            <a:ext cx="4572635" cy="161925"/>
          </a:xfrm>
          <a:prstGeom prst="rect"/>
          <a:noFill/>
        </p:spPr>
        <p:txBody>
          <a:bodyPr wrap="square" lIns="0" tIns="0" rIns="0" bIns="0" vert="horz" anchor="t">
            <a:spAutoFit/>
          </a:bodyPr>
          <a:lstStyle/>
          <a:p>
            <a:pPr marL="0" indent="0" algn="l" hangingPunct="1"/>
            <a:r>
              <a:rPr sz="1050" i="0" b="0">
                <a:solidFill>
                  <a:srgbClr val="FFFFFF"/>
                </a:solidFill>
                <a:latin typeface="Segoe UI" charset="0"/>
                <a:ea typeface="-apple-system" charset="0"/>
              </a:rPr>
              <a:t>3. EU Training Content Summary Template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33" name="텍스트 상자 190"/>
          <p:cNvSpPr txBox="1">
            <a:spLocks/>
          </p:cNvSpPr>
          <p:nvPr/>
        </p:nvSpPr>
        <p:spPr>
          <a:xfrm>
            <a:off x="530225" y="1649730"/>
            <a:ext cx="10461625" cy="424624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numCol="1" vert="horz" anchor="t">
            <a:spAutoFit/>
          </a:bodyPr>
          <a:lstStyle/>
          <a:p>
            <a:pPr marL="0" indent="0" algn="l" hangingPunct="1">
              <a:buFontTx/>
              <a:buNone/>
            </a:pPr>
            <a:r>
              <a:rPr sz="1800" b="1">
                <a:latin typeface="맑은 고딕" charset="0"/>
                <a:ea typeface="맑은 고딕" charset="0"/>
              </a:rPr>
              <a:t>해외 정책기관과 전문가 논의</a:t>
            </a:r>
            <a:r>
              <a:rPr sz="1800" b="1">
                <a:latin typeface="맑은 고딕" charset="0"/>
                <a:ea typeface="맑은 고딕" charset="0"/>
              </a:rPr>
              <a:t> </a:t>
            </a:r>
            <a:r>
              <a:rPr sz="1800" b="1">
                <a:latin typeface="맑은 고딕" charset="0"/>
                <a:ea typeface="맑은 고딕" charset="0"/>
              </a:rPr>
              <a:t>및 여론분석 결과</a:t>
            </a:r>
            <a:r>
              <a:rPr sz="1800" b="1">
                <a:latin typeface="맑은 고딕" charset="0"/>
                <a:ea typeface="맑은 고딕" charset="0"/>
              </a:rPr>
              <a:t>를 종합하면, 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sz="1800" b="1">
                <a:latin typeface="맑은 고딕" charset="0"/>
                <a:ea typeface="맑은 고딕" charset="0"/>
              </a:rPr>
              <a:t>향후 AI 저작권은 AI 활용을 전면적으로 금지하는 방향이 아니라, 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sz="1800" b="1">
                <a:latin typeface="맑은 고딕" charset="0"/>
                <a:ea typeface="맑은 고딕" charset="0"/>
              </a:rPr>
              <a:t>인간 창작 기여의 구분, 학습 데이터 투명성, 권리자 보상, 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sz="1800" b="1">
                <a:latin typeface="맑은 고딕" charset="0"/>
                <a:ea typeface="맑은 고딕" charset="0"/>
              </a:rPr>
              <a:t>AI 기업의 사전 책임을 제도화하는 방향으로 전개될 가능성이 높</a:t>
            </a:r>
            <a:r>
              <a:rPr sz="1800" b="1">
                <a:latin typeface="맑은 고딕" charset="0"/>
                <a:ea typeface="맑은 고딕" charset="0"/>
              </a:rPr>
              <a:t>음</a:t>
            </a:r>
            <a:r>
              <a:rPr sz="1800" b="1">
                <a:latin typeface="맑은 고딕" charset="0"/>
                <a:ea typeface="맑은 고딕" charset="0"/>
              </a:rPr>
              <a:t>. 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sz="1800" b="1">
                <a:latin typeface="맑은 고딕" charset="0"/>
                <a:ea typeface="맑은 고딕" charset="0"/>
              </a:rPr>
              <a:t>이는 본 연구에서 확인된 무단학습, 소송, 창작자 권리, 플랫폼 책임에 대한 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sz="1800" b="1">
                <a:latin typeface="맑은 고딕" charset="0"/>
                <a:ea typeface="맑은 고딕" charset="0"/>
              </a:rPr>
              <a:t>부정 여론도 일치한다고</a:t>
            </a:r>
            <a:r>
              <a:rPr sz="1800" b="1">
                <a:latin typeface="맑은 고딕" charset="0"/>
                <a:ea typeface="맑은 고딕" charset="0"/>
              </a:rPr>
              <a:t> </a:t>
            </a:r>
            <a:r>
              <a:rPr sz="1800" b="1">
                <a:latin typeface="맑은 고딕" charset="0"/>
                <a:ea typeface="맑은 고딕" charset="0"/>
              </a:rPr>
              <a:t>봄</a:t>
            </a:r>
            <a:r>
              <a:rPr lang="ko-KR" sz="1800" b="1">
                <a:latin typeface="맑은 고딕" charset="0"/>
                <a:ea typeface="맑은 고딕" charset="0"/>
              </a:rPr>
              <a:t>.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800" b="1">
                <a:latin typeface="맑은 고딕" charset="0"/>
                <a:ea typeface="맑은 고딕" charset="0"/>
              </a:rPr>
              <a:t>기업 뿐만 아니라 개인 또한 이러한 제도화를 지켜야하며,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800" b="1">
                <a:latin typeface="맑은 고딕" charset="0"/>
                <a:ea typeface="맑은 고딕" charset="0"/>
              </a:rPr>
              <a:t>개인이 </a:t>
            </a:r>
            <a:r>
              <a:rPr lang="ko-KR" sz="1800" b="1">
                <a:latin typeface="맑은 고딕" charset="0"/>
                <a:ea typeface="맑은 고딕" charset="0"/>
              </a:rPr>
              <a:t>법을</a:t>
            </a:r>
            <a:r>
              <a:rPr lang="ko-KR" sz="1800" b="1">
                <a:latin typeface="맑은 고딕" charset="0"/>
                <a:ea typeface="맑은 고딕" charset="0"/>
              </a:rPr>
              <a:t> 지키지 않았을 경우에 가해지는 처벌</a:t>
            </a:r>
            <a:r>
              <a:rPr lang="ko-KR" sz="1800" b="1">
                <a:latin typeface="맑은 고딕" charset="0"/>
                <a:ea typeface="맑은 고딕" charset="0"/>
              </a:rPr>
              <a:t>의 </a:t>
            </a:r>
            <a:r>
              <a:rPr lang="ko-KR" sz="1800" b="1">
                <a:latin typeface="맑은 고딕" charset="0"/>
                <a:ea typeface="맑은 고딕" charset="0"/>
              </a:rPr>
              <a:t>강도</a:t>
            </a:r>
            <a:r>
              <a:rPr lang="ko-KR" sz="1800" b="1">
                <a:latin typeface="맑은 고딕" charset="0"/>
                <a:ea typeface="맑은 고딕" charset="0"/>
              </a:rPr>
              <a:t> 또한 강화될</a:t>
            </a:r>
            <a:r>
              <a:rPr lang="ko-KR" sz="1800" b="1">
                <a:latin typeface="맑은 고딕" charset="0"/>
                <a:ea typeface="맑은 고딕" charset="0"/>
              </a:rPr>
              <a:t> </a:t>
            </a:r>
            <a:r>
              <a:rPr lang="ko-KR" sz="1800" b="1">
                <a:latin typeface="맑은 고딕" charset="0"/>
                <a:ea typeface="맑은 고딕" charset="0"/>
              </a:rPr>
              <a:t>것으로</a:t>
            </a:r>
            <a:r>
              <a:rPr lang="ko-KR" sz="1800" b="1">
                <a:latin typeface="맑은 고딕" charset="0"/>
                <a:ea typeface="맑은 고딕" charset="0"/>
              </a:rPr>
              <a:t> </a:t>
            </a:r>
            <a:r>
              <a:rPr lang="ko-KR" sz="1800" b="1">
                <a:latin typeface="맑은 고딕" charset="0"/>
                <a:ea typeface="맑은 고딕" charset="0"/>
              </a:rPr>
              <a:t>분석함</a:t>
            </a:r>
            <a:r>
              <a:rPr lang="ko-KR" sz="1800" b="1">
                <a:latin typeface="맑은 고딕" charset="0"/>
                <a:ea typeface="맑은 고딕" charset="0"/>
              </a:rPr>
              <a:t>.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endParaRPr lang="ko-KR" altLang="en-US" sz="1800" b="1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/>
          </p:cNvSpPr>
          <p:nvPr/>
        </p:nvSpPr>
        <p:spPr>
          <a:xfrm rot="0">
            <a:off x="0" y="0"/>
            <a:ext cx="12193270" cy="6859270"/>
          </a:xfrm>
          <a:prstGeom prst="rect"/>
          <a:solidFill>
            <a:srgbClr val="FFFAF0"/>
          </a:solidFill>
          <a:ln w="8890" cap="flat" cmpd="sng">
            <a:solidFill>
              <a:srgbClr val="FFFAF0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 marL="0" indent="0">
              <a:buFontTx/>
              <a:buNone/>
              <a:defRPr/>
            </a:pPr>
            <a:endParaRPr lang="ko-KR" altLang="en-US"/>
          </a:p>
        </p:txBody>
      </p:sp>
      <p:cxnSp>
        <p:nvCxnSpPr>
          <p:cNvPr id="4" name="Rect 0"/>
          <p:cNvCxnSpPr/>
          <p:nvPr/>
        </p:nvCxnSpPr>
        <p:spPr>
          <a:xfrm rot="0">
            <a:off x="411480" y="6510655"/>
            <a:ext cx="11385550" cy="1270"/>
          </a:xfrm>
          <a:prstGeom prst="line"/>
          <a:ln w="10160" cap="flat" cmpd="sng">
            <a:solidFill>
              <a:srgbClr val="E5DED3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 0"/>
          <p:cNvSpPr txBox="1">
            <a:spLocks/>
          </p:cNvSpPr>
          <p:nvPr/>
        </p:nvSpPr>
        <p:spPr>
          <a:xfrm rot="0">
            <a:off x="530225" y="850265"/>
            <a:ext cx="8491855" cy="71501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2650" b="1">
                <a:solidFill>
                  <a:srgbClr val="0A0A0A"/>
                </a:solidFill>
                <a:latin typeface="Pretendard" charset="0"/>
                <a:ea typeface="Pretendard" charset="0"/>
              </a:rPr>
              <a:t>보완점</a:t>
            </a:r>
            <a:endParaRPr lang="ko-KR" altLang="en-US" sz="2650" b="1">
              <a:solidFill>
                <a:srgbClr val="0A0A0A"/>
              </a:solidFill>
              <a:latin typeface="Pretendard" charset="0"/>
              <a:ea typeface="Pretendard" charset="0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 rot="0">
            <a:off x="548640" y="1271905"/>
            <a:ext cx="7179945" cy="31305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sz="915">
                <a:solidFill>
                  <a:srgbClr val="6A6A6A"/>
                </a:solidFill>
                <a:latin typeface="Pretendard" charset="0"/>
                <a:ea typeface="Pretendard" charset="0"/>
              </a:rPr>
              <a:t>해외 </a:t>
            </a:r>
            <a:r>
              <a:rPr sz="915">
                <a:solidFill>
                  <a:srgbClr val="6A6A6A"/>
                </a:solidFill>
                <a:latin typeface="Pretendard" charset="0"/>
                <a:ea typeface="Pretendard" charset="0"/>
              </a:rPr>
              <a:t>레포트와 국내 레포트를 기반으로 전문가들은 AI 저작권이 앞으로 어떤 방향으로 흘러갈것으로 보는지 분석함.</a:t>
            </a:r>
            <a:endParaRPr lang="ko-KR" altLang="en-US" sz="915">
              <a:solidFill>
                <a:srgbClr val="6A6A6A"/>
              </a:solidFill>
              <a:latin typeface="Pretendard" charset="0"/>
              <a:ea typeface="Pretendard" charset="0"/>
            </a:endParaRPr>
          </a:p>
        </p:txBody>
      </p:sp>
      <p:sp>
        <p:nvSpPr>
          <p:cNvPr id="26" name="Rect 0"/>
          <p:cNvSpPr txBox="1">
            <a:spLocks/>
          </p:cNvSpPr>
          <p:nvPr/>
        </p:nvSpPr>
        <p:spPr>
          <a:xfrm rot="0">
            <a:off x="11247120" y="6610985"/>
            <a:ext cx="574040" cy="19050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r">
              <a:buFontTx/>
              <a:buNone/>
            </a:pPr>
            <a:r>
              <a:rPr sz="700" b="1">
                <a:solidFill>
                  <a:srgbClr val="6A6A6A"/>
                </a:solidFill>
                <a:latin typeface="Pretendard" charset="0"/>
                <a:ea typeface="Pretendard" charset="0"/>
              </a:rPr>
              <a:t>2</a:t>
            </a:r>
            <a:r>
              <a:rPr sz="700" b="1">
                <a:solidFill>
                  <a:srgbClr val="6A6A6A"/>
                </a:solidFill>
                <a:latin typeface="Pretendard" charset="0"/>
                <a:ea typeface="Pretendard" charset="0"/>
              </a:rPr>
              <a:t>9</a:t>
            </a:r>
            <a:endParaRPr lang="ko-KR" altLang="en-US" sz="700" b="1">
              <a:solidFill>
                <a:srgbClr val="6A6A6A"/>
              </a:solidFill>
              <a:latin typeface="Pretendard" charset="0"/>
              <a:ea typeface="Pretendard" charset="0"/>
            </a:endParaRPr>
          </a:p>
        </p:txBody>
      </p:sp>
      <p:sp>
        <p:nvSpPr>
          <p:cNvPr id="30" name="Rect 0"/>
          <p:cNvSpPr txBox="1">
            <a:spLocks/>
          </p:cNvSpPr>
          <p:nvPr/>
        </p:nvSpPr>
        <p:spPr>
          <a:xfrm rot="0">
            <a:off x="411480" y="182880"/>
            <a:ext cx="3658870" cy="165735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 b="1">
                <a:solidFill>
                  <a:srgbClr val="6A6A6A"/>
                </a:solidFill>
                <a:latin typeface="Pretendard" charset="0"/>
                <a:ea typeface="Pretendard" charset="0"/>
                <a:cs typeface="Pretendard" charset="0"/>
              </a:rPr>
              <a:t>9. 결론</a:t>
            </a:r>
            <a:endParaRPr lang="ko-KR" altLang="en-US" sz="800" b="1">
              <a:solidFill>
                <a:srgbClr val="6A6A6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1" name="Rect 0"/>
          <p:cNvSpPr txBox="1">
            <a:spLocks/>
          </p:cNvSpPr>
          <p:nvPr/>
        </p:nvSpPr>
        <p:spPr>
          <a:xfrm rot="0">
            <a:off x="548640" y="612775"/>
            <a:ext cx="2470150" cy="14732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800" b="1">
                <a:solidFill>
                  <a:srgbClr val="FF6B5A"/>
                </a:solidFill>
                <a:latin typeface="Pretendard" charset="0"/>
                <a:ea typeface="Pretendard" charset="0"/>
                <a:cs typeface="Pretendard" charset="0"/>
              </a:rPr>
              <a:t>INSIGHT</a:t>
            </a:r>
            <a:endParaRPr lang="ko-KR" altLang="en-US" sz="800" b="1">
              <a:solidFill>
                <a:srgbClr val="FF6B5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  <p:sp>
        <p:nvSpPr>
          <p:cNvPr id="32" name="Rect 0"/>
          <p:cNvSpPr txBox="1">
            <a:spLocks/>
          </p:cNvSpPr>
          <p:nvPr/>
        </p:nvSpPr>
        <p:spPr>
          <a:xfrm rot="0">
            <a:off x="3810000" y="2286000"/>
            <a:ext cx="4572635" cy="161925"/>
          </a:xfrm>
          <a:prstGeom prst="rect"/>
          <a:noFill/>
        </p:spPr>
        <p:txBody>
          <a:bodyPr wrap="square" lIns="0" tIns="0" rIns="0" bIns="0" vert="horz" anchor="t">
            <a:spAutoFit/>
          </a:bodyPr>
          <a:lstStyle/>
          <a:p>
            <a:pPr marL="0" indent="0" algn="l" hangingPunct="1"/>
            <a:r>
              <a:rPr sz="1050" i="0" b="0">
                <a:solidFill>
                  <a:srgbClr val="FFFFFF"/>
                </a:solidFill>
                <a:latin typeface="Segoe UI" charset="0"/>
                <a:ea typeface="-apple-system" charset="0"/>
              </a:rPr>
              <a:t>3. EU Training Content Summary Template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33" name="Rect 0"/>
          <p:cNvSpPr txBox="1">
            <a:spLocks/>
          </p:cNvSpPr>
          <p:nvPr/>
        </p:nvSpPr>
        <p:spPr>
          <a:xfrm>
            <a:off x="530225" y="1649730"/>
            <a:ext cx="10461625" cy="369252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numCol="1" vert="horz" anchor="t">
            <a:spAutoFit/>
          </a:bodyPr>
          <a:lstStyle/>
          <a:p>
            <a:pPr marL="0" indent="0" algn="l" hangingPunct="1">
              <a:buFontTx/>
              <a:buNone/>
            </a:pPr>
            <a:r>
              <a:rPr lang="ko-KR" sz="1800" b="1">
                <a:latin typeface="맑은 고딕" charset="0"/>
                <a:ea typeface="맑은 고딕" charset="0"/>
              </a:rPr>
              <a:t>1. 직접적인 AI 생성물의 </a:t>
            </a:r>
            <a:r>
              <a:rPr lang="ko-KR" sz="1800" b="1">
                <a:latin typeface="맑은 고딕" charset="0"/>
                <a:ea typeface="맑은 고딕" charset="0"/>
              </a:rPr>
              <a:t>유</a:t>
            </a:r>
            <a:r>
              <a:rPr lang="ko-KR" sz="1800" b="1">
                <a:latin typeface="맑은 고딕" charset="0"/>
                <a:ea typeface="맑은 고딕" charset="0"/>
              </a:rPr>
              <a:t>튜브, 인스타그램 댓글을 분석했으면 더 좋았을 것 같다고 생각함.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800" b="1">
                <a:latin typeface="맑은 고딕" charset="0"/>
                <a:ea typeface="맑은 고딕" charset="0"/>
              </a:rPr>
              <a:t>    여론이 AI 생성물을 그저 컨텐츠로 즐기는지, 무분별하게 사용되는 AI에 불쾌감을 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800" b="1">
                <a:latin typeface="맑은 고딕" charset="0"/>
                <a:ea typeface="맑은 고딕" charset="0"/>
              </a:rPr>
              <a:t>    느끼는지 분석하는 척도가 될 수 있음.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800" b="1">
                <a:latin typeface="맑은 고딕" charset="0"/>
                <a:ea typeface="맑은 고딕" charset="0"/>
              </a:rPr>
              <a:t>2. 시간과 비용적인 측면에서 분석 방법에 대한 타협이 있었는데, 딥러닝 기반 고성능 모델로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800" b="1">
                <a:latin typeface="맑은 고딕" charset="0"/>
                <a:ea typeface="맑은 고딕" charset="0"/>
              </a:rPr>
              <a:t>    분석하면 분석 정확도를 더 높일 수 있을 것이라고 생각함.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800" b="1">
                <a:latin typeface="맑은 고딕" charset="0"/>
                <a:ea typeface="맑은 고딕" charset="0"/>
              </a:rPr>
              <a:t>3. 텍스트 데이터다보니 노이즈가 많은데, 이러한 노이즈는 데이터의 양이 많아질수록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800" b="1">
                <a:latin typeface="맑은 고딕" charset="0"/>
                <a:ea typeface="맑은 고딕" charset="0"/>
              </a:rPr>
              <a:t>    기하급수적으로 늘어나는 것을 알게 되었고 이를 정밀하게 필터링하는 기술에 대하여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800" b="1">
                <a:latin typeface="맑은 고딕" charset="0"/>
                <a:ea typeface="맑은 고딕" charset="0"/>
              </a:rPr>
              <a:t>    더욱 공부할 필요가 있다고 생각했음. 현재의 쿼리 연관 텍스트 교차검증 방법으로는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1800" b="1">
                <a:latin typeface="맑은 고딕" charset="0"/>
                <a:ea typeface="맑은 고딕" charset="0"/>
              </a:rPr>
              <a:t>    한계가 있음을 느꼈음.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endParaRPr lang="ko-KR" altLang="en-US" sz="1800" b="1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/>
          </p:cNvSpPr>
          <p:nvPr/>
        </p:nvSpPr>
        <p:spPr>
          <a:xfrm rot="0">
            <a:off x="0" y="0"/>
            <a:ext cx="12192635" cy="6858635"/>
          </a:xfrm>
          <a:prstGeom prst="rect"/>
          <a:solidFill>
            <a:srgbClr val="FFFAF0"/>
          </a:solidFill>
          <a:ln w="8890" cap="flat" cmpd="sng">
            <a:solidFill>
              <a:srgbClr val="FFFAF0">
                <a:alpha val="100000"/>
              </a:srgbClr>
            </a:solidFill>
            <a:prstDash val="solid"/>
          </a:ln>
        </p:spPr>
        <p:txBody>
          <a:bodyPr wrap="none" lIns="89535" tIns="46355" rIns="89535" bIns="46355" numCol="1" vert="horz" anchor="ctr">
            <a:noAutofit/>
          </a:bodyPr>
          <a:lstStyle/>
          <a:p>
            <a:pPr>
              <a:defRPr/>
            </a:pPr>
            <a:endParaRPr lang="ko-KR" altLang="en-US"/>
          </a:p>
        </p:txBody>
      </p:sp>
      <p:sp>
        <p:nvSpPr>
          <p:cNvPr id="6" name="Rect 0"/>
          <p:cNvSpPr txBox="1">
            <a:spLocks/>
          </p:cNvSpPr>
          <p:nvPr/>
        </p:nvSpPr>
        <p:spPr>
          <a:xfrm rot="0">
            <a:off x="4719955" y="3080385"/>
            <a:ext cx="2750820" cy="713740"/>
          </a:xfrm>
          <a:prstGeom prst="rect"/>
          <a:noFill/>
          <a:ln>
            <a:noFill/>
            <a:prstDash/>
          </a:ln>
        </p:spPr>
        <p:txBody>
          <a:bodyPr wrap="square" lIns="0" tIns="0" rIns="0" bIns="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4000" b="1">
                <a:solidFill>
                  <a:srgbClr val="0A0A0A"/>
                </a:solidFill>
                <a:latin typeface="Pretendard" charset="0"/>
                <a:ea typeface="Pretendard" charset="0"/>
                <a:cs typeface="Pretendard" charset="0"/>
              </a:rPr>
              <a:t>감사합니다.</a:t>
            </a:r>
            <a:endParaRPr lang="ko-KR" altLang="en-US" sz="4000" b="1">
              <a:solidFill>
                <a:srgbClr val="0A0A0A"/>
              </a:solidFill>
              <a:latin typeface="Pretendard" charset="0"/>
              <a:ea typeface="Pretendard" charset="0"/>
              <a:cs typeface="Pretendar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I Copyright Theme">
  <a:themeElements>
    <a:clrScheme name="custom">
      <a:dk1>
        <a:srgbClr val="0A0A0A"/>
      </a:dk1>
      <a:lt1>
        <a:srgbClr val="FFFAF0"/>
      </a:lt1>
      <a:dk2>
        <a:srgbClr val="1A3A3A"/>
      </a:dk2>
      <a:lt2>
        <a:srgbClr val="F5F0E0"/>
      </a:lt2>
      <a:accent1>
        <a:srgbClr val="FF6B5A"/>
      </a:accent1>
      <a:accent2>
        <a:srgbClr val="A4D4C5"/>
      </a:accent2>
      <a:accent3>
        <a:srgbClr val="B8A4ED"/>
      </a:accent3>
      <a:accent4>
        <a:srgbClr val="FFB084"/>
      </a:accent4>
      <a:accent5>
        <a:srgbClr val="E8B94A"/>
      </a:accent5>
      <a:accent6>
        <a:srgbClr val="FF4D8B"/>
      </a:accent6>
      <a:hlink>
        <a:srgbClr val="0000FF"/>
      </a:hlink>
      <a:folHlink>
        <a:srgbClr val="800080"/>
      </a:folHlink>
    </a:clrScheme>
    <a:fontScheme name="Pretendard">
      <a:majorFont>
        <a:latin typeface="Pretendard"/>
        <a:ea typeface="Pretendard"/>
      </a:majorFont>
      <a:minorFont>
        <a:latin typeface="Pretendard"/>
        <a:ea typeface="Pretendard"/>
      </a:minorFont>
    </a:fontScheme>
    <a:fmtScheme name="fmt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/>
      <a:bgFillStyleLst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A0A0A"/>
      </a:dk1>
      <a:lt1>
        <a:sysClr val="window" lastClr="FFFAF0"/>
      </a:lt1>
      <a:dk2>
        <a:srgbClr val="1A3A3A"/>
      </a:dk2>
      <a:lt2>
        <a:srgbClr val="F5F0E0"/>
      </a:lt2>
      <a:accent1>
        <a:srgbClr val="FF6B5A"/>
      </a:accent1>
      <a:accent2>
        <a:srgbClr val="A4D4C5"/>
      </a:accent2>
      <a:accent3>
        <a:srgbClr val="B8A4ED"/>
      </a:accent3>
      <a:accent4>
        <a:srgbClr val="FFB084"/>
      </a:accent4>
      <a:accent5>
        <a:srgbClr val="E8B94A"/>
      </a:accent5>
      <a:accent6>
        <a:srgbClr val="FF4D8B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A0A0A"/>
      </a:dk1>
      <a:lt1>
        <a:sysClr val="window" lastClr="FFFAF0"/>
      </a:lt1>
      <a:dk2>
        <a:srgbClr val="1A3A3A"/>
      </a:dk2>
      <a:lt2>
        <a:srgbClr val="F5F0E0"/>
      </a:lt2>
      <a:accent1>
        <a:srgbClr val="FF6B5A"/>
      </a:accent1>
      <a:accent2>
        <a:srgbClr val="A4D4C5"/>
      </a:accent2>
      <a:accent3>
        <a:srgbClr val="B8A4ED"/>
      </a:accent3>
      <a:accent4>
        <a:srgbClr val="FFB084"/>
      </a:accent4>
      <a:accent5>
        <a:srgbClr val="E8B94A"/>
      </a:accent5>
      <a:accent6>
        <a:srgbClr val="FF4D8B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A0A0A"/>
      </a:dk1>
      <a:lt1>
        <a:sysClr val="window" lastClr="FFFAF0"/>
      </a:lt1>
      <a:dk2>
        <a:srgbClr val="1A3A3A"/>
      </a:dk2>
      <a:lt2>
        <a:srgbClr val="F5F0E0"/>
      </a:lt2>
      <a:accent1>
        <a:srgbClr val="FF6B5A"/>
      </a:accent1>
      <a:accent2>
        <a:srgbClr val="A4D4C5"/>
      </a:accent2>
      <a:accent3>
        <a:srgbClr val="B8A4ED"/>
      </a:accent3>
      <a:accent4>
        <a:srgbClr val="FFB084"/>
      </a:accent4>
      <a:accent5>
        <a:srgbClr val="E8B94A"/>
      </a:accent5>
      <a:accent6>
        <a:srgbClr val="FF4D8B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31</Pages>
  <Paragraphs>0</Paragraphs>
  <Words>0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cp:lastModifiedBy>ben407070</cp:lastModifiedBy>
  <cp:version>10.105.293.56114</cp:version>
</cp:coreProperties>
</file>